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KBC Weerbericht voorspelt je financiële weer, zodat je het zelf kan kiezen. Kate wordt de weervrouw die altijd aan jouw kant staat, ook als dat KBC geld kost. We bouwen geen nieuwe feature, maar een nieuwe manier van kijken.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Openingszin van de pitch. De saldo-melding is het beeld van 0:00 tot 0:20 in de demo. Test-Aankoop 2025: slechts 54% van de gezinnen ervaart geen financiële stress, bijna de helft dus wel.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bank van vandaag vertelt je wat er gebeurd is, niet wat er komt. Vier pijnpunten: achteraf, productdenken, een reactieve assistent en advies met een dubbele pet.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Kate draait sinds oktober 2025 op GPT-4.1, telt 80 miljoen gesprekken sinds de start, en KBC zegt zelf dat Kate nooit iets uitvoert zonder expliciete goedkeuring van de klant. Het weerbericht is de volgende stap: van proactief naar voorspellend.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Iedereen snapt een weerbericht in twee seconden, van student tot gepensioneerde. De bank ziet geen transacties meer, maar het weer dat eraan komt in iemands leven.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Het weerlexicon vertaalt financiële situaties naar weer dat iedereen kent. Bewolkt betekent: Kate doet niets. Stilte is ook advies.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Storm, mist en regenboog zijn de uitzonderlijke dagen. Seizoen en klimaat zijn de lange termijn: een levensfase wisselt de hele voorspelling, het klimaat toont je toekomst-jij.</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voorspelling is geen oordeel, maar een knop. Voorbeeld 3: Kate zet een zomerseizoen klaar en toont vanaf wanneer het elke week een beetje opklaart. Dit is het hart van de demo met Lotte.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Het principe: na regen komt zonneschijn, en de bank toont je hoe snel. Pitchzin: na donder komt zon, geen verwijt, wel een nieuwe week.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hardste keuze in ons concept, en net daarom de sterkste. Kate evolueert van een assistent die antwoordt naar een meteoroloog die vooruitkijkt: ze meldt zich wanneer het weer verandert en zwijgt wanneer er niets te melden valt.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Waarom dit KBC geld oplevert: vertrouwen, levenslange klantwaarde en differentiatie. In de demo raadt Kate de familie Peeters een eigen KBC-product af.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Niet elk weer is een budgetkwestie. Code oranje: vroeg en menselijk ingrijpen, niet via een aanmaning drie maanden later. Code rood: de fraudedemo met Jos. Schuilplaats is de emotionele kern: personaliseren betekent ook weten wanneer je moet zwijgen.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Febelfin: 49 miljoen euro phishingbuit in 2024; de sector kon 75% van de frauduleuze overschrijvingen detecteren, tegenhouden of terugvorderen. Eerste drie maanden van 2025: meer dan 3,6 miljoen gemelde phishinggevallen. Pitchzin: soms betekent personaliseren beschermen.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Signalen voor een seizoenswissel: een eerste betaling aan een kinderopvang, een maandelijkse overschrijving naar een kotbaas, een huurwaarborg, een wegvallend loon. Dat alles samenbrengen kan alleen een bankverzekeraar als KBC. Playbooks zijn plug-ins op dezelfde motor.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Klimaat wordt zo tastbaar. In de demo: een audiofragment van toekomst-jij voor Lotte, als slot van 2:40 tot 3:00.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 zoals een weerdienst zijn voorspelling levert aan je telefoon, je auto en je slimme speaker, levert KBC het financiële weer aan elk kanaal. In de demo bevragen we één endpoint van de Weer-API. Het API-voorbeeld is illustratief.</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voorspelling zelf is gewone rekenkunde op vaste lasten, gewoontes en inkomsten en kost per klant bijna niets. Daardoor draait ze elke nacht voor alle 2,3 miljoen klanten en werkt ze bij zodra er een nieuw signaal binnenkomt. Het dure taalmodel wordt enkel ingezet voor klanten die die dag effectief een melding krijgen. Een nieuw levensmoment is een nieuw playbook op dezelfde motor, geen nieuw project.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Een bank die je leven voorspelt, is een droom of een nachtmerrie. Het verschil zit in controle bij de klant. Personalisatie wordt een gesprek, niet iets dat je overkomt.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Lotte toont het kernconcept. Peeters toont seizoenen en de Kate-belofte. Jos toont bescherming met code rood en de ElevenLabs-stem van Kate.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Demovideo onder drie minuten. Elke scène heeft één pitchzin.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bouwen het weerbericht en de motor erachter. De rest tonen we als visie op dezelfde motor.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Slotzin. Pitchzinnen om te onthouden: na regen komt zonneschijn, en wij tonen je hoe snel. Soms betekent personaliseren zwijgen, soms beschermen.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3D-weericonen gemodelleerd en geanimeerd in Blender 5.2 (EEVEE). Kleuren uit de KBC design tokens (kbc.be); Nunito Sans vervangt het gelicentieerde MuseoSans.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gif"/><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gif"/><Relationship Id="rId4" Type="http://schemas.openxmlformats.org/officeDocument/2006/relationships/image" Target="../media/image4.gif"/><Relationship Id="rId5" Type="http://schemas.openxmlformats.org/officeDocument/2006/relationships/image" Target="../media/image5.gif"/><Relationship Id="rId6" Type="http://schemas.openxmlformats.org/officeDocument/2006/relationships/image" Target="../media/image6.gif"/><Relationship Id="rId7" Type="http://schemas.openxmlformats.org/officeDocument/2006/relationships/image" Target="../media/image7.gif"/><Relationship Id="rId8" Type="http://schemas.openxmlformats.org/officeDocument/2006/relationships/image" Target="../media/image8.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9.gif"/><Relationship Id="rId4" Type="http://schemas.openxmlformats.org/officeDocument/2006/relationships/image" Target="../media/image10.gif"/><Relationship Id="rId5" Type="http://schemas.openxmlformats.org/officeDocument/2006/relationships/image" Target="../media/image11.gif"/><Relationship Id="rId6" Type="http://schemas.openxmlformats.org/officeDocument/2006/relationships/image" Target="../media/image12.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3.gif"/><Relationship Id="rId4" Type="http://schemas.openxmlformats.org/officeDocument/2006/relationships/image" Target="../media/image14.gif"/><Relationship Id="rId5" Type="http://schemas.openxmlformats.org/officeDocument/2006/relationships/image" Target="../media/image15.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6.gif"/><Relationship Id="rId4" Type="http://schemas.openxmlformats.org/officeDocument/2006/relationships/image" Target="../media/image2.gif"/><Relationship Id="rId5" Type="http://schemas.openxmlformats.org/officeDocument/2006/relationships/image" Target="../media/image1.gif"/><Relationship Id="rId6" Type="http://schemas.openxmlformats.org/officeDocument/2006/relationships/image" Target="../media/image17.gif"/><Relationship Id="rId7" Type="http://schemas.openxmlformats.org/officeDocument/2006/relationships/image" Target="../media/image18.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2.gif"/><Relationship Id="rId4" Type="http://schemas.openxmlformats.org/officeDocument/2006/relationships/image" Target="../media/image10.gif"/><Relationship Id="rId5" Type="http://schemas.openxmlformats.org/officeDocument/2006/relationships/image" Target="../media/image9.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9.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7.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0.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4.gif"/><Relationship Id="rId4" Type="http://schemas.openxmlformats.org/officeDocument/2006/relationships/image" Target="../media/image7.gif"/><Relationship Id="rId5" Type="http://schemas.openxmlformats.org/officeDocument/2006/relationships/image" Target="../media/image21.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gif"/><Relationship Id="rId4" Type="http://schemas.openxmlformats.org/officeDocument/2006/relationships/image" Target="../media/image2.gif"/><Relationship Id="rId5" Type="http://schemas.openxmlformats.org/officeDocument/2006/relationships/image" Target="../media/image18.gif"/><Relationship Id="rId6" Type="http://schemas.openxmlformats.org/officeDocument/2006/relationships/image" Target="../media/image16.gif"/><Relationship Id="rId7" Type="http://schemas.openxmlformats.org/officeDocument/2006/relationships/image" Target="../media/image17.gif"/><Relationship Id="rId8" Type="http://schemas.openxmlformats.org/officeDocument/2006/relationships/image" Target="../media/image22.gif"/><Relationship Id="rId9" Type="http://schemas.openxmlformats.org/officeDocument/2006/relationships/image" Target="../media/image20.gi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2A50"/>
        </a:solidFill>
        <a:effectLst/>
      </p:bgPr>
    </p:bg>
    <p:spTree>
      <p:nvGrpSpPr>
        <p:cNvPr id="1" name=""/>
        <p:cNvGrpSpPr/>
        <p:nvPr/>
      </p:nvGrpSpPr>
      <p:grpSpPr/>
      <p:sp>
        <p:nvSpPr>
          <p:cNvPr id="2" name="TextBox 1"/>
          <p:cNvSpPr txBox="1"/>
          <p:nvPr/>
        </p:nvSpPr>
        <p:spPr>
          <a:xfrm>
            <a:off x="812800" y="1460500"/>
            <a:ext cx="6985000" cy="228600"/>
          </a:xfrm>
          <a:prstGeom prst="rect">
            <a:avLst/>
          </a:prstGeom>
          <a:noFill/>
        </p:spPr>
        <p:txBody>
          <a:bodyPr wrap="square" anchor="t" lIns="0" rIns="0" tIns="0" bIns="0">
            <a:noAutofit/>
          </a:bodyPr>
          <a:lstStyle/>
          <a:p>
            <a:pPr algn="l">
              <a:lnSpc>
                <a:spcPct val="125000"/>
              </a:lnSpc>
            </a:pPr>
            <a:r>
              <a:rPr sz="1200" b="1" i="0" cap="all" spc="300">
                <a:solidFill>
                  <a:srgbClr val="46ADE0"/>
                </a:solidFill>
                <a:latin typeface="Nunito Sans"/>
              </a:rPr>
              <a:t>Tectonic hackathon Kortrijk · Team Trojan Horse</a:t>
            </a:r>
          </a:p>
        </p:txBody>
      </p:sp>
      <p:sp>
        <p:nvSpPr>
          <p:cNvPr id="3" name="TextBox 2"/>
          <p:cNvSpPr txBox="1"/>
          <p:nvPr/>
        </p:nvSpPr>
        <p:spPr>
          <a:xfrm>
            <a:off x="812800" y="1841500"/>
            <a:ext cx="6350000" cy="2032000"/>
          </a:xfrm>
          <a:prstGeom prst="rect">
            <a:avLst/>
          </a:prstGeom>
          <a:noFill/>
        </p:spPr>
        <p:txBody>
          <a:bodyPr wrap="square" anchor="t" lIns="0" rIns="0" tIns="0" bIns="0">
            <a:noAutofit/>
          </a:bodyPr>
          <a:lstStyle/>
          <a:p>
            <a:pPr algn="l">
              <a:lnSpc>
                <a:spcPct val="95000"/>
              </a:lnSpc>
            </a:pPr>
            <a:r>
              <a:rPr sz="7000" b="1" i="0">
                <a:solidFill>
                  <a:srgbClr val="FFFFFF"/>
                </a:solidFill>
                <a:latin typeface="Nunito Sans"/>
              </a:rPr>
              <a:t>KBC
Weerbericht</a:t>
            </a:r>
          </a:p>
        </p:txBody>
      </p:sp>
      <p:pic>
        <p:nvPicPr>
          <p:cNvPr id="4" name="Picture 3" descr="zon_d.gif"/>
          <p:cNvPicPr>
            <a:picLocks noChangeAspect="1"/>
          </p:cNvPicPr>
          <p:nvPr/>
        </p:nvPicPr>
        <p:blipFill>
          <a:blip r:embed="rId3"/>
          <a:stretch>
            <a:fillRect/>
          </a:stretch>
        </p:blipFill>
        <p:spPr>
          <a:xfrm>
            <a:off x="8366672" y="889000"/>
            <a:ext cx="2697655" cy="2667000"/>
          </a:xfrm>
          <a:prstGeom prst="rect">
            <a:avLst/>
          </a:prstGeom>
        </p:spPr>
      </p:pic>
      <p:pic>
        <p:nvPicPr>
          <p:cNvPr id="5" name="Picture 4" descr="bewolkt_d.gif"/>
          <p:cNvPicPr>
            <a:picLocks noChangeAspect="1"/>
          </p:cNvPicPr>
          <p:nvPr/>
        </p:nvPicPr>
        <p:blipFill>
          <a:blip r:embed="rId4"/>
          <a:stretch>
            <a:fillRect/>
          </a:stretch>
        </p:blipFill>
        <p:spPr>
          <a:xfrm>
            <a:off x="6731000" y="3011311"/>
            <a:ext cx="3937000" cy="2930877"/>
          </a:xfrm>
          <a:prstGeom prst="rect">
            <a:avLst/>
          </a:prstGeom>
        </p:spPr>
      </p:pic>
      <p:sp>
        <p:nvSpPr>
          <p:cNvPr id="6" name="TextBox 5"/>
          <p:cNvSpPr txBox="1"/>
          <p:nvPr/>
        </p:nvSpPr>
        <p:spPr>
          <a:xfrm>
            <a:off x="812800" y="4000500"/>
            <a:ext cx="6350000" cy="635000"/>
          </a:xfrm>
          <a:prstGeom prst="rect">
            <a:avLst/>
          </a:prstGeom>
          <a:noFill/>
        </p:spPr>
        <p:txBody>
          <a:bodyPr wrap="square" anchor="t" lIns="0" rIns="0" tIns="0" bIns="0">
            <a:noAutofit/>
          </a:bodyPr>
          <a:lstStyle/>
          <a:p>
            <a:pPr algn="l">
              <a:lnSpc>
                <a:spcPct val="125000"/>
              </a:lnSpc>
            </a:pPr>
            <a:r>
              <a:rPr sz="3600" b="1" i="0">
                <a:solidFill>
                  <a:srgbClr val="FECC00"/>
                </a:solidFill>
                <a:latin typeface="Nunito Sans"/>
              </a:rPr>
              <a:t>Jij kiest het weer.</a:t>
            </a:r>
          </a:p>
        </p:txBody>
      </p:sp>
      <p:sp>
        <p:nvSpPr>
          <p:cNvPr id="7" name="TextBox 6"/>
          <p:cNvSpPr txBox="1"/>
          <p:nvPr/>
        </p:nvSpPr>
        <p:spPr>
          <a:xfrm>
            <a:off x="812800" y="4762500"/>
            <a:ext cx="6223000" cy="698500"/>
          </a:xfrm>
          <a:prstGeom prst="rect">
            <a:avLst/>
          </a:prstGeom>
          <a:noFill/>
        </p:spPr>
        <p:txBody>
          <a:bodyPr wrap="square" anchor="t" lIns="0" rIns="0" tIns="0" bIns="0">
            <a:noAutofit/>
          </a:bodyPr>
          <a:lstStyle/>
          <a:p>
            <a:pPr algn="l">
              <a:lnSpc>
                <a:spcPct val="125000"/>
              </a:lnSpc>
            </a:pPr>
            <a:r>
              <a:rPr sz="1600" b="0" i="0">
                <a:solidFill>
                  <a:srgbClr val="BFDAFF"/>
                </a:solidFill>
                <a:latin typeface="Nunito Sans"/>
              </a:rPr>
              <a:t>Een financieel weerbericht voor de komende 14 dagen, met Kate als weervrouw die altijd aan jouw kant staat.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400"/>
                                        <p:tgtEl>
                                          <p:spTgt spid="2"/>
                                        </p:tgtEl>
                                      </p:cBhvr>
                                    </p:animEffect>
                                  </p:childTnLst>
                                </p:cTn>
                              </p:par>
                            </p:childTnLst>
                          </p:cTn>
                        </p:par>
                        <p:par>
                          <p:cTn id="13" fill="hold">
                            <p:stCondLst>
                              <p:cond delay="280"/>
                            </p:stCondLst>
                            <p:childTnLst>
                              <p:par>
                                <p:cTn id="8" presetID="42" presetClass="entr" presetSubtype="0"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00"/>
                                        <p:tgtEl>
                                          <p:spTgt spid="3"/>
                                        </p:tgtEl>
                                      </p:cBhvr>
                                    </p:animEffect>
                                    <p:anim calcmode="lin" valueType="num">
                                      <p:cBhvr>
                                        <p:cTn id="11" dur="700" fill="hold"/>
                                        <p:tgtEl>
                                          <p:spTgt spid="3"/>
                                        </p:tgtEl>
                                        <p:attrNameLst>
                                          <p:attrName>ppt_x</p:attrName>
                                        </p:attrNameLst>
                                      </p:cBhvr>
                                      <p:tavLst>
                                        <p:tav tm="0">
                                          <p:val>
                                            <p:strVal val="#ppt_x"/>
                                          </p:val>
                                        </p:tav>
                                        <p:tav tm="100000">
                                          <p:val>
                                            <p:strVal val="#ppt_x"/>
                                          </p:val>
                                        </p:tav>
                                      </p:tavLst>
                                    </p:anim>
                                    <p:anim calcmode="lin" valueType="num">
                                      <p:cBhvr>
                                        <p:cTn id="12" dur="700" fill="hold"/>
                                        <p:tgtEl>
                                          <p:spTgt spid="3"/>
                                        </p:tgtEl>
                                        <p:attrNameLst>
                                          <p:attrName>ppt_y</p:attrName>
                                        </p:attrNameLst>
                                      </p:cBhvr>
                                      <p:tavLst>
                                        <p:tav tm="0">
                                          <p:val>
                                            <p:strVal val="#ppt_y+.08"/>
                                          </p:val>
                                        </p:tav>
                                        <p:tav tm="100000">
                                          <p:val>
                                            <p:strVal val="#ppt_y"/>
                                          </p:val>
                                        </p:tav>
                                      </p:tavLst>
                                    </p:anim>
                                  </p:childTnLst>
                                </p:cTn>
                              </p:par>
                            </p:childTnLst>
                          </p:cTn>
                        </p:par>
                        <p:par>
                          <p:cTn id="19" fill="hold">
                            <p:stCondLst>
                              <p:cond delay="769"/>
                            </p:stCondLst>
                            <p:childTnLst>
                              <p:par>
                                <p:cTn id="14" presetID="53" presetClass="entr" presetSubtype="16"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600"/>
                                        <p:tgtEl>
                                          <p:spTgt spid="4"/>
                                        </p:tgtEl>
                                      </p:cBhvr>
                                    </p:animEffect>
                                    <p:anim calcmode="lin" valueType="num">
                                      <p:cBhvr>
                                        <p:cTn id="17" dur="600" fill="hold"/>
                                        <p:tgtEl>
                                          <p:spTgt spid="4"/>
                                        </p:tgtEl>
                                        <p:attrNameLst>
                                          <p:attrName>ppt_w</p:attrName>
                                        </p:attrNameLst>
                                      </p:cBhvr>
                                      <p:tavLst>
                                        <p:tav tm="0">
                                          <p:val>
                                            <p:strVal val="#ppt_w*0.3"/>
                                          </p:val>
                                        </p:tav>
                                        <p:tav tm="100000">
                                          <p:val>
                                            <p:strVal val="#ppt_w"/>
                                          </p:val>
                                        </p:tav>
                                      </p:tavLst>
                                    </p:anim>
                                    <p:anim calcmode="lin" valueType="num">
                                      <p:cBhvr>
                                        <p:cTn id="18" dur="600" fill="hold"/>
                                        <p:tgtEl>
                                          <p:spTgt spid="4"/>
                                        </p:tgtEl>
                                        <p:attrNameLst>
                                          <p:attrName>ppt_h</p:attrName>
                                        </p:attrNameLst>
                                      </p:cBhvr>
                                      <p:tavLst>
                                        <p:tav tm="0">
                                          <p:val>
                                            <p:strVal val="#ppt_h*0.3"/>
                                          </p:val>
                                        </p:tav>
                                        <p:tav tm="100000">
                                          <p:val>
                                            <p:strVal val="#ppt_h"/>
                                          </p:val>
                                        </p:tav>
                                      </p:tavLst>
                                    </p:anim>
                                  </p:childTnLst>
                                </p:cTn>
                              </p:par>
                            </p:childTnLst>
                          </p:cTn>
                        </p:par>
                        <p:par>
                          <p:cTn id="25" fill="hold">
                            <p:stCondLst>
                              <p:cond delay="1189"/>
                            </p:stCondLst>
                            <p:childTnLst>
                              <p:par>
                                <p:cTn id="20" presetID="42" presetClass="entr" presetSubtype="0" fill="hold" grpId="0" nodeType="after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fill="hold"/>
                                        <p:tgtEl>
                                          <p:spTgt spid="5"/>
                                        </p:tgtEl>
                                        <p:attrNameLst>
                                          <p:attrName>ppt_x</p:attrName>
                                        </p:attrNameLst>
                                      </p:cBhvr>
                                      <p:tavLst>
                                        <p:tav tm="0">
                                          <p:val>
                                            <p:strVal val="#ppt_x"/>
                                          </p:val>
                                        </p:tav>
                                        <p:tav tm="100000">
                                          <p:val>
                                            <p:strVal val="#ppt_x"/>
                                          </p:val>
                                        </p:tav>
                                      </p:tavLst>
                                    </p:anim>
                                    <p:anim calcmode="lin" valueType="num">
                                      <p:cBhvr>
                                        <p:cTn id="24" dur="600" fill="hold"/>
                                        <p:tgtEl>
                                          <p:spTgt spid="5"/>
                                        </p:tgtEl>
                                        <p:attrNameLst>
                                          <p:attrName>ppt_y</p:attrName>
                                        </p:attrNameLst>
                                      </p:cBhvr>
                                      <p:tavLst>
                                        <p:tav tm="0">
                                          <p:val>
                                            <p:strVal val="#ppt_y+.08"/>
                                          </p:val>
                                        </p:tav>
                                        <p:tav tm="100000">
                                          <p:val>
                                            <p:strVal val="#ppt_y"/>
                                          </p:val>
                                        </p:tav>
                                      </p:tavLst>
                                    </p:anim>
                                  </p:childTnLst>
                                </p:cTn>
                              </p:par>
                            </p:childTnLst>
                          </p:cTn>
                        </p:par>
                        <p:par>
                          <p:cTn id="29" fill="hold">
                            <p:stCondLst>
                              <p:cond delay="1609"/>
                            </p:stCondLst>
                            <p:childTnLst>
                              <p:par>
                                <p:cTn id="26" presetID="10" presetClass="entr" presetSubtype="0" fill="hold" grpId="0"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childTnLst>
                                </p:cTn>
                              </p:par>
                            </p:childTnLst>
                          </p:cTn>
                        </p:par>
                        <p:par>
                          <p:cTn id="33" fill="hold">
                            <p:stCondLst>
                              <p:cond delay="2029"/>
                            </p:stCondLst>
                            <p:childTnLst>
                              <p:par>
                                <p:cTn id="30" presetID="10" presetClass="entr" presetSubtype="0" fill="hold" grpId="0" nodeType="after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FF6FF"/>
        </a:solidFill>
        <a:effectLst/>
      </p:bgPr>
    </p:bg>
    <p:spTree>
      <p:nvGrpSpPr>
        <p:cNvPr id="1" name=""/>
        <p:cNvGrpSpPr/>
        <p:nvPr/>
      </p:nvGrpSpPr>
      <p:grpSpPr/>
      <p:sp>
        <p:nvSpPr>
          <p:cNvPr id="2" name="TextBox 1"/>
          <p:cNvSpPr txBox="1"/>
          <p:nvPr/>
        </p:nvSpPr>
        <p:spPr>
          <a:xfrm>
            <a:off x="812800" y="1270000"/>
            <a:ext cx="6350000" cy="228600"/>
          </a:xfrm>
          <a:prstGeom prst="rect">
            <a:avLst/>
          </a:prstGeom>
          <a:noFill/>
        </p:spPr>
        <p:txBody>
          <a:bodyPr wrap="square" anchor="t" lIns="0" rIns="0" tIns="0" bIns="0">
            <a:noAutofit/>
          </a:bodyPr>
          <a:lstStyle/>
          <a:p>
            <a:pPr algn="l">
              <a:lnSpc>
                <a:spcPct val="125000"/>
              </a:lnSpc>
            </a:pPr>
            <a:r>
              <a:rPr sz="1200" b="1" i="0" cap="all" spc="300">
                <a:solidFill>
                  <a:srgbClr val="007AB1"/>
                </a:solidFill>
                <a:latin typeface="Nunito Sans"/>
              </a:rPr>
              <a:t>Het probleem</a:t>
            </a:r>
          </a:p>
        </p:txBody>
      </p:sp>
      <p:sp>
        <p:nvSpPr>
          <p:cNvPr id="3" name="TextBox 2"/>
          <p:cNvSpPr txBox="1"/>
          <p:nvPr/>
        </p:nvSpPr>
        <p:spPr>
          <a:xfrm>
            <a:off x="812800" y="1587500"/>
            <a:ext cx="6604000" cy="2667000"/>
          </a:xfrm>
          <a:prstGeom prst="rect">
            <a:avLst/>
          </a:prstGeom>
          <a:noFill/>
        </p:spPr>
        <p:txBody>
          <a:bodyPr wrap="square" anchor="t" lIns="0" rIns="0" tIns="0" bIns="0">
            <a:noAutofit/>
          </a:bodyPr>
          <a:lstStyle/>
          <a:p>
            <a:pPr algn="l">
              <a:lnSpc>
                <a:spcPct val="105000"/>
              </a:lnSpc>
            </a:pPr>
            <a:r>
              <a:rPr sz="4200" b="1" i="0">
                <a:solidFill>
                  <a:srgbClr val="0D2A50"/>
                </a:solidFill>
                <a:latin typeface="Nunito Sans"/>
              </a:rPr>
              <a:t>Je bank vertelt je wat er gebeurd is.</a:t>
            </a:r>
          </a:p>
          <a:p>
            <a:pPr algn="l">
              <a:lnSpc>
                <a:spcPct val="105000"/>
              </a:lnSpc>
              <a:spcBef>
                <a:spcPts val="1000"/>
              </a:spcBef>
            </a:pPr>
            <a:r>
              <a:rPr sz="4200" b="1" i="0">
                <a:solidFill>
                  <a:srgbClr val="007AB1"/>
                </a:solidFill>
                <a:latin typeface="Nunito Sans"/>
              </a:rPr>
              <a:t>Wij vertellen je wat er komt.</a:t>
            </a:r>
          </a:p>
        </p:txBody>
      </p:sp>
      <p:sp>
        <p:nvSpPr>
          <p:cNvPr id="4" name="Rounded Rectangle 3"/>
          <p:cNvSpPr/>
          <p:nvPr/>
        </p:nvSpPr>
        <p:spPr>
          <a:xfrm>
            <a:off x="7823200" y="2032000"/>
            <a:ext cx="3556000" cy="1841500"/>
          </a:xfrm>
          <a:prstGeom prst="roundRect">
            <a:avLst>
              <a:gd name="adj" fmla="val 9655"/>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noAutofit/>
          </a:bodyPr>
          <a:lstStyle/>
          <a:p>
            <a:pPr algn="l">
              <a:lnSpc>
                <a:spcPct val="125000"/>
              </a:lnSpc>
            </a:pPr>
            <a:r>
              <a:rPr sz="1200" b="0" i="0">
                <a:solidFill>
                  <a:srgbClr val="45658F"/>
                </a:solidFill>
                <a:latin typeface="Nunito Sans"/>
              </a:rPr>
              <a:t>Gisteren · 23:14</a:t>
            </a:r>
          </a:p>
          <a:p>
            <a:pPr algn="l">
              <a:lnSpc>
                <a:spcPct val="125000"/>
              </a:lnSpc>
              <a:spcBef>
                <a:spcPts val="600"/>
              </a:spcBef>
            </a:pPr>
            <a:r>
              <a:rPr sz="1600" b="1" i="0">
                <a:solidFill>
                  <a:srgbClr val="E2001A"/>
                </a:solidFill>
                <a:latin typeface="Nunito Sans"/>
              </a:rPr>
              <a:t>Je rekening staat € 142,30 in het rood.</a:t>
            </a:r>
          </a:p>
          <a:p>
            <a:pPr algn="l">
              <a:lnSpc>
                <a:spcPct val="125000"/>
              </a:lnSpc>
              <a:spcBef>
                <a:spcPts val="600"/>
              </a:spcBef>
            </a:pPr>
            <a:r>
              <a:rPr sz="1200" b="0" i="0">
                <a:solidFill>
                  <a:srgbClr val="45658F"/>
                </a:solidFill>
                <a:latin typeface="Nunito Sans"/>
              </a:rPr>
              <a:t>Een melding die altijd te laat komt.</a:t>
            </a:r>
          </a:p>
        </p:txBody>
      </p:sp>
      <p:sp>
        <p:nvSpPr>
          <p:cNvPr id="5" name="TextBox 4"/>
          <p:cNvSpPr txBox="1"/>
          <p:nvPr/>
        </p:nvSpPr>
        <p:spPr>
          <a:xfrm>
            <a:off x="812800" y="4826000"/>
            <a:ext cx="8890000" cy="381000"/>
          </a:xfrm>
          <a:prstGeom prst="rect">
            <a:avLst/>
          </a:prstGeom>
          <a:noFill/>
        </p:spPr>
        <p:txBody>
          <a:bodyPr wrap="square" anchor="t" lIns="0" rIns="0" tIns="0" bIns="0">
            <a:noAutofit/>
          </a:bodyPr>
          <a:lstStyle/>
          <a:p>
            <a:pPr algn="l">
              <a:lnSpc>
                <a:spcPct val="125000"/>
              </a:lnSpc>
            </a:pPr>
            <a:r>
              <a:rPr sz="1600" b="0" i="0">
                <a:solidFill>
                  <a:srgbClr val="45658F"/>
                </a:solidFill>
                <a:latin typeface="Nunito Sans"/>
              </a:rPr>
              <a:t>Slechts </a:t>
            </a:r>
            <a:r>
              <a:rPr sz="1600" b="1" i="0">
                <a:solidFill>
                  <a:srgbClr val="0D2A50"/>
                </a:solidFill>
                <a:latin typeface="Nunito Sans"/>
              </a:rPr>
              <a:t>54%</a:t>
            </a:r>
            <a:r>
              <a:rPr sz="1600" b="0" i="0">
                <a:solidFill>
                  <a:srgbClr val="45658F"/>
                </a:solidFill>
                <a:latin typeface="Nunito Sans"/>
              </a:rPr>
              <a:t> van de Belgische gezinnen zegt in 2025 géén financiële stress te ervaren.</a:t>
            </a:r>
          </a:p>
        </p:txBody>
      </p:sp>
      <p:sp>
        <p:nvSpPr>
          <p:cNvPr id="6" name="TextBox 5"/>
          <p:cNvSpPr txBox="1"/>
          <p:nvPr/>
        </p:nvSpPr>
        <p:spPr>
          <a:xfrm>
            <a:off x="812800" y="6350000"/>
            <a:ext cx="8890000" cy="215900"/>
          </a:xfrm>
          <a:prstGeom prst="rect">
            <a:avLst/>
          </a:prstGeom>
          <a:noFill/>
        </p:spPr>
        <p:txBody>
          <a:bodyPr wrap="square" anchor="t" lIns="0" rIns="0" tIns="0" bIns="0">
            <a:noAutofit/>
          </a:bodyPr>
          <a:lstStyle/>
          <a:p>
            <a:pPr algn="l">
              <a:lnSpc>
                <a:spcPct val="125000"/>
              </a:lnSpc>
            </a:pPr>
            <a:r>
              <a:rPr sz="1100" b="0" i="0">
                <a:solidFill>
                  <a:srgbClr val="45658F"/>
                </a:solidFill>
                <a:latin typeface="Nunito Sans"/>
              </a:rPr>
              <a:t>Bron: Test-Aankoop, Consumentenbarometer 2025</a:t>
            </a:r>
          </a:p>
        </p:txBody>
      </p:sp>
      <p:sp>
        <p:nvSpPr>
          <p:cNvPr id="7" name="TextBox 6"/>
          <p:cNvSpPr txBox="1"/>
          <p:nvPr/>
        </p:nvSpPr>
        <p:spPr>
          <a:xfrm>
            <a:off x="10109200" y="6350000"/>
            <a:ext cx="1270000" cy="215900"/>
          </a:xfrm>
          <a:prstGeom prst="rect">
            <a:avLst/>
          </a:prstGeom>
          <a:noFill/>
        </p:spPr>
        <p:txBody>
          <a:bodyPr wrap="square" anchor="t" lIns="0" rIns="0" tIns="0" bIns="0">
            <a:noAutofit/>
          </a:bodyPr>
          <a:lstStyle/>
          <a:p>
            <a:pPr algn="r">
              <a:lnSpc>
                <a:spcPct val="125000"/>
              </a:lnSpc>
            </a:pPr>
            <a:r>
              <a:rPr sz="1100" b="0" i="0">
                <a:solidFill>
                  <a:srgbClr val="45658F"/>
                </a:solidFill>
                <a:latin typeface="Nunito Sans"/>
              </a:rPr>
              <a:t>2 / 23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4" fill="hold">
                            <p:stCondLst>
                              <p:cond delay="0"/>
                            </p:stCondLst>
                            <p:childTnLst>
                              <p:par>
                                <p:cTn id="4" presetID="42"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600"/>
                                        <p:tgtEl>
                                          <p:spTgt spid="2"/>
                                        </p:tgtEl>
                                      </p:cBhvr>
                                    </p:animEffect>
                                    <p:anim calcmode="lin" valueType="num">
                                      <p:cBhvr>
                                        <p:cTn id="7" dur="600" fill="hold"/>
                                        <p:tgtEl>
                                          <p:spTgt spid="2"/>
                                        </p:tgtEl>
                                        <p:attrNameLst>
                                          <p:attrName>ppt_x</p:attrName>
                                        </p:attrNameLst>
                                      </p:cBhvr>
                                      <p:tavLst>
                                        <p:tav tm="0">
                                          <p:val>
                                            <p:strVal val="#ppt_x"/>
                                          </p:val>
                                        </p:tav>
                                        <p:tav tm="100000">
                                          <p:val>
                                            <p:strVal val="#ppt_x"/>
                                          </p:val>
                                        </p:tav>
                                      </p:tavLst>
                                    </p:anim>
                                    <p:anim calcmode="lin" valueType="num">
                                      <p:cBhvr>
                                        <p:cTn id="8" dur="600" fill="hold"/>
                                        <p:tgtEl>
                                          <p:spTgt spid="2"/>
                                        </p:tgtEl>
                                        <p:attrNameLst>
                                          <p:attrName>ppt_y</p:attrName>
                                        </p:attrNameLst>
                                      </p:cBhvr>
                                      <p:tavLst>
                                        <p:tav tm="0">
                                          <p:val>
                                            <p:strVal val="#ppt_y+.08"/>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600"/>
                                        <p:tgtEl>
                                          <p:spTgt spid="3"/>
                                        </p:tgtEl>
                                      </p:cBhvr>
                                    </p:animEffect>
                                    <p:anim calcmode="lin" valueType="num">
                                      <p:cBhvr>
                                        <p:cTn id="12" dur="600" fill="hold"/>
                                        <p:tgtEl>
                                          <p:spTgt spid="3"/>
                                        </p:tgtEl>
                                        <p:attrNameLst>
                                          <p:attrName>ppt_x</p:attrName>
                                        </p:attrNameLst>
                                      </p:cBhvr>
                                      <p:tavLst>
                                        <p:tav tm="0">
                                          <p:val>
                                            <p:strVal val="#ppt_x"/>
                                          </p:val>
                                        </p:tav>
                                        <p:tav tm="100000">
                                          <p:val>
                                            <p:strVal val="#ppt_x"/>
                                          </p:val>
                                        </p:tav>
                                      </p:tavLst>
                                    </p:anim>
                                    <p:anim calcmode="lin" valueType="num">
                                      <p:cBhvr>
                                        <p:cTn id="13" dur="600" fill="hold"/>
                                        <p:tgtEl>
                                          <p:spTgt spid="3"/>
                                        </p:tgtEl>
                                        <p:attrNameLst>
                                          <p:attrName>ppt_y</p:attrName>
                                        </p:attrNameLst>
                                      </p:cBhvr>
                                      <p:tavLst>
                                        <p:tav tm="0">
                                          <p:val>
                                            <p:strVal val="#ppt_y+.08"/>
                                          </p:val>
                                        </p:tav>
                                        <p:tav tm="100000">
                                          <p:val>
                                            <p:strVal val="#ppt_y"/>
                                          </p:val>
                                        </p:tav>
                                      </p:tavLst>
                                    </p:anim>
                                  </p:childTnLst>
                                </p:cTn>
                              </p:par>
                            </p:childTnLst>
                          </p:cTn>
                        </p:par>
                        <p:par>
                          <p:cTn id="20" fill="hold">
                            <p:stCondLst>
                              <p:cond delay="420"/>
                            </p:stCondLst>
                            <p:childTnLst>
                              <p:par>
                                <p:cTn id="15" presetID="53" presetClass="entr" presetSubtype="16"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anim calcmode="lin" valueType="num">
                                      <p:cBhvr>
                                        <p:cTn id="18" dur="500" fill="hold"/>
                                        <p:tgtEl>
                                          <p:spTgt spid="4"/>
                                        </p:tgtEl>
                                        <p:attrNameLst>
                                          <p:attrName>ppt_w</p:attrName>
                                        </p:attrNameLst>
                                      </p:cBhvr>
                                      <p:tavLst>
                                        <p:tav tm="0">
                                          <p:val>
                                            <p:strVal val="#ppt_w*0.3"/>
                                          </p:val>
                                        </p:tav>
                                        <p:tav tm="100000">
                                          <p:val>
                                            <p:strVal val="#ppt_w"/>
                                          </p:val>
                                        </p:tav>
                                      </p:tavLst>
                                    </p:anim>
                                    <p:anim calcmode="lin" valueType="num">
                                      <p:cBhvr>
                                        <p:cTn id="19" dur="500" fill="hold"/>
                                        <p:tgtEl>
                                          <p:spTgt spid="4"/>
                                        </p:tgtEl>
                                        <p:attrNameLst>
                                          <p:attrName>ppt_h</p:attrName>
                                        </p:attrNameLst>
                                      </p:cBhvr>
                                      <p:tavLst>
                                        <p:tav tm="0">
                                          <p:val>
                                            <p:strVal val="#ppt_h*0.3"/>
                                          </p:val>
                                        </p:tav>
                                        <p:tav tm="100000">
                                          <p:val>
                                            <p:strVal val="#ppt_h"/>
                                          </p:val>
                                        </p:tav>
                                      </p:tavLst>
                                    </p:anim>
                                  </p:childTnLst>
                                </p:cTn>
                              </p:par>
                            </p:childTnLst>
                          </p:cTn>
                        </p:par>
                        <p:par>
                          <p:cTn id="24" fill="hold">
                            <p:stCondLst>
                              <p:cond delay="770"/>
                            </p:stCondLst>
                            <p:childTnLst>
                              <p:par>
                                <p:cTn id="21" presetID="10" presetClass="entr" presetSubtype="0"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FF6FF"/>
        </a:solidFill>
        <a:effectLst/>
      </p:bgPr>
    </p:bg>
    <p:spTree>
      <p:nvGrpSpPr>
        <p:cNvPr id="1" name=""/>
        <p:cNvGrpSpPr/>
        <p:nvPr/>
      </p:nvGrpSpPr>
      <p:grpSpPr/>
      <p:sp>
        <p:nvSpPr>
          <p:cNvPr id="2" name="TextBox 1"/>
          <p:cNvSpPr txBox="1"/>
          <p:nvPr/>
        </p:nvSpPr>
        <p:spPr>
          <a:xfrm>
            <a:off x="812800" y="711200"/>
            <a:ext cx="10566400" cy="228600"/>
          </a:xfrm>
          <a:prstGeom prst="rect">
            <a:avLst/>
          </a:prstGeom>
          <a:noFill/>
        </p:spPr>
        <p:txBody>
          <a:bodyPr wrap="square" anchor="t" lIns="0" rIns="0" tIns="0" bIns="0">
            <a:noAutofit/>
          </a:bodyPr>
          <a:lstStyle/>
          <a:p>
            <a:pPr algn="l">
              <a:lnSpc>
                <a:spcPct val="125000"/>
              </a:lnSpc>
            </a:pPr>
            <a:r>
              <a:rPr sz="1200" b="1" i="0" cap="all" spc="300">
                <a:solidFill>
                  <a:srgbClr val="007AB1"/>
                </a:solidFill>
                <a:latin typeface="Nunito Sans"/>
              </a:rPr>
              <a:t>Het probleem</a:t>
            </a:r>
          </a:p>
        </p:txBody>
      </p:sp>
      <p:sp>
        <p:nvSpPr>
          <p:cNvPr id="3" name="TextBox 2"/>
          <p:cNvSpPr txBox="1"/>
          <p:nvPr/>
        </p:nvSpPr>
        <p:spPr>
          <a:xfrm>
            <a:off x="812800" y="990600"/>
            <a:ext cx="10566400" cy="1022350"/>
          </a:xfrm>
          <a:prstGeom prst="rect">
            <a:avLst/>
          </a:prstGeom>
          <a:noFill/>
        </p:spPr>
        <p:txBody>
          <a:bodyPr wrap="square" anchor="t" lIns="0" rIns="0" tIns="0" bIns="0">
            <a:noAutofit/>
          </a:bodyPr>
          <a:lstStyle/>
          <a:p>
            <a:pPr algn="l">
              <a:lnSpc>
                <a:spcPct val="105000"/>
              </a:lnSpc>
            </a:pPr>
            <a:r>
              <a:rPr sz="3600" b="1" i="0">
                <a:solidFill>
                  <a:srgbClr val="0D2A50"/>
                </a:solidFill>
                <a:latin typeface="Nunito Sans"/>
              </a:rPr>
              <a:t>Vier redenen waarom bankieren achter de feiten aanloopt</a:t>
            </a:r>
          </a:p>
        </p:txBody>
      </p:sp>
      <p:sp>
        <p:nvSpPr>
          <p:cNvPr id="4" name="Rounded Rectangle 3"/>
          <p:cNvSpPr/>
          <p:nvPr/>
        </p:nvSpPr>
        <p:spPr>
          <a:xfrm>
            <a:off x="812800" y="2266950"/>
            <a:ext cx="5181600" cy="1714500"/>
          </a:xfrm>
          <a:prstGeom prst="roundRect">
            <a:avLst>
              <a:gd name="adj" fmla="val 5925"/>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noAutofit/>
          </a:bodyPr>
          <a:lstStyle/>
          <a:p>
            <a:pPr algn="l">
              <a:lnSpc>
                <a:spcPct val="110000"/>
              </a:lnSpc>
            </a:pPr>
            <a:r>
              <a:rPr sz="2000" b="1" i="0">
                <a:solidFill>
                  <a:srgbClr val="0D2A50"/>
                </a:solidFill>
                <a:latin typeface="Nunito Sans"/>
              </a:rPr>
              <a:t>Achteraf in plaats van vooraf</a:t>
            </a:r>
          </a:p>
          <a:p>
            <a:pPr algn="l">
              <a:lnSpc>
                <a:spcPct val="125000"/>
              </a:lnSpc>
              <a:spcBef>
                <a:spcPts val="700"/>
              </a:spcBef>
            </a:pPr>
            <a:r>
              <a:rPr sz="1400" b="0" i="0">
                <a:solidFill>
                  <a:srgbClr val="45658F"/>
                </a:solidFill>
                <a:latin typeface="Nunito Sans"/>
              </a:rPr>
              <a:t>Overzichten en budgetgrafieken kijken terug. Niemand stuurt zijn leven bij op de grafiek van vorige maand.</a:t>
            </a:r>
          </a:p>
        </p:txBody>
      </p:sp>
      <p:sp>
        <p:nvSpPr>
          <p:cNvPr id="5" name="Rounded Rectangle 4"/>
          <p:cNvSpPr/>
          <p:nvPr/>
        </p:nvSpPr>
        <p:spPr>
          <a:xfrm>
            <a:off x="6197600" y="2266950"/>
            <a:ext cx="5181600" cy="1714500"/>
          </a:xfrm>
          <a:prstGeom prst="roundRect">
            <a:avLst>
              <a:gd name="adj" fmla="val 5925"/>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noAutofit/>
          </a:bodyPr>
          <a:lstStyle/>
          <a:p>
            <a:pPr algn="l">
              <a:lnSpc>
                <a:spcPct val="110000"/>
              </a:lnSpc>
            </a:pPr>
            <a:r>
              <a:rPr sz="2000" b="1" i="0">
                <a:solidFill>
                  <a:srgbClr val="0D2A50"/>
                </a:solidFill>
                <a:latin typeface="Nunito Sans"/>
              </a:rPr>
              <a:t>Producten in plaats van mensen</a:t>
            </a:r>
          </a:p>
          <a:p>
            <a:pPr algn="l">
              <a:lnSpc>
                <a:spcPct val="125000"/>
              </a:lnSpc>
              <a:spcBef>
                <a:spcPts val="700"/>
              </a:spcBef>
            </a:pPr>
            <a:r>
              <a:rPr sz="1400" b="0" i="0">
                <a:solidFill>
                  <a:srgbClr val="45658F"/>
                </a:solidFill>
                <a:latin typeface="Nunito Sans"/>
              </a:rPr>
              <a:t>Een klant is een lijst van rekeningen, kredieten en polissen. Het levensmoment dat ze allemaal raakt, ziet niemand als geheel.</a:t>
            </a:r>
          </a:p>
        </p:txBody>
      </p:sp>
      <p:sp>
        <p:nvSpPr>
          <p:cNvPr id="6" name="Rounded Rectangle 5"/>
          <p:cNvSpPr/>
          <p:nvPr/>
        </p:nvSpPr>
        <p:spPr>
          <a:xfrm>
            <a:off x="812800" y="4108450"/>
            <a:ext cx="5181600" cy="1714500"/>
          </a:xfrm>
          <a:prstGeom prst="roundRect">
            <a:avLst>
              <a:gd name="adj" fmla="val 5925"/>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noAutofit/>
          </a:bodyPr>
          <a:lstStyle/>
          <a:p>
            <a:pPr algn="l">
              <a:lnSpc>
                <a:spcPct val="110000"/>
              </a:lnSpc>
            </a:pPr>
            <a:r>
              <a:rPr sz="2000" b="1" i="0">
                <a:solidFill>
                  <a:srgbClr val="0D2A50"/>
                </a:solidFill>
                <a:latin typeface="Nunito Sans"/>
              </a:rPr>
              <a:t>Kate reageert</a:t>
            </a:r>
          </a:p>
          <a:p>
            <a:pPr algn="l">
              <a:lnSpc>
                <a:spcPct val="125000"/>
              </a:lnSpc>
              <a:spcBef>
                <a:spcPts val="700"/>
              </a:spcBef>
            </a:pPr>
            <a:r>
              <a:rPr sz="1400" b="0" i="0">
                <a:solidFill>
                  <a:srgbClr val="45658F"/>
                </a:solidFill>
                <a:latin typeface="Nunito Sans"/>
              </a:rPr>
              <a:t>Ze beantwoordt vragen en doet voorstellen, maar de klant moet nog altijd zelf weten dat hij iets moet vragen.</a:t>
            </a:r>
          </a:p>
        </p:txBody>
      </p:sp>
      <p:sp>
        <p:nvSpPr>
          <p:cNvPr id="7" name="Rounded Rectangle 6"/>
          <p:cNvSpPr/>
          <p:nvPr/>
        </p:nvSpPr>
        <p:spPr>
          <a:xfrm>
            <a:off x="6197600" y="4108450"/>
            <a:ext cx="5181600" cy="1714500"/>
          </a:xfrm>
          <a:prstGeom prst="roundRect">
            <a:avLst>
              <a:gd name="adj" fmla="val 5925"/>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noAutofit/>
          </a:bodyPr>
          <a:lstStyle/>
          <a:p>
            <a:pPr algn="l">
              <a:lnSpc>
                <a:spcPct val="110000"/>
              </a:lnSpc>
            </a:pPr>
            <a:r>
              <a:rPr sz="2000" b="1" i="0">
                <a:solidFill>
                  <a:srgbClr val="0D2A50"/>
                </a:solidFill>
                <a:latin typeface="Nunito Sans"/>
              </a:rPr>
              <a:t>Advies met een dubbele pet</a:t>
            </a:r>
          </a:p>
          <a:p>
            <a:pPr algn="l">
              <a:lnSpc>
                <a:spcPct val="125000"/>
              </a:lnSpc>
              <a:spcBef>
                <a:spcPts val="700"/>
              </a:spcBef>
            </a:pPr>
            <a:r>
              <a:rPr sz="1400" b="0" i="0">
                <a:solidFill>
                  <a:srgbClr val="45658F"/>
                </a:solidFill>
                <a:latin typeface="Nunito Sans"/>
              </a:rPr>
              <a:t>Een bank die advies geeft, verkoopt ook. Klanten voelen dat en vertrouwen gepersonaliseerde voorstellen niet volledig.</a:t>
            </a:r>
          </a:p>
        </p:txBody>
      </p:sp>
      <p:sp>
        <p:nvSpPr>
          <p:cNvPr id="8" name="TextBox 7"/>
          <p:cNvSpPr txBox="1"/>
          <p:nvPr/>
        </p:nvSpPr>
        <p:spPr>
          <a:xfrm>
            <a:off x="812800" y="6350000"/>
            <a:ext cx="8890000" cy="215900"/>
          </a:xfrm>
          <a:prstGeom prst="rect">
            <a:avLst/>
          </a:prstGeom>
          <a:noFill/>
        </p:spPr>
        <p:txBody>
          <a:bodyPr wrap="square" anchor="t" lIns="0" rIns="0" tIns="0" bIns="0">
            <a:noAutofit/>
          </a:bodyPr>
          <a:lstStyle/>
          <a:p>
            <a:pPr algn="l">
              <a:lnSpc>
                <a:spcPct val="125000"/>
              </a:lnSpc>
            </a:pPr>
            <a:r>
              <a:rPr sz="1100" b="0" i="0">
                <a:solidFill>
                  <a:srgbClr val="45658F"/>
                </a:solidFill>
                <a:latin typeface="Nunito Sans"/>
              </a:rPr>
              <a:t>KBC Weerbericht · Jij kiest het weer · Team Trojan Horse</a:t>
            </a:r>
          </a:p>
        </p:txBody>
      </p:sp>
      <p:sp>
        <p:nvSpPr>
          <p:cNvPr id="9" name="TextBox 8"/>
          <p:cNvSpPr txBox="1"/>
          <p:nvPr/>
        </p:nvSpPr>
        <p:spPr>
          <a:xfrm>
            <a:off x="10109200" y="6350000"/>
            <a:ext cx="1270000" cy="215900"/>
          </a:xfrm>
          <a:prstGeom prst="rect">
            <a:avLst/>
          </a:prstGeom>
          <a:noFill/>
        </p:spPr>
        <p:txBody>
          <a:bodyPr wrap="square" anchor="t" lIns="0" rIns="0" tIns="0" bIns="0">
            <a:noAutofit/>
          </a:bodyPr>
          <a:lstStyle/>
          <a:p>
            <a:pPr algn="r">
              <a:lnSpc>
                <a:spcPct val="125000"/>
              </a:lnSpc>
            </a:pPr>
            <a:r>
              <a:rPr sz="1100" b="0" i="0">
                <a:solidFill>
                  <a:srgbClr val="45658F"/>
                </a:solidFill>
                <a:latin typeface="Nunito Sans"/>
              </a:rPr>
              <a:t>3 / 23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4" fill="hold">
                            <p:stCondLst>
                              <p:cond delay="0"/>
                            </p:stCondLst>
                            <p:childTnLst>
                              <p:par>
                                <p:cTn id="4" presetID="42"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ppt_y+.08"/>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p:cTn id="12" dur="500" fill="hold"/>
                                        <p:tgtEl>
                                          <p:spTgt spid="3"/>
                                        </p:tgtEl>
                                        <p:attrNameLst>
                                          <p:attrName>ppt_x</p:attrName>
                                        </p:attrNameLst>
                                      </p:cBhvr>
                                      <p:tavLst>
                                        <p:tav tm="0">
                                          <p:val>
                                            <p:strVal val="#ppt_x"/>
                                          </p:val>
                                        </p:tav>
                                        <p:tav tm="100000">
                                          <p:val>
                                            <p:strVal val="#ppt_x"/>
                                          </p:val>
                                        </p:tav>
                                      </p:tavLst>
                                    </p:anim>
                                    <p:anim calcmode="lin" valueType="num">
                                      <p:cBhvr>
                                        <p:cTn id="13" dur="500" fill="hold"/>
                                        <p:tgtEl>
                                          <p:spTgt spid="3"/>
                                        </p:tgtEl>
                                        <p:attrNameLst>
                                          <p:attrName>ppt_y</p:attrName>
                                        </p:attrNameLst>
                                      </p:cBhvr>
                                      <p:tavLst>
                                        <p:tav tm="0">
                                          <p:val>
                                            <p:strVal val="#ppt_y+.08"/>
                                          </p:val>
                                        </p:tav>
                                        <p:tav tm="100000">
                                          <p:val>
                                            <p:strVal val="#ppt_y"/>
                                          </p:val>
                                        </p:tav>
                                      </p:tavLst>
                                    </p:anim>
                                  </p:childTnLst>
                                </p:cTn>
                              </p:par>
                            </p:childTnLst>
                          </p:cTn>
                        </p:par>
                        <p:par>
                          <p:cTn id="20" fill="hold">
                            <p:stCondLst>
                              <p:cond delay="350"/>
                            </p:stCondLst>
                            <p:childTnLst>
                              <p:par>
                                <p:cTn id="15" presetID="42" presetClass="entr" presetSubtype="0"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450"/>
                                        <p:tgtEl>
                                          <p:spTgt spid="4"/>
                                        </p:tgtEl>
                                      </p:cBhvr>
                                    </p:animEffect>
                                    <p:anim calcmode="lin" valueType="num">
                                      <p:cBhvr>
                                        <p:cTn id="18" dur="450" fill="hold"/>
                                        <p:tgtEl>
                                          <p:spTgt spid="4"/>
                                        </p:tgtEl>
                                        <p:attrNameLst>
                                          <p:attrName>ppt_x</p:attrName>
                                        </p:attrNameLst>
                                      </p:cBhvr>
                                      <p:tavLst>
                                        <p:tav tm="0">
                                          <p:val>
                                            <p:strVal val="#ppt_x"/>
                                          </p:val>
                                        </p:tav>
                                        <p:tav tm="100000">
                                          <p:val>
                                            <p:strVal val="#ppt_x"/>
                                          </p:val>
                                        </p:tav>
                                      </p:tavLst>
                                    </p:anim>
                                    <p:anim calcmode="lin" valueType="num">
                                      <p:cBhvr>
                                        <p:cTn id="19" dur="450" fill="hold"/>
                                        <p:tgtEl>
                                          <p:spTgt spid="4"/>
                                        </p:tgtEl>
                                        <p:attrNameLst>
                                          <p:attrName>ppt_y</p:attrName>
                                        </p:attrNameLst>
                                      </p:cBhvr>
                                      <p:tavLst>
                                        <p:tav tm="0">
                                          <p:val>
                                            <p:strVal val="#ppt_y+.08"/>
                                          </p:val>
                                        </p:tav>
                                        <p:tav tm="100000">
                                          <p:val>
                                            <p:strVal val="#ppt_y"/>
                                          </p:val>
                                        </p:tav>
                                      </p:tavLst>
                                    </p:anim>
                                  </p:childTnLst>
                                </p:cTn>
                              </p:par>
                            </p:childTnLst>
                          </p:cTn>
                        </p:par>
                        <p:par>
                          <p:cTn id="26" fill="hold">
                            <p:stCondLst>
                              <p:cond delay="665"/>
                            </p:stCondLst>
                            <p:childTnLst>
                              <p:par>
                                <p:cTn id="21" presetID="42" presetClass="entr" presetSubtype="0"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450"/>
                                        <p:tgtEl>
                                          <p:spTgt spid="5"/>
                                        </p:tgtEl>
                                      </p:cBhvr>
                                    </p:animEffect>
                                    <p:anim calcmode="lin" valueType="num">
                                      <p:cBhvr>
                                        <p:cTn id="24" dur="450" fill="hold"/>
                                        <p:tgtEl>
                                          <p:spTgt spid="5"/>
                                        </p:tgtEl>
                                        <p:attrNameLst>
                                          <p:attrName>ppt_x</p:attrName>
                                        </p:attrNameLst>
                                      </p:cBhvr>
                                      <p:tavLst>
                                        <p:tav tm="0">
                                          <p:val>
                                            <p:strVal val="#ppt_x"/>
                                          </p:val>
                                        </p:tav>
                                        <p:tav tm="100000">
                                          <p:val>
                                            <p:strVal val="#ppt_x"/>
                                          </p:val>
                                        </p:tav>
                                      </p:tavLst>
                                    </p:anim>
                                    <p:anim calcmode="lin" valueType="num">
                                      <p:cBhvr>
                                        <p:cTn id="25" dur="450" fill="hold"/>
                                        <p:tgtEl>
                                          <p:spTgt spid="5"/>
                                        </p:tgtEl>
                                        <p:attrNameLst>
                                          <p:attrName>ppt_y</p:attrName>
                                        </p:attrNameLst>
                                      </p:cBhvr>
                                      <p:tavLst>
                                        <p:tav tm="0">
                                          <p:val>
                                            <p:strVal val="#ppt_y+.08"/>
                                          </p:val>
                                        </p:tav>
                                        <p:tav tm="100000">
                                          <p:val>
                                            <p:strVal val="#ppt_y"/>
                                          </p:val>
                                        </p:tav>
                                      </p:tavLst>
                                    </p:anim>
                                  </p:childTnLst>
                                </p:cTn>
                              </p:par>
                            </p:childTnLst>
                          </p:cTn>
                        </p:par>
                        <p:par>
                          <p:cTn id="32" fill="hold">
                            <p:stCondLst>
                              <p:cond delay="980"/>
                            </p:stCondLst>
                            <p:childTnLst>
                              <p:par>
                                <p:cTn id="27" presetID="42" presetClass="entr" presetSubtype="0" fill="hold" grpId="0"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450"/>
                                        <p:tgtEl>
                                          <p:spTgt spid="6"/>
                                        </p:tgtEl>
                                      </p:cBhvr>
                                    </p:animEffect>
                                    <p:anim calcmode="lin" valueType="num">
                                      <p:cBhvr>
                                        <p:cTn id="30" dur="450" fill="hold"/>
                                        <p:tgtEl>
                                          <p:spTgt spid="6"/>
                                        </p:tgtEl>
                                        <p:attrNameLst>
                                          <p:attrName>ppt_x</p:attrName>
                                        </p:attrNameLst>
                                      </p:cBhvr>
                                      <p:tavLst>
                                        <p:tav tm="0">
                                          <p:val>
                                            <p:strVal val="#ppt_x"/>
                                          </p:val>
                                        </p:tav>
                                        <p:tav tm="100000">
                                          <p:val>
                                            <p:strVal val="#ppt_x"/>
                                          </p:val>
                                        </p:tav>
                                      </p:tavLst>
                                    </p:anim>
                                    <p:anim calcmode="lin" valueType="num">
                                      <p:cBhvr>
                                        <p:cTn id="31" dur="450" fill="hold"/>
                                        <p:tgtEl>
                                          <p:spTgt spid="6"/>
                                        </p:tgtEl>
                                        <p:attrNameLst>
                                          <p:attrName>ppt_y</p:attrName>
                                        </p:attrNameLst>
                                      </p:cBhvr>
                                      <p:tavLst>
                                        <p:tav tm="0">
                                          <p:val>
                                            <p:strVal val="#ppt_y+.08"/>
                                          </p:val>
                                        </p:tav>
                                        <p:tav tm="100000">
                                          <p:val>
                                            <p:strVal val="#ppt_y"/>
                                          </p:val>
                                        </p:tav>
                                      </p:tavLst>
                                    </p:anim>
                                  </p:childTnLst>
                                </p:cTn>
                              </p:par>
                            </p:childTnLst>
                          </p:cTn>
                        </p:par>
                        <p:par>
                          <p:cTn id="38" fill="hold">
                            <p:stCondLst>
                              <p:cond delay="1295"/>
                            </p:stCondLst>
                            <p:childTnLst>
                              <p:par>
                                <p:cTn id="33" presetID="42" presetClass="entr" presetSubtype="0" fill="hold" grpId="0"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450"/>
                                        <p:tgtEl>
                                          <p:spTgt spid="7"/>
                                        </p:tgtEl>
                                      </p:cBhvr>
                                    </p:animEffect>
                                    <p:anim calcmode="lin" valueType="num">
                                      <p:cBhvr>
                                        <p:cTn id="36" dur="450" fill="hold"/>
                                        <p:tgtEl>
                                          <p:spTgt spid="7"/>
                                        </p:tgtEl>
                                        <p:attrNameLst>
                                          <p:attrName>ppt_x</p:attrName>
                                        </p:attrNameLst>
                                      </p:cBhvr>
                                      <p:tavLst>
                                        <p:tav tm="0">
                                          <p:val>
                                            <p:strVal val="#ppt_x"/>
                                          </p:val>
                                        </p:tav>
                                        <p:tav tm="100000">
                                          <p:val>
                                            <p:strVal val="#ppt_x"/>
                                          </p:val>
                                        </p:tav>
                                      </p:tavLst>
                                    </p:anim>
                                    <p:anim calcmode="lin" valueType="num">
                                      <p:cBhvr>
                                        <p:cTn id="37" dur="450" fill="hold"/>
                                        <p:tgtEl>
                                          <p:spTgt spid="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2A50"/>
        </a:solidFill>
        <a:effectLst/>
      </p:bgPr>
    </p:bg>
    <p:spTree>
      <p:nvGrpSpPr>
        <p:cNvPr id="1" name=""/>
        <p:cNvGrpSpPr/>
        <p:nvPr/>
      </p:nvGrpSpPr>
      <p:grpSpPr/>
      <p:sp>
        <p:nvSpPr>
          <p:cNvPr id="2" name="TextBox 1"/>
          <p:cNvSpPr txBox="1"/>
          <p:nvPr/>
        </p:nvSpPr>
        <p:spPr>
          <a:xfrm>
            <a:off x="812800" y="711200"/>
            <a:ext cx="10566400" cy="228600"/>
          </a:xfrm>
          <a:prstGeom prst="rect">
            <a:avLst/>
          </a:prstGeom>
          <a:noFill/>
        </p:spPr>
        <p:txBody>
          <a:bodyPr wrap="square" anchor="t" lIns="0" rIns="0" tIns="0" bIns="0">
            <a:noAutofit/>
          </a:bodyPr>
          <a:lstStyle/>
          <a:p>
            <a:pPr algn="l">
              <a:lnSpc>
                <a:spcPct val="125000"/>
              </a:lnSpc>
            </a:pPr>
            <a:r>
              <a:rPr sz="1200" b="1" i="0" cap="all" spc="300">
                <a:solidFill>
                  <a:srgbClr val="46ADE0"/>
                </a:solidFill>
                <a:latin typeface="Nunito Sans"/>
              </a:rPr>
              <a:t>Waar we op bouwen</a:t>
            </a:r>
          </a:p>
        </p:txBody>
      </p:sp>
      <p:sp>
        <p:nvSpPr>
          <p:cNvPr id="3" name="TextBox 2"/>
          <p:cNvSpPr txBox="1"/>
          <p:nvPr/>
        </p:nvSpPr>
        <p:spPr>
          <a:xfrm>
            <a:off x="812800" y="990600"/>
            <a:ext cx="10566400" cy="508000"/>
          </a:xfrm>
          <a:prstGeom prst="rect">
            <a:avLst/>
          </a:prstGeom>
          <a:noFill/>
        </p:spPr>
        <p:txBody>
          <a:bodyPr wrap="square" anchor="t" lIns="0" rIns="0" tIns="0" bIns="0">
            <a:noAutofit/>
          </a:bodyPr>
          <a:lstStyle/>
          <a:p>
            <a:pPr algn="l">
              <a:lnSpc>
                <a:spcPct val="105000"/>
              </a:lnSpc>
            </a:pPr>
            <a:r>
              <a:rPr sz="3600" b="1" i="0">
                <a:solidFill>
                  <a:srgbClr val="FFFFFF"/>
                </a:solidFill>
                <a:latin typeface="Nunito Sans"/>
              </a:rPr>
              <a:t>Van proactief naar voorspellend</a:t>
            </a:r>
          </a:p>
        </p:txBody>
      </p:sp>
      <p:sp>
        <p:nvSpPr>
          <p:cNvPr id="4" name="Rounded Rectangle 3"/>
          <p:cNvSpPr/>
          <p:nvPr/>
        </p:nvSpPr>
        <p:spPr>
          <a:xfrm>
            <a:off x="812800" y="1752600"/>
            <a:ext cx="5181600" cy="1905000"/>
          </a:xfrm>
          <a:prstGeom prst="roundRect">
            <a:avLst>
              <a:gd name="adj" fmla="val 5333"/>
            </a:avLst>
          </a:prstGeom>
          <a:solidFill>
            <a:srgbClr val="021E43"/>
          </a:solidFill>
          <a:ln w="12700">
            <a:solidFill>
              <a:srgbClr val="1E4474"/>
            </a:solidFill>
          </a:ln>
          <a:effectLst/>
        </p:spPr>
        <p:style>
          <a:lnRef idx="1">
            <a:schemeClr val="accent1"/>
          </a:lnRef>
          <a:fillRef idx="3">
            <a:schemeClr val="accent1"/>
          </a:fillRef>
          <a:effectRef idx="2">
            <a:schemeClr val="accent1"/>
          </a:effectRef>
          <a:fontRef idx="minor">
            <a:schemeClr val="lt1"/>
          </a:fontRef>
        </p:style>
        <p:txBody>
          <a:bodyPr rtlCol="0" anchor="t" wrap="square" lIns="254000" rIns="254000" tIns="203200" bIns="203200">
            <a:noAutofit/>
          </a:bodyPr>
          <a:lstStyle/>
          <a:p>
            <a:pPr algn="l">
              <a:lnSpc>
                <a:spcPct val="100000"/>
              </a:lnSpc>
            </a:pPr>
            <a:r>
              <a:rPr sz="5200" b="1" i="0">
                <a:solidFill>
                  <a:srgbClr val="FECC00"/>
                </a:solidFill>
                <a:latin typeface="Nunito Sans"/>
              </a:rPr>
              <a:t>2,3 mln</a:t>
            </a:r>
          </a:p>
          <a:p>
            <a:pPr algn="l">
              <a:lnSpc>
                <a:spcPct val="125000"/>
              </a:lnSpc>
              <a:spcBef>
                <a:spcPts val="500"/>
              </a:spcBef>
            </a:pPr>
            <a:r>
              <a:rPr sz="1600" b="0" i="0">
                <a:solidFill>
                  <a:srgbClr val="BFDAFF"/>
                </a:solidFill>
                <a:latin typeface="Nunito Sans"/>
              </a:rPr>
              <a:t>unieke gebruikers van KBC Mobile in België</a:t>
            </a:r>
          </a:p>
        </p:txBody>
      </p:sp>
      <p:sp>
        <p:nvSpPr>
          <p:cNvPr id="5" name="Rounded Rectangle 4"/>
          <p:cNvSpPr/>
          <p:nvPr/>
        </p:nvSpPr>
        <p:spPr>
          <a:xfrm>
            <a:off x="6197600" y="1752600"/>
            <a:ext cx="5181600" cy="1905000"/>
          </a:xfrm>
          <a:prstGeom prst="roundRect">
            <a:avLst>
              <a:gd name="adj" fmla="val 5333"/>
            </a:avLst>
          </a:prstGeom>
          <a:solidFill>
            <a:srgbClr val="021E43"/>
          </a:solidFill>
          <a:ln w="12700">
            <a:solidFill>
              <a:srgbClr val="1E4474"/>
            </a:solidFill>
          </a:ln>
          <a:effectLst/>
        </p:spPr>
        <p:style>
          <a:lnRef idx="1">
            <a:schemeClr val="accent1"/>
          </a:lnRef>
          <a:fillRef idx="3">
            <a:schemeClr val="accent1"/>
          </a:fillRef>
          <a:effectRef idx="2">
            <a:schemeClr val="accent1"/>
          </a:effectRef>
          <a:fontRef idx="minor">
            <a:schemeClr val="lt1"/>
          </a:fontRef>
        </p:style>
        <p:txBody>
          <a:bodyPr rtlCol="0" anchor="t" wrap="square" lIns="254000" rIns="254000" tIns="203200" bIns="203200">
            <a:noAutofit/>
          </a:bodyPr>
          <a:lstStyle/>
          <a:p>
            <a:pPr algn="l">
              <a:lnSpc>
                <a:spcPct val="100000"/>
              </a:lnSpc>
            </a:pPr>
            <a:r>
              <a:rPr sz="5200" b="1" i="0">
                <a:solidFill>
                  <a:srgbClr val="FECC00"/>
                </a:solidFill>
                <a:latin typeface="Nunito Sans"/>
              </a:rPr>
              <a:t>5,8 mln</a:t>
            </a:r>
          </a:p>
          <a:p>
            <a:pPr algn="l">
              <a:lnSpc>
                <a:spcPct val="125000"/>
              </a:lnSpc>
              <a:spcBef>
                <a:spcPts val="500"/>
              </a:spcBef>
            </a:pPr>
            <a:r>
              <a:rPr sz="1600" b="0" i="0">
                <a:solidFill>
                  <a:srgbClr val="BFDAFF"/>
                </a:solidFill>
                <a:latin typeface="Nunito Sans"/>
              </a:rPr>
              <a:t>digitale klanten met Kate in 5 landen</a:t>
            </a:r>
          </a:p>
        </p:txBody>
      </p:sp>
      <p:sp>
        <p:nvSpPr>
          <p:cNvPr id="6" name="Rounded Rectangle 5"/>
          <p:cNvSpPr/>
          <p:nvPr/>
        </p:nvSpPr>
        <p:spPr>
          <a:xfrm>
            <a:off x="812800" y="3784600"/>
            <a:ext cx="5181600" cy="1905000"/>
          </a:xfrm>
          <a:prstGeom prst="roundRect">
            <a:avLst>
              <a:gd name="adj" fmla="val 5333"/>
            </a:avLst>
          </a:prstGeom>
          <a:solidFill>
            <a:srgbClr val="021E43"/>
          </a:solidFill>
          <a:ln w="12700">
            <a:solidFill>
              <a:srgbClr val="1E4474"/>
            </a:solidFill>
          </a:ln>
          <a:effectLst/>
        </p:spPr>
        <p:style>
          <a:lnRef idx="1">
            <a:schemeClr val="accent1"/>
          </a:lnRef>
          <a:fillRef idx="3">
            <a:schemeClr val="accent1"/>
          </a:fillRef>
          <a:effectRef idx="2">
            <a:schemeClr val="accent1"/>
          </a:effectRef>
          <a:fontRef idx="minor">
            <a:schemeClr val="lt1"/>
          </a:fontRef>
        </p:style>
        <p:txBody>
          <a:bodyPr rtlCol="0" anchor="t" wrap="square" lIns="254000" rIns="254000" tIns="203200" bIns="203200">
            <a:noAutofit/>
          </a:bodyPr>
          <a:lstStyle/>
          <a:p>
            <a:pPr algn="l">
              <a:lnSpc>
                <a:spcPct val="100000"/>
              </a:lnSpc>
            </a:pPr>
            <a:r>
              <a:rPr sz="5200" b="1" i="0">
                <a:solidFill>
                  <a:srgbClr val="FECC00"/>
                </a:solidFill>
                <a:latin typeface="Nunito Sans"/>
              </a:rPr>
              <a:t>70%</a:t>
            </a:r>
          </a:p>
          <a:p>
            <a:pPr algn="l">
              <a:lnSpc>
                <a:spcPct val="125000"/>
              </a:lnSpc>
              <a:spcBef>
                <a:spcPts val="500"/>
              </a:spcBef>
            </a:pPr>
            <a:r>
              <a:rPr sz="1600" b="0" i="0">
                <a:solidFill>
                  <a:srgbClr val="BFDAFF"/>
                </a:solidFill>
                <a:latin typeface="Nunito Sans"/>
              </a:rPr>
              <a:t>van de klantvragen lost Kate vandaag zelfstandig op</a:t>
            </a:r>
          </a:p>
        </p:txBody>
      </p:sp>
      <p:sp>
        <p:nvSpPr>
          <p:cNvPr id="7" name="Rounded Rectangle 6"/>
          <p:cNvSpPr/>
          <p:nvPr/>
        </p:nvSpPr>
        <p:spPr>
          <a:xfrm>
            <a:off x="6197600" y="3784600"/>
            <a:ext cx="5181600" cy="1905000"/>
          </a:xfrm>
          <a:prstGeom prst="roundRect">
            <a:avLst>
              <a:gd name="adj" fmla="val 5333"/>
            </a:avLst>
          </a:prstGeom>
          <a:solidFill>
            <a:srgbClr val="021E43"/>
          </a:solidFill>
          <a:ln w="12700">
            <a:solidFill>
              <a:srgbClr val="1E4474"/>
            </a:solidFill>
          </a:ln>
          <a:effectLst/>
        </p:spPr>
        <p:style>
          <a:lnRef idx="1">
            <a:schemeClr val="accent1"/>
          </a:lnRef>
          <a:fillRef idx="3">
            <a:schemeClr val="accent1"/>
          </a:fillRef>
          <a:effectRef idx="2">
            <a:schemeClr val="accent1"/>
          </a:effectRef>
          <a:fontRef idx="minor">
            <a:schemeClr val="lt1"/>
          </a:fontRef>
        </p:style>
        <p:txBody>
          <a:bodyPr rtlCol="0" anchor="t" wrap="square" lIns="254000" rIns="254000" tIns="203200" bIns="203200">
            <a:noAutofit/>
          </a:bodyPr>
          <a:lstStyle/>
          <a:p>
            <a:pPr algn="l">
              <a:lnSpc>
                <a:spcPct val="100000"/>
              </a:lnSpc>
            </a:pPr>
            <a:r>
              <a:rPr sz="5200" b="1" i="0">
                <a:solidFill>
                  <a:srgbClr val="FECC00"/>
                </a:solidFill>
                <a:latin typeface="Nunito Sans"/>
              </a:rPr>
              <a:t>140+</a:t>
            </a:r>
          </a:p>
          <a:p>
            <a:pPr algn="l">
              <a:lnSpc>
                <a:spcPct val="125000"/>
              </a:lnSpc>
              <a:spcBef>
                <a:spcPts val="500"/>
              </a:spcBef>
            </a:pPr>
            <a:r>
              <a:rPr sz="1600" b="0" i="0">
                <a:solidFill>
                  <a:srgbClr val="BFDAFF"/>
                </a:solidFill>
                <a:latin typeface="Nunito Sans"/>
              </a:rPr>
              <a:t>situaties waarin Kate al proactief voorstellen doet</a:t>
            </a:r>
          </a:p>
        </p:txBody>
      </p:sp>
      <p:sp>
        <p:nvSpPr>
          <p:cNvPr id="8" name="TextBox 7"/>
          <p:cNvSpPr txBox="1"/>
          <p:nvPr/>
        </p:nvSpPr>
        <p:spPr>
          <a:xfrm>
            <a:off x="812800" y="6350000"/>
            <a:ext cx="8890000" cy="215900"/>
          </a:xfrm>
          <a:prstGeom prst="rect">
            <a:avLst/>
          </a:prstGeom>
          <a:noFill/>
        </p:spPr>
        <p:txBody>
          <a:bodyPr wrap="square" anchor="t" lIns="0" rIns="0" tIns="0" bIns="0">
            <a:noAutofit/>
          </a:bodyPr>
          <a:lstStyle/>
          <a:p>
            <a:pPr algn="l">
              <a:lnSpc>
                <a:spcPct val="125000"/>
              </a:lnSpc>
            </a:pPr>
            <a:r>
              <a:rPr sz="1100" b="0" i="0">
                <a:solidFill>
                  <a:srgbClr val="8FA9CC"/>
                </a:solidFill>
                <a:latin typeface="Nunito Sans"/>
              </a:rPr>
              <a:t>Bronnen: KBC persbericht “Vijf jaar Kate” (24/11/2025) · KBC Newsroom (07/12/2024)</a:t>
            </a:r>
          </a:p>
        </p:txBody>
      </p:sp>
      <p:sp>
        <p:nvSpPr>
          <p:cNvPr id="9" name="TextBox 8"/>
          <p:cNvSpPr txBox="1"/>
          <p:nvPr/>
        </p:nvSpPr>
        <p:spPr>
          <a:xfrm>
            <a:off x="10109200" y="6350000"/>
            <a:ext cx="1270000" cy="215900"/>
          </a:xfrm>
          <a:prstGeom prst="rect">
            <a:avLst/>
          </a:prstGeom>
          <a:noFill/>
        </p:spPr>
        <p:txBody>
          <a:bodyPr wrap="square" anchor="t" lIns="0" rIns="0" tIns="0" bIns="0">
            <a:noAutofit/>
          </a:bodyPr>
          <a:lstStyle/>
          <a:p>
            <a:pPr algn="r">
              <a:lnSpc>
                <a:spcPct val="125000"/>
              </a:lnSpc>
            </a:pPr>
            <a:r>
              <a:rPr sz="1100" b="0" i="0">
                <a:solidFill>
                  <a:srgbClr val="8FA9CC"/>
                </a:solidFill>
                <a:latin typeface="Nunito Sans"/>
              </a:rPr>
              <a:t>4 / 23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4" fill="hold">
                            <p:stCondLst>
                              <p:cond delay="0"/>
                            </p:stCondLst>
                            <p:childTnLst>
                              <p:par>
                                <p:cTn id="4" presetID="42"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ppt_y+.08"/>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p:cTn id="12" dur="500" fill="hold"/>
                                        <p:tgtEl>
                                          <p:spTgt spid="3"/>
                                        </p:tgtEl>
                                        <p:attrNameLst>
                                          <p:attrName>ppt_x</p:attrName>
                                        </p:attrNameLst>
                                      </p:cBhvr>
                                      <p:tavLst>
                                        <p:tav tm="0">
                                          <p:val>
                                            <p:strVal val="#ppt_x"/>
                                          </p:val>
                                        </p:tav>
                                        <p:tav tm="100000">
                                          <p:val>
                                            <p:strVal val="#ppt_x"/>
                                          </p:val>
                                        </p:tav>
                                      </p:tavLst>
                                    </p:anim>
                                    <p:anim calcmode="lin" valueType="num">
                                      <p:cBhvr>
                                        <p:cTn id="13" dur="500" fill="hold"/>
                                        <p:tgtEl>
                                          <p:spTgt spid="3"/>
                                        </p:tgtEl>
                                        <p:attrNameLst>
                                          <p:attrName>ppt_y</p:attrName>
                                        </p:attrNameLst>
                                      </p:cBhvr>
                                      <p:tavLst>
                                        <p:tav tm="0">
                                          <p:val>
                                            <p:strVal val="#ppt_y+.08"/>
                                          </p:val>
                                        </p:tav>
                                        <p:tav tm="100000">
                                          <p:val>
                                            <p:strVal val="#ppt_y"/>
                                          </p:val>
                                        </p:tav>
                                      </p:tavLst>
                                    </p:anim>
                                  </p:childTnLst>
                                </p:cTn>
                              </p:par>
                            </p:childTnLst>
                          </p:cTn>
                        </p:par>
                        <p:par>
                          <p:cTn id="20" fill="hold">
                            <p:stCondLst>
                              <p:cond delay="350"/>
                            </p:stCondLst>
                            <p:childTnLst>
                              <p:par>
                                <p:cTn id="15" presetID="53" presetClass="entr" presetSubtype="16"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450"/>
                                        <p:tgtEl>
                                          <p:spTgt spid="4"/>
                                        </p:tgtEl>
                                      </p:cBhvr>
                                    </p:animEffect>
                                    <p:anim calcmode="lin" valueType="num">
                                      <p:cBhvr>
                                        <p:cTn id="18" dur="450" fill="hold"/>
                                        <p:tgtEl>
                                          <p:spTgt spid="4"/>
                                        </p:tgtEl>
                                        <p:attrNameLst>
                                          <p:attrName>ppt_w</p:attrName>
                                        </p:attrNameLst>
                                      </p:cBhvr>
                                      <p:tavLst>
                                        <p:tav tm="0">
                                          <p:val>
                                            <p:strVal val="#ppt_w*0.3"/>
                                          </p:val>
                                        </p:tav>
                                        <p:tav tm="100000">
                                          <p:val>
                                            <p:strVal val="#ppt_w"/>
                                          </p:val>
                                        </p:tav>
                                      </p:tavLst>
                                    </p:anim>
                                    <p:anim calcmode="lin" valueType="num">
                                      <p:cBhvr>
                                        <p:cTn id="19" dur="450" fill="hold"/>
                                        <p:tgtEl>
                                          <p:spTgt spid="4"/>
                                        </p:tgtEl>
                                        <p:attrNameLst>
                                          <p:attrName>ppt_h</p:attrName>
                                        </p:attrNameLst>
                                      </p:cBhvr>
                                      <p:tavLst>
                                        <p:tav tm="0">
                                          <p:val>
                                            <p:strVal val="#ppt_h*0.3"/>
                                          </p:val>
                                        </p:tav>
                                        <p:tav tm="100000">
                                          <p:val>
                                            <p:strVal val="#ppt_h"/>
                                          </p:val>
                                        </p:tav>
                                      </p:tavLst>
                                    </p:anim>
                                  </p:childTnLst>
                                </p:cTn>
                              </p:par>
                            </p:childTnLst>
                          </p:cTn>
                        </p:par>
                        <p:par>
                          <p:cTn id="26" fill="hold">
                            <p:stCondLst>
                              <p:cond delay="665"/>
                            </p:stCondLst>
                            <p:childTnLst>
                              <p:par>
                                <p:cTn id="21" presetID="53" presetClass="entr" presetSubtype="16"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450"/>
                                        <p:tgtEl>
                                          <p:spTgt spid="5"/>
                                        </p:tgtEl>
                                      </p:cBhvr>
                                    </p:animEffect>
                                    <p:anim calcmode="lin" valueType="num">
                                      <p:cBhvr>
                                        <p:cTn id="24" dur="450" fill="hold"/>
                                        <p:tgtEl>
                                          <p:spTgt spid="5"/>
                                        </p:tgtEl>
                                        <p:attrNameLst>
                                          <p:attrName>ppt_w</p:attrName>
                                        </p:attrNameLst>
                                      </p:cBhvr>
                                      <p:tavLst>
                                        <p:tav tm="0">
                                          <p:val>
                                            <p:strVal val="#ppt_w*0.3"/>
                                          </p:val>
                                        </p:tav>
                                        <p:tav tm="100000">
                                          <p:val>
                                            <p:strVal val="#ppt_w"/>
                                          </p:val>
                                        </p:tav>
                                      </p:tavLst>
                                    </p:anim>
                                    <p:anim calcmode="lin" valueType="num">
                                      <p:cBhvr>
                                        <p:cTn id="25" dur="450" fill="hold"/>
                                        <p:tgtEl>
                                          <p:spTgt spid="5"/>
                                        </p:tgtEl>
                                        <p:attrNameLst>
                                          <p:attrName>ppt_h</p:attrName>
                                        </p:attrNameLst>
                                      </p:cBhvr>
                                      <p:tavLst>
                                        <p:tav tm="0">
                                          <p:val>
                                            <p:strVal val="#ppt_h*0.3"/>
                                          </p:val>
                                        </p:tav>
                                        <p:tav tm="100000">
                                          <p:val>
                                            <p:strVal val="#ppt_h"/>
                                          </p:val>
                                        </p:tav>
                                      </p:tavLst>
                                    </p:anim>
                                  </p:childTnLst>
                                </p:cTn>
                              </p:par>
                            </p:childTnLst>
                          </p:cTn>
                        </p:par>
                        <p:par>
                          <p:cTn id="32" fill="hold">
                            <p:stCondLst>
                              <p:cond delay="980"/>
                            </p:stCondLst>
                            <p:childTnLst>
                              <p:par>
                                <p:cTn id="27" presetID="53" presetClass="entr" presetSubtype="16" fill="hold" grpId="0"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450"/>
                                        <p:tgtEl>
                                          <p:spTgt spid="6"/>
                                        </p:tgtEl>
                                      </p:cBhvr>
                                    </p:animEffect>
                                    <p:anim calcmode="lin" valueType="num">
                                      <p:cBhvr>
                                        <p:cTn id="30" dur="450" fill="hold"/>
                                        <p:tgtEl>
                                          <p:spTgt spid="6"/>
                                        </p:tgtEl>
                                        <p:attrNameLst>
                                          <p:attrName>ppt_w</p:attrName>
                                        </p:attrNameLst>
                                      </p:cBhvr>
                                      <p:tavLst>
                                        <p:tav tm="0">
                                          <p:val>
                                            <p:strVal val="#ppt_w*0.3"/>
                                          </p:val>
                                        </p:tav>
                                        <p:tav tm="100000">
                                          <p:val>
                                            <p:strVal val="#ppt_w"/>
                                          </p:val>
                                        </p:tav>
                                      </p:tavLst>
                                    </p:anim>
                                    <p:anim calcmode="lin" valueType="num">
                                      <p:cBhvr>
                                        <p:cTn id="31" dur="450" fill="hold"/>
                                        <p:tgtEl>
                                          <p:spTgt spid="6"/>
                                        </p:tgtEl>
                                        <p:attrNameLst>
                                          <p:attrName>ppt_h</p:attrName>
                                        </p:attrNameLst>
                                      </p:cBhvr>
                                      <p:tavLst>
                                        <p:tav tm="0">
                                          <p:val>
                                            <p:strVal val="#ppt_h*0.3"/>
                                          </p:val>
                                        </p:tav>
                                        <p:tav tm="100000">
                                          <p:val>
                                            <p:strVal val="#ppt_h"/>
                                          </p:val>
                                        </p:tav>
                                      </p:tavLst>
                                    </p:anim>
                                  </p:childTnLst>
                                </p:cTn>
                              </p:par>
                            </p:childTnLst>
                          </p:cTn>
                        </p:par>
                        <p:par>
                          <p:cTn id="38" fill="hold">
                            <p:stCondLst>
                              <p:cond delay="1295"/>
                            </p:stCondLst>
                            <p:childTnLst>
                              <p:par>
                                <p:cTn id="33" presetID="53" presetClass="entr" presetSubtype="16" fill="hold" grpId="0"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450"/>
                                        <p:tgtEl>
                                          <p:spTgt spid="7"/>
                                        </p:tgtEl>
                                      </p:cBhvr>
                                    </p:animEffect>
                                    <p:anim calcmode="lin" valueType="num">
                                      <p:cBhvr>
                                        <p:cTn id="36" dur="450" fill="hold"/>
                                        <p:tgtEl>
                                          <p:spTgt spid="7"/>
                                        </p:tgtEl>
                                        <p:attrNameLst>
                                          <p:attrName>ppt_w</p:attrName>
                                        </p:attrNameLst>
                                      </p:cBhvr>
                                      <p:tavLst>
                                        <p:tav tm="0">
                                          <p:val>
                                            <p:strVal val="#ppt_w*0.3"/>
                                          </p:val>
                                        </p:tav>
                                        <p:tav tm="100000">
                                          <p:val>
                                            <p:strVal val="#ppt_w"/>
                                          </p:val>
                                        </p:tav>
                                      </p:tavLst>
                                    </p:anim>
                                    <p:anim calcmode="lin" valueType="num">
                                      <p:cBhvr>
                                        <p:cTn id="37" dur="450" fill="hold"/>
                                        <p:tgtEl>
                                          <p:spTgt spid="7"/>
                                        </p:tgtEl>
                                        <p:attrNameLst>
                                          <p:attrName>ppt_h</p:attrName>
                                        </p:attrNameLst>
                                      </p:cBhvr>
                                      <p:tavLst>
                                        <p:tav tm="0">
                                          <p:val>
                                            <p:strVal val="#ppt_h*0.3"/>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FF6FF"/>
        </a:solidFill>
        <a:effectLst/>
      </p:bgPr>
    </p:bg>
    <p:spTree>
      <p:nvGrpSpPr>
        <p:cNvPr id="1" name=""/>
        <p:cNvGrpSpPr/>
        <p:nvPr/>
      </p:nvGrpSpPr>
      <p:grpSpPr/>
      <p:sp>
        <p:nvSpPr>
          <p:cNvPr id="2" name="TextBox 1"/>
          <p:cNvSpPr txBox="1"/>
          <p:nvPr/>
        </p:nvSpPr>
        <p:spPr>
          <a:xfrm>
            <a:off x="812800" y="711200"/>
            <a:ext cx="10566400" cy="228600"/>
          </a:xfrm>
          <a:prstGeom prst="rect">
            <a:avLst/>
          </a:prstGeom>
          <a:noFill/>
        </p:spPr>
        <p:txBody>
          <a:bodyPr wrap="square" anchor="t" lIns="0" rIns="0" tIns="0" bIns="0">
            <a:noAutofit/>
          </a:bodyPr>
          <a:lstStyle/>
          <a:p>
            <a:pPr algn="l">
              <a:lnSpc>
                <a:spcPct val="125000"/>
              </a:lnSpc>
            </a:pPr>
            <a:r>
              <a:rPr sz="1200" b="1" i="0" cap="all" spc="300">
                <a:solidFill>
                  <a:srgbClr val="007AB1"/>
                </a:solidFill>
                <a:latin typeface="Nunito Sans"/>
              </a:rPr>
              <a:t>Het concept</a:t>
            </a:r>
          </a:p>
        </p:txBody>
      </p:sp>
      <p:sp>
        <p:nvSpPr>
          <p:cNvPr id="3" name="TextBox 2"/>
          <p:cNvSpPr txBox="1"/>
          <p:nvPr/>
        </p:nvSpPr>
        <p:spPr>
          <a:xfrm>
            <a:off x="812800" y="990600"/>
            <a:ext cx="10566400" cy="508000"/>
          </a:xfrm>
          <a:prstGeom prst="rect">
            <a:avLst/>
          </a:prstGeom>
          <a:noFill/>
        </p:spPr>
        <p:txBody>
          <a:bodyPr wrap="square" anchor="t" lIns="0" rIns="0" tIns="0" bIns="0">
            <a:noAutofit/>
          </a:bodyPr>
          <a:lstStyle/>
          <a:p>
            <a:pPr algn="l">
              <a:lnSpc>
                <a:spcPct val="105000"/>
              </a:lnSpc>
            </a:pPr>
            <a:r>
              <a:rPr sz="3600" b="1" i="0">
                <a:solidFill>
                  <a:srgbClr val="0D2A50"/>
                </a:solidFill>
                <a:latin typeface="Nunito Sans"/>
              </a:rPr>
              <a:t>Je app opent met 14 dagen weer</a:t>
            </a:r>
          </a:p>
        </p:txBody>
      </p:sp>
      <p:sp>
        <p:nvSpPr>
          <p:cNvPr id="4" name="TextBox 3"/>
          <p:cNvSpPr txBox="1"/>
          <p:nvPr/>
        </p:nvSpPr>
        <p:spPr>
          <a:xfrm>
            <a:off x="812800" y="1600200"/>
            <a:ext cx="10566400" cy="571500"/>
          </a:xfrm>
          <a:prstGeom prst="rect">
            <a:avLst/>
          </a:prstGeom>
          <a:noFill/>
        </p:spPr>
        <p:txBody>
          <a:bodyPr wrap="square" anchor="t" lIns="0" rIns="0" tIns="0" bIns="0">
            <a:noAutofit/>
          </a:bodyPr>
          <a:lstStyle/>
          <a:p>
            <a:pPr algn="l">
              <a:lnSpc>
                <a:spcPct val="125000"/>
              </a:lnSpc>
            </a:pPr>
            <a:r>
              <a:rPr sz="1600" b="0" i="0">
                <a:solidFill>
                  <a:srgbClr val="45658F"/>
                </a:solidFill>
                <a:latin typeface="Nunito Sans"/>
              </a:rPr>
              <a:t>Elke dag krijgt een weertype, berekend uit vaste lasten, gewoontes, inkomsten en herkende levensmomenten.</a:t>
            </a:r>
          </a:p>
        </p:txBody>
      </p:sp>
      <p:sp>
        <p:nvSpPr>
          <p:cNvPr id="5" name="Rounded Rectangle 4"/>
          <p:cNvSpPr/>
          <p:nvPr/>
        </p:nvSpPr>
        <p:spPr>
          <a:xfrm>
            <a:off x="812800" y="2324100"/>
            <a:ext cx="1422400" cy="1587500"/>
          </a:xfrm>
          <a:prstGeom prst="roundRect">
            <a:avLst>
              <a:gd name="adj" fmla="val 7142"/>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2413000"/>
            <a:ext cx="1422400" cy="228600"/>
          </a:xfrm>
          <a:prstGeom prst="rect">
            <a:avLst/>
          </a:prstGeom>
          <a:noFill/>
        </p:spPr>
        <p:txBody>
          <a:bodyPr wrap="square" anchor="t" lIns="0" rIns="0" tIns="0" bIns="0">
            <a:noAutofit/>
          </a:bodyPr>
          <a:lstStyle/>
          <a:p>
            <a:pPr algn="ctr">
              <a:lnSpc>
                <a:spcPct val="125000"/>
              </a:lnSpc>
            </a:pPr>
            <a:r>
              <a:rPr sz="1200" b="1" i="0">
                <a:solidFill>
                  <a:srgbClr val="45658F"/>
                </a:solidFill>
                <a:latin typeface="Nunito Sans"/>
              </a:rPr>
              <a:t>do 1</a:t>
            </a:r>
          </a:p>
        </p:txBody>
      </p:sp>
      <p:pic>
        <p:nvPicPr>
          <p:cNvPr id="7" name="Picture 6" descr="zon_w.gif"/>
          <p:cNvPicPr>
            <a:picLocks noChangeAspect="1"/>
          </p:cNvPicPr>
          <p:nvPr/>
        </p:nvPicPr>
        <p:blipFill>
          <a:blip r:embed="rId3"/>
          <a:stretch>
            <a:fillRect/>
          </a:stretch>
        </p:blipFill>
        <p:spPr>
          <a:xfrm>
            <a:off x="1074390" y="2679700"/>
            <a:ext cx="899218" cy="889000"/>
          </a:xfrm>
          <a:prstGeom prst="rect">
            <a:avLst/>
          </a:prstGeom>
        </p:spPr>
      </p:pic>
      <p:sp>
        <p:nvSpPr>
          <p:cNvPr id="8" name="TextBox 7"/>
          <p:cNvSpPr txBox="1"/>
          <p:nvPr/>
        </p:nvSpPr>
        <p:spPr>
          <a:xfrm>
            <a:off x="812800" y="3594100"/>
            <a:ext cx="1422400" cy="228600"/>
          </a:xfrm>
          <a:prstGeom prst="rect">
            <a:avLst/>
          </a:prstGeom>
          <a:noFill/>
        </p:spPr>
        <p:txBody>
          <a:bodyPr wrap="square" anchor="t" lIns="0" rIns="0" tIns="0" bIns="0">
            <a:noAutofit/>
          </a:bodyPr>
          <a:lstStyle/>
          <a:p>
            <a:pPr algn="ctr">
              <a:lnSpc>
                <a:spcPct val="125000"/>
              </a:lnSpc>
            </a:pPr>
            <a:r>
              <a:rPr sz="1200" b="0" i="0">
                <a:solidFill>
                  <a:srgbClr val="0D2A50"/>
                </a:solidFill>
                <a:latin typeface="Nunito Sans"/>
              </a:rPr>
              <a:t>Zon</a:t>
            </a:r>
          </a:p>
        </p:txBody>
      </p:sp>
      <p:sp>
        <p:nvSpPr>
          <p:cNvPr id="9" name="Rounded Rectangle 8"/>
          <p:cNvSpPr/>
          <p:nvPr/>
        </p:nvSpPr>
        <p:spPr>
          <a:xfrm>
            <a:off x="2336800" y="2324100"/>
            <a:ext cx="1422400" cy="1587500"/>
          </a:xfrm>
          <a:prstGeom prst="roundRect">
            <a:avLst>
              <a:gd name="adj" fmla="val 7142"/>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36800" y="2413000"/>
            <a:ext cx="1422400" cy="228600"/>
          </a:xfrm>
          <a:prstGeom prst="rect">
            <a:avLst/>
          </a:prstGeom>
          <a:noFill/>
        </p:spPr>
        <p:txBody>
          <a:bodyPr wrap="square" anchor="t" lIns="0" rIns="0" tIns="0" bIns="0">
            <a:noAutofit/>
          </a:bodyPr>
          <a:lstStyle/>
          <a:p>
            <a:pPr algn="ctr">
              <a:lnSpc>
                <a:spcPct val="125000"/>
              </a:lnSpc>
            </a:pPr>
            <a:r>
              <a:rPr sz="1200" b="1" i="0">
                <a:solidFill>
                  <a:srgbClr val="45658F"/>
                </a:solidFill>
                <a:latin typeface="Nunito Sans"/>
              </a:rPr>
              <a:t>vr 2</a:t>
            </a:r>
          </a:p>
        </p:txBody>
      </p:sp>
      <p:pic>
        <p:nvPicPr>
          <p:cNvPr id="11" name="Picture 10" descr="donder_w.gif"/>
          <p:cNvPicPr>
            <a:picLocks noChangeAspect="1"/>
          </p:cNvPicPr>
          <p:nvPr/>
        </p:nvPicPr>
        <p:blipFill>
          <a:blip r:embed="rId4"/>
          <a:stretch>
            <a:fillRect/>
          </a:stretch>
        </p:blipFill>
        <p:spPr>
          <a:xfrm>
            <a:off x="2603500" y="2679700"/>
            <a:ext cx="889000" cy="889000"/>
          </a:xfrm>
          <a:prstGeom prst="rect">
            <a:avLst/>
          </a:prstGeom>
        </p:spPr>
      </p:pic>
      <p:sp>
        <p:nvSpPr>
          <p:cNvPr id="12" name="TextBox 11"/>
          <p:cNvSpPr txBox="1"/>
          <p:nvPr/>
        </p:nvSpPr>
        <p:spPr>
          <a:xfrm>
            <a:off x="2336800" y="3594100"/>
            <a:ext cx="1422400" cy="228600"/>
          </a:xfrm>
          <a:prstGeom prst="rect">
            <a:avLst/>
          </a:prstGeom>
          <a:noFill/>
        </p:spPr>
        <p:txBody>
          <a:bodyPr wrap="square" anchor="t" lIns="0" rIns="0" tIns="0" bIns="0">
            <a:noAutofit/>
          </a:bodyPr>
          <a:lstStyle/>
          <a:p>
            <a:pPr algn="ctr">
              <a:lnSpc>
                <a:spcPct val="125000"/>
              </a:lnSpc>
            </a:pPr>
            <a:r>
              <a:rPr sz="1200" b="0" i="0">
                <a:solidFill>
                  <a:srgbClr val="0D2A50"/>
                </a:solidFill>
                <a:latin typeface="Nunito Sans"/>
              </a:rPr>
              <a:t>Donder</a:t>
            </a:r>
          </a:p>
        </p:txBody>
      </p:sp>
      <p:sp>
        <p:nvSpPr>
          <p:cNvPr id="13" name="Rounded Rectangle 12"/>
          <p:cNvSpPr/>
          <p:nvPr/>
        </p:nvSpPr>
        <p:spPr>
          <a:xfrm>
            <a:off x="3860800" y="2324100"/>
            <a:ext cx="1422400" cy="1587500"/>
          </a:xfrm>
          <a:prstGeom prst="roundRect">
            <a:avLst>
              <a:gd name="adj" fmla="val 7142"/>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60800" y="2413000"/>
            <a:ext cx="1422400" cy="228600"/>
          </a:xfrm>
          <a:prstGeom prst="rect">
            <a:avLst/>
          </a:prstGeom>
          <a:noFill/>
        </p:spPr>
        <p:txBody>
          <a:bodyPr wrap="square" anchor="t" lIns="0" rIns="0" tIns="0" bIns="0">
            <a:noAutofit/>
          </a:bodyPr>
          <a:lstStyle/>
          <a:p>
            <a:pPr algn="ctr">
              <a:lnSpc>
                <a:spcPct val="125000"/>
              </a:lnSpc>
            </a:pPr>
            <a:r>
              <a:rPr sz="1200" b="1" i="0">
                <a:solidFill>
                  <a:srgbClr val="45658F"/>
                </a:solidFill>
                <a:latin typeface="Nunito Sans"/>
              </a:rPr>
              <a:t>za 3</a:t>
            </a:r>
          </a:p>
        </p:txBody>
      </p:sp>
      <p:pic>
        <p:nvPicPr>
          <p:cNvPr id="15" name="Picture 14" descr="bewolkt_w.gif"/>
          <p:cNvPicPr>
            <a:picLocks noChangeAspect="1"/>
          </p:cNvPicPr>
          <p:nvPr/>
        </p:nvPicPr>
        <p:blipFill>
          <a:blip r:embed="rId5"/>
          <a:stretch>
            <a:fillRect/>
          </a:stretch>
        </p:blipFill>
        <p:spPr>
          <a:xfrm>
            <a:off x="4000500" y="2698750"/>
            <a:ext cx="1143000" cy="850900"/>
          </a:xfrm>
          <a:prstGeom prst="rect">
            <a:avLst/>
          </a:prstGeom>
        </p:spPr>
      </p:pic>
      <p:sp>
        <p:nvSpPr>
          <p:cNvPr id="16" name="TextBox 15"/>
          <p:cNvSpPr txBox="1"/>
          <p:nvPr/>
        </p:nvSpPr>
        <p:spPr>
          <a:xfrm>
            <a:off x="3860800" y="3594100"/>
            <a:ext cx="1422400" cy="228600"/>
          </a:xfrm>
          <a:prstGeom prst="rect">
            <a:avLst/>
          </a:prstGeom>
          <a:noFill/>
        </p:spPr>
        <p:txBody>
          <a:bodyPr wrap="square" anchor="t" lIns="0" rIns="0" tIns="0" bIns="0">
            <a:noAutofit/>
          </a:bodyPr>
          <a:lstStyle/>
          <a:p>
            <a:pPr algn="ctr">
              <a:lnSpc>
                <a:spcPct val="125000"/>
              </a:lnSpc>
            </a:pPr>
            <a:r>
              <a:rPr sz="1200" b="0" i="0">
                <a:solidFill>
                  <a:srgbClr val="0D2A50"/>
                </a:solidFill>
                <a:latin typeface="Nunito Sans"/>
              </a:rPr>
              <a:t>Bewolkt</a:t>
            </a:r>
          </a:p>
        </p:txBody>
      </p:sp>
      <p:sp>
        <p:nvSpPr>
          <p:cNvPr id="17" name="Rounded Rectangle 16"/>
          <p:cNvSpPr/>
          <p:nvPr/>
        </p:nvSpPr>
        <p:spPr>
          <a:xfrm>
            <a:off x="5384800" y="2324100"/>
            <a:ext cx="1422400" cy="1587500"/>
          </a:xfrm>
          <a:prstGeom prst="roundRect">
            <a:avLst>
              <a:gd name="adj" fmla="val 7142"/>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84800" y="2413000"/>
            <a:ext cx="1422400" cy="228600"/>
          </a:xfrm>
          <a:prstGeom prst="rect">
            <a:avLst/>
          </a:prstGeom>
          <a:noFill/>
        </p:spPr>
        <p:txBody>
          <a:bodyPr wrap="square" anchor="t" lIns="0" rIns="0" tIns="0" bIns="0">
            <a:noAutofit/>
          </a:bodyPr>
          <a:lstStyle/>
          <a:p>
            <a:pPr algn="ctr">
              <a:lnSpc>
                <a:spcPct val="125000"/>
              </a:lnSpc>
            </a:pPr>
            <a:r>
              <a:rPr sz="1200" b="1" i="0">
                <a:solidFill>
                  <a:srgbClr val="45658F"/>
                </a:solidFill>
                <a:latin typeface="Nunito Sans"/>
              </a:rPr>
              <a:t>zo 4</a:t>
            </a:r>
          </a:p>
        </p:txBody>
      </p:sp>
      <p:pic>
        <p:nvPicPr>
          <p:cNvPr id="19" name="Picture 18" descr="zon_w.gif"/>
          <p:cNvPicPr>
            <a:picLocks noChangeAspect="1"/>
          </p:cNvPicPr>
          <p:nvPr/>
        </p:nvPicPr>
        <p:blipFill>
          <a:blip r:embed="rId3"/>
          <a:stretch>
            <a:fillRect/>
          </a:stretch>
        </p:blipFill>
        <p:spPr>
          <a:xfrm>
            <a:off x="5646390" y="2679700"/>
            <a:ext cx="899218" cy="889000"/>
          </a:xfrm>
          <a:prstGeom prst="rect">
            <a:avLst/>
          </a:prstGeom>
        </p:spPr>
      </p:pic>
      <p:sp>
        <p:nvSpPr>
          <p:cNvPr id="20" name="TextBox 19"/>
          <p:cNvSpPr txBox="1"/>
          <p:nvPr/>
        </p:nvSpPr>
        <p:spPr>
          <a:xfrm>
            <a:off x="5384800" y="3594100"/>
            <a:ext cx="1422400" cy="228600"/>
          </a:xfrm>
          <a:prstGeom prst="rect">
            <a:avLst/>
          </a:prstGeom>
          <a:noFill/>
        </p:spPr>
        <p:txBody>
          <a:bodyPr wrap="square" anchor="t" lIns="0" rIns="0" tIns="0" bIns="0">
            <a:noAutofit/>
          </a:bodyPr>
          <a:lstStyle/>
          <a:p>
            <a:pPr algn="ctr">
              <a:lnSpc>
                <a:spcPct val="125000"/>
              </a:lnSpc>
            </a:pPr>
            <a:r>
              <a:rPr sz="1200" b="0" i="0">
                <a:solidFill>
                  <a:srgbClr val="0D2A50"/>
                </a:solidFill>
                <a:latin typeface="Nunito Sans"/>
              </a:rPr>
              <a:t>Zon</a:t>
            </a:r>
          </a:p>
        </p:txBody>
      </p:sp>
      <p:sp>
        <p:nvSpPr>
          <p:cNvPr id="21" name="Rounded Rectangle 20"/>
          <p:cNvSpPr/>
          <p:nvPr/>
        </p:nvSpPr>
        <p:spPr>
          <a:xfrm>
            <a:off x="6908800" y="2324100"/>
            <a:ext cx="1422400" cy="1587500"/>
          </a:xfrm>
          <a:prstGeom prst="roundRect">
            <a:avLst>
              <a:gd name="adj" fmla="val 7142"/>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08800" y="2413000"/>
            <a:ext cx="1422400" cy="228600"/>
          </a:xfrm>
          <a:prstGeom prst="rect">
            <a:avLst/>
          </a:prstGeom>
          <a:noFill/>
        </p:spPr>
        <p:txBody>
          <a:bodyPr wrap="square" anchor="t" lIns="0" rIns="0" tIns="0" bIns="0">
            <a:noAutofit/>
          </a:bodyPr>
          <a:lstStyle/>
          <a:p>
            <a:pPr algn="ctr">
              <a:lnSpc>
                <a:spcPct val="125000"/>
              </a:lnSpc>
            </a:pPr>
            <a:r>
              <a:rPr sz="1200" b="1" i="0">
                <a:solidFill>
                  <a:srgbClr val="45658F"/>
                </a:solidFill>
                <a:latin typeface="Nunito Sans"/>
              </a:rPr>
              <a:t>ma 5</a:t>
            </a:r>
          </a:p>
        </p:txBody>
      </p:sp>
      <p:pic>
        <p:nvPicPr>
          <p:cNvPr id="23" name="Picture 22" descr="regen_w.gif"/>
          <p:cNvPicPr>
            <a:picLocks noChangeAspect="1"/>
          </p:cNvPicPr>
          <p:nvPr/>
        </p:nvPicPr>
        <p:blipFill>
          <a:blip r:embed="rId6"/>
          <a:stretch>
            <a:fillRect/>
          </a:stretch>
        </p:blipFill>
        <p:spPr>
          <a:xfrm>
            <a:off x="7222079" y="2679700"/>
            <a:ext cx="795841" cy="889000"/>
          </a:xfrm>
          <a:prstGeom prst="rect">
            <a:avLst/>
          </a:prstGeom>
        </p:spPr>
      </p:pic>
      <p:sp>
        <p:nvSpPr>
          <p:cNvPr id="24" name="TextBox 23"/>
          <p:cNvSpPr txBox="1"/>
          <p:nvPr/>
        </p:nvSpPr>
        <p:spPr>
          <a:xfrm>
            <a:off x="6908800" y="3594100"/>
            <a:ext cx="1422400" cy="228600"/>
          </a:xfrm>
          <a:prstGeom prst="rect">
            <a:avLst/>
          </a:prstGeom>
          <a:noFill/>
        </p:spPr>
        <p:txBody>
          <a:bodyPr wrap="square" anchor="t" lIns="0" rIns="0" tIns="0" bIns="0">
            <a:noAutofit/>
          </a:bodyPr>
          <a:lstStyle/>
          <a:p>
            <a:pPr algn="ctr">
              <a:lnSpc>
                <a:spcPct val="125000"/>
              </a:lnSpc>
            </a:pPr>
            <a:r>
              <a:rPr sz="1200" b="0" i="0">
                <a:solidFill>
                  <a:srgbClr val="0D2A50"/>
                </a:solidFill>
                <a:latin typeface="Nunito Sans"/>
              </a:rPr>
              <a:t>Regen</a:t>
            </a:r>
          </a:p>
        </p:txBody>
      </p:sp>
      <p:sp>
        <p:nvSpPr>
          <p:cNvPr id="25" name="Rounded Rectangle 24"/>
          <p:cNvSpPr/>
          <p:nvPr/>
        </p:nvSpPr>
        <p:spPr>
          <a:xfrm>
            <a:off x="8432800" y="2324100"/>
            <a:ext cx="1422400" cy="1587500"/>
          </a:xfrm>
          <a:prstGeom prst="roundRect">
            <a:avLst>
              <a:gd name="adj" fmla="val 7142"/>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32800" y="2413000"/>
            <a:ext cx="1422400" cy="228600"/>
          </a:xfrm>
          <a:prstGeom prst="rect">
            <a:avLst/>
          </a:prstGeom>
          <a:noFill/>
        </p:spPr>
        <p:txBody>
          <a:bodyPr wrap="square" anchor="t" lIns="0" rIns="0" tIns="0" bIns="0">
            <a:noAutofit/>
          </a:bodyPr>
          <a:lstStyle/>
          <a:p>
            <a:pPr algn="ctr">
              <a:lnSpc>
                <a:spcPct val="125000"/>
              </a:lnSpc>
            </a:pPr>
            <a:r>
              <a:rPr sz="1200" b="1" i="0">
                <a:solidFill>
                  <a:srgbClr val="45658F"/>
                </a:solidFill>
                <a:latin typeface="Nunito Sans"/>
              </a:rPr>
              <a:t>di 6</a:t>
            </a:r>
          </a:p>
        </p:txBody>
      </p:sp>
      <p:pic>
        <p:nvPicPr>
          <p:cNvPr id="27" name="Picture 26" descr="bewolkt_w.gif"/>
          <p:cNvPicPr>
            <a:picLocks noChangeAspect="1"/>
          </p:cNvPicPr>
          <p:nvPr/>
        </p:nvPicPr>
        <p:blipFill>
          <a:blip r:embed="rId5"/>
          <a:stretch>
            <a:fillRect/>
          </a:stretch>
        </p:blipFill>
        <p:spPr>
          <a:xfrm>
            <a:off x="8572500" y="2698750"/>
            <a:ext cx="1143000" cy="850900"/>
          </a:xfrm>
          <a:prstGeom prst="rect">
            <a:avLst/>
          </a:prstGeom>
        </p:spPr>
      </p:pic>
      <p:sp>
        <p:nvSpPr>
          <p:cNvPr id="28" name="TextBox 27"/>
          <p:cNvSpPr txBox="1"/>
          <p:nvPr/>
        </p:nvSpPr>
        <p:spPr>
          <a:xfrm>
            <a:off x="8432800" y="3594100"/>
            <a:ext cx="1422400" cy="228600"/>
          </a:xfrm>
          <a:prstGeom prst="rect">
            <a:avLst/>
          </a:prstGeom>
          <a:noFill/>
        </p:spPr>
        <p:txBody>
          <a:bodyPr wrap="square" anchor="t" lIns="0" rIns="0" tIns="0" bIns="0">
            <a:noAutofit/>
          </a:bodyPr>
          <a:lstStyle/>
          <a:p>
            <a:pPr algn="ctr">
              <a:lnSpc>
                <a:spcPct val="125000"/>
              </a:lnSpc>
            </a:pPr>
            <a:r>
              <a:rPr sz="1200" b="0" i="0">
                <a:solidFill>
                  <a:srgbClr val="0D2A50"/>
                </a:solidFill>
                <a:latin typeface="Nunito Sans"/>
              </a:rPr>
              <a:t>Bewolkt</a:t>
            </a:r>
          </a:p>
        </p:txBody>
      </p:sp>
      <p:sp>
        <p:nvSpPr>
          <p:cNvPr id="29" name="Rounded Rectangle 28"/>
          <p:cNvSpPr/>
          <p:nvPr/>
        </p:nvSpPr>
        <p:spPr>
          <a:xfrm>
            <a:off x="9956800" y="2324100"/>
            <a:ext cx="1422400" cy="1587500"/>
          </a:xfrm>
          <a:prstGeom prst="roundRect">
            <a:avLst>
              <a:gd name="adj" fmla="val 7142"/>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956800" y="2413000"/>
            <a:ext cx="1422400" cy="228600"/>
          </a:xfrm>
          <a:prstGeom prst="rect">
            <a:avLst/>
          </a:prstGeom>
          <a:noFill/>
        </p:spPr>
        <p:txBody>
          <a:bodyPr wrap="square" anchor="t" lIns="0" rIns="0" tIns="0" bIns="0">
            <a:noAutofit/>
          </a:bodyPr>
          <a:lstStyle/>
          <a:p>
            <a:pPr algn="ctr">
              <a:lnSpc>
                <a:spcPct val="125000"/>
              </a:lnSpc>
            </a:pPr>
            <a:r>
              <a:rPr sz="1200" b="1" i="0">
                <a:solidFill>
                  <a:srgbClr val="45658F"/>
                </a:solidFill>
                <a:latin typeface="Nunito Sans"/>
              </a:rPr>
              <a:t>wo 7</a:t>
            </a:r>
          </a:p>
        </p:txBody>
      </p:sp>
      <p:pic>
        <p:nvPicPr>
          <p:cNvPr id="31" name="Picture 30" descr="bewolkt_w.gif"/>
          <p:cNvPicPr>
            <a:picLocks noChangeAspect="1"/>
          </p:cNvPicPr>
          <p:nvPr/>
        </p:nvPicPr>
        <p:blipFill>
          <a:blip r:embed="rId5"/>
          <a:stretch>
            <a:fillRect/>
          </a:stretch>
        </p:blipFill>
        <p:spPr>
          <a:xfrm>
            <a:off x="10096500" y="2698750"/>
            <a:ext cx="1143000" cy="850900"/>
          </a:xfrm>
          <a:prstGeom prst="rect">
            <a:avLst/>
          </a:prstGeom>
        </p:spPr>
      </p:pic>
      <p:sp>
        <p:nvSpPr>
          <p:cNvPr id="32" name="TextBox 31"/>
          <p:cNvSpPr txBox="1"/>
          <p:nvPr/>
        </p:nvSpPr>
        <p:spPr>
          <a:xfrm>
            <a:off x="9956800" y="3594100"/>
            <a:ext cx="1422400" cy="228600"/>
          </a:xfrm>
          <a:prstGeom prst="rect">
            <a:avLst/>
          </a:prstGeom>
          <a:noFill/>
        </p:spPr>
        <p:txBody>
          <a:bodyPr wrap="square" anchor="t" lIns="0" rIns="0" tIns="0" bIns="0">
            <a:noAutofit/>
          </a:bodyPr>
          <a:lstStyle/>
          <a:p>
            <a:pPr algn="ctr">
              <a:lnSpc>
                <a:spcPct val="125000"/>
              </a:lnSpc>
            </a:pPr>
            <a:r>
              <a:rPr sz="1200" b="0" i="0">
                <a:solidFill>
                  <a:srgbClr val="0D2A50"/>
                </a:solidFill>
                <a:latin typeface="Nunito Sans"/>
              </a:rPr>
              <a:t>Bewolkt</a:t>
            </a:r>
          </a:p>
        </p:txBody>
      </p:sp>
      <p:sp>
        <p:nvSpPr>
          <p:cNvPr id="33" name="Rounded Rectangle 32"/>
          <p:cNvSpPr/>
          <p:nvPr/>
        </p:nvSpPr>
        <p:spPr>
          <a:xfrm>
            <a:off x="812800" y="4013200"/>
            <a:ext cx="1422400" cy="1587500"/>
          </a:xfrm>
          <a:prstGeom prst="roundRect">
            <a:avLst>
              <a:gd name="adj" fmla="val 7142"/>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2800" y="4102100"/>
            <a:ext cx="1422400" cy="228600"/>
          </a:xfrm>
          <a:prstGeom prst="rect">
            <a:avLst/>
          </a:prstGeom>
          <a:noFill/>
        </p:spPr>
        <p:txBody>
          <a:bodyPr wrap="square" anchor="t" lIns="0" rIns="0" tIns="0" bIns="0">
            <a:noAutofit/>
          </a:bodyPr>
          <a:lstStyle/>
          <a:p>
            <a:pPr algn="ctr">
              <a:lnSpc>
                <a:spcPct val="125000"/>
              </a:lnSpc>
            </a:pPr>
            <a:r>
              <a:rPr sz="1200" b="1" i="0">
                <a:solidFill>
                  <a:srgbClr val="45658F"/>
                </a:solidFill>
                <a:latin typeface="Nunito Sans"/>
              </a:rPr>
              <a:t>do 8</a:t>
            </a:r>
          </a:p>
        </p:txBody>
      </p:sp>
      <p:pic>
        <p:nvPicPr>
          <p:cNvPr id="35" name="Picture 34" descr="zon_w.gif"/>
          <p:cNvPicPr>
            <a:picLocks noChangeAspect="1"/>
          </p:cNvPicPr>
          <p:nvPr/>
        </p:nvPicPr>
        <p:blipFill>
          <a:blip r:embed="rId3"/>
          <a:stretch>
            <a:fillRect/>
          </a:stretch>
        </p:blipFill>
        <p:spPr>
          <a:xfrm>
            <a:off x="1074390" y="4368800"/>
            <a:ext cx="899218" cy="889000"/>
          </a:xfrm>
          <a:prstGeom prst="rect">
            <a:avLst/>
          </a:prstGeom>
        </p:spPr>
      </p:pic>
      <p:sp>
        <p:nvSpPr>
          <p:cNvPr id="36" name="TextBox 35"/>
          <p:cNvSpPr txBox="1"/>
          <p:nvPr/>
        </p:nvSpPr>
        <p:spPr>
          <a:xfrm>
            <a:off x="812800" y="5283200"/>
            <a:ext cx="1422400" cy="228600"/>
          </a:xfrm>
          <a:prstGeom prst="rect">
            <a:avLst/>
          </a:prstGeom>
          <a:noFill/>
        </p:spPr>
        <p:txBody>
          <a:bodyPr wrap="square" anchor="t" lIns="0" rIns="0" tIns="0" bIns="0">
            <a:noAutofit/>
          </a:bodyPr>
          <a:lstStyle/>
          <a:p>
            <a:pPr algn="ctr">
              <a:lnSpc>
                <a:spcPct val="125000"/>
              </a:lnSpc>
            </a:pPr>
            <a:r>
              <a:rPr sz="1200" b="0" i="0">
                <a:solidFill>
                  <a:srgbClr val="0D2A50"/>
                </a:solidFill>
                <a:latin typeface="Nunito Sans"/>
              </a:rPr>
              <a:t>Zon</a:t>
            </a:r>
          </a:p>
        </p:txBody>
      </p:sp>
      <p:sp>
        <p:nvSpPr>
          <p:cNvPr id="37" name="Rounded Rectangle 36"/>
          <p:cNvSpPr/>
          <p:nvPr/>
        </p:nvSpPr>
        <p:spPr>
          <a:xfrm>
            <a:off x="2336800" y="4013200"/>
            <a:ext cx="1422400" cy="1587500"/>
          </a:xfrm>
          <a:prstGeom prst="roundRect">
            <a:avLst>
              <a:gd name="adj" fmla="val 7142"/>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336800" y="4102100"/>
            <a:ext cx="1422400" cy="228600"/>
          </a:xfrm>
          <a:prstGeom prst="rect">
            <a:avLst/>
          </a:prstGeom>
          <a:noFill/>
        </p:spPr>
        <p:txBody>
          <a:bodyPr wrap="square" anchor="t" lIns="0" rIns="0" tIns="0" bIns="0">
            <a:noAutofit/>
          </a:bodyPr>
          <a:lstStyle/>
          <a:p>
            <a:pPr algn="ctr">
              <a:lnSpc>
                <a:spcPct val="125000"/>
              </a:lnSpc>
            </a:pPr>
            <a:r>
              <a:rPr sz="1200" b="1" i="0">
                <a:solidFill>
                  <a:srgbClr val="45658F"/>
                </a:solidFill>
                <a:latin typeface="Nunito Sans"/>
              </a:rPr>
              <a:t>vr 9</a:t>
            </a:r>
          </a:p>
        </p:txBody>
      </p:sp>
      <p:pic>
        <p:nvPicPr>
          <p:cNvPr id="39" name="Picture 38" descr="donder_w.gif"/>
          <p:cNvPicPr>
            <a:picLocks noChangeAspect="1"/>
          </p:cNvPicPr>
          <p:nvPr/>
        </p:nvPicPr>
        <p:blipFill>
          <a:blip r:embed="rId4"/>
          <a:stretch>
            <a:fillRect/>
          </a:stretch>
        </p:blipFill>
        <p:spPr>
          <a:xfrm>
            <a:off x="2603500" y="4368800"/>
            <a:ext cx="889000" cy="889000"/>
          </a:xfrm>
          <a:prstGeom prst="rect">
            <a:avLst/>
          </a:prstGeom>
        </p:spPr>
      </p:pic>
      <p:sp>
        <p:nvSpPr>
          <p:cNvPr id="40" name="TextBox 39"/>
          <p:cNvSpPr txBox="1"/>
          <p:nvPr/>
        </p:nvSpPr>
        <p:spPr>
          <a:xfrm>
            <a:off x="2336800" y="5283200"/>
            <a:ext cx="1422400" cy="228600"/>
          </a:xfrm>
          <a:prstGeom prst="rect">
            <a:avLst/>
          </a:prstGeom>
          <a:noFill/>
        </p:spPr>
        <p:txBody>
          <a:bodyPr wrap="square" anchor="t" lIns="0" rIns="0" tIns="0" bIns="0">
            <a:noAutofit/>
          </a:bodyPr>
          <a:lstStyle/>
          <a:p>
            <a:pPr algn="ctr">
              <a:lnSpc>
                <a:spcPct val="125000"/>
              </a:lnSpc>
            </a:pPr>
            <a:r>
              <a:rPr sz="1200" b="0" i="0">
                <a:solidFill>
                  <a:srgbClr val="0D2A50"/>
                </a:solidFill>
                <a:latin typeface="Nunito Sans"/>
              </a:rPr>
              <a:t>Donder</a:t>
            </a:r>
          </a:p>
        </p:txBody>
      </p:sp>
      <p:sp>
        <p:nvSpPr>
          <p:cNvPr id="41" name="Rounded Rectangle 40"/>
          <p:cNvSpPr/>
          <p:nvPr/>
        </p:nvSpPr>
        <p:spPr>
          <a:xfrm>
            <a:off x="3860800" y="4013200"/>
            <a:ext cx="1422400" cy="1587500"/>
          </a:xfrm>
          <a:prstGeom prst="roundRect">
            <a:avLst>
              <a:gd name="adj" fmla="val 7142"/>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860800" y="4102100"/>
            <a:ext cx="1422400" cy="228600"/>
          </a:xfrm>
          <a:prstGeom prst="rect">
            <a:avLst/>
          </a:prstGeom>
          <a:noFill/>
        </p:spPr>
        <p:txBody>
          <a:bodyPr wrap="square" anchor="t" lIns="0" rIns="0" tIns="0" bIns="0">
            <a:noAutofit/>
          </a:bodyPr>
          <a:lstStyle/>
          <a:p>
            <a:pPr algn="ctr">
              <a:lnSpc>
                <a:spcPct val="125000"/>
              </a:lnSpc>
            </a:pPr>
            <a:r>
              <a:rPr sz="1200" b="1" i="0">
                <a:solidFill>
                  <a:srgbClr val="45658F"/>
                </a:solidFill>
                <a:latin typeface="Nunito Sans"/>
              </a:rPr>
              <a:t>za 10</a:t>
            </a:r>
          </a:p>
        </p:txBody>
      </p:sp>
      <p:pic>
        <p:nvPicPr>
          <p:cNvPr id="43" name="Picture 42" descr="bewolkt_w.gif"/>
          <p:cNvPicPr>
            <a:picLocks noChangeAspect="1"/>
          </p:cNvPicPr>
          <p:nvPr/>
        </p:nvPicPr>
        <p:blipFill>
          <a:blip r:embed="rId5"/>
          <a:stretch>
            <a:fillRect/>
          </a:stretch>
        </p:blipFill>
        <p:spPr>
          <a:xfrm>
            <a:off x="4000500" y="4387850"/>
            <a:ext cx="1143000" cy="850900"/>
          </a:xfrm>
          <a:prstGeom prst="rect">
            <a:avLst/>
          </a:prstGeom>
        </p:spPr>
      </p:pic>
      <p:sp>
        <p:nvSpPr>
          <p:cNvPr id="44" name="TextBox 43"/>
          <p:cNvSpPr txBox="1"/>
          <p:nvPr/>
        </p:nvSpPr>
        <p:spPr>
          <a:xfrm>
            <a:off x="3860800" y="5283200"/>
            <a:ext cx="1422400" cy="228600"/>
          </a:xfrm>
          <a:prstGeom prst="rect">
            <a:avLst/>
          </a:prstGeom>
          <a:noFill/>
        </p:spPr>
        <p:txBody>
          <a:bodyPr wrap="square" anchor="t" lIns="0" rIns="0" tIns="0" bIns="0">
            <a:noAutofit/>
          </a:bodyPr>
          <a:lstStyle/>
          <a:p>
            <a:pPr algn="ctr">
              <a:lnSpc>
                <a:spcPct val="125000"/>
              </a:lnSpc>
            </a:pPr>
            <a:r>
              <a:rPr sz="1200" b="0" i="0">
                <a:solidFill>
                  <a:srgbClr val="0D2A50"/>
                </a:solidFill>
                <a:latin typeface="Nunito Sans"/>
              </a:rPr>
              <a:t>Bewolkt</a:t>
            </a:r>
          </a:p>
        </p:txBody>
      </p:sp>
      <p:sp>
        <p:nvSpPr>
          <p:cNvPr id="45" name="Rounded Rectangle 44"/>
          <p:cNvSpPr/>
          <p:nvPr/>
        </p:nvSpPr>
        <p:spPr>
          <a:xfrm>
            <a:off x="5384800" y="4013200"/>
            <a:ext cx="1422400" cy="1587500"/>
          </a:xfrm>
          <a:prstGeom prst="roundRect">
            <a:avLst>
              <a:gd name="adj" fmla="val 7142"/>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384800" y="4102100"/>
            <a:ext cx="1422400" cy="228600"/>
          </a:xfrm>
          <a:prstGeom prst="rect">
            <a:avLst/>
          </a:prstGeom>
          <a:noFill/>
        </p:spPr>
        <p:txBody>
          <a:bodyPr wrap="square" anchor="t" lIns="0" rIns="0" tIns="0" bIns="0">
            <a:noAutofit/>
          </a:bodyPr>
          <a:lstStyle/>
          <a:p>
            <a:pPr algn="ctr">
              <a:lnSpc>
                <a:spcPct val="125000"/>
              </a:lnSpc>
            </a:pPr>
            <a:r>
              <a:rPr sz="1200" b="1" i="0">
                <a:solidFill>
                  <a:srgbClr val="45658F"/>
                </a:solidFill>
                <a:latin typeface="Nunito Sans"/>
              </a:rPr>
              <a:t>zo 11</a:t>
            </a:r>
          </a:p>
        </p:txBody>
      </p:sp>
      <p:pic>
        <p:nvPicPr>
          <p:cNvPr id="47" name="Picture 46" descr="zon_w.gif"/>
          <p:cNvPicPr>
            <a:picLocks noChangeAspect="1"/>
          </p:cNvPicPr>
          <p:nvPr/>
        </p:nvPicPr>
        <p:blipFill>
          <a:blip r:embed="rId3"/>
          <a:stretch>
            <a:fillRect/>
          </a:stretch>
        </p:blipFill>
        <p:spPr>
          <a:xfrm>
            <a:off x="5646390" y="4368800"/>
            <a:ext cx="899218" cy="889000"/>
          </a:xfrm>
          <a:prstGeom prst="rect">
            <a:avLst/>
          </a:prstGeom>
        </p:spPr>
      </p:pic>
      <p:sp>
        <p:nvSpPr>
          <p:cNvPr id="48" name="TextBox 47"/>
          <p:cNvSpPr txBox="1"/>
          <p:nvPr/>
        </p:nvSpPr>
        <p:spPr>
          <a:xfrm>
            <a:off x="5384800" y="5283200"/>
            <a:ext cx="1422400" cy="228600"/>
          </a:xfrm>
          <a:prstGeom prst="rect">
            <a:avLst/>
          </a:prstGeom>
          <a:noFill/>
        </p:spPr>
        <p:txBody>
          <a:bodyPr wrap="square" anchor="t" lIns="0" rIns="0" tIns="0" bIns="0">
            <a:noAutofit/>
          </a:bodyPr>
          <a:lstStyle/>
          <a:p>
            <a:pPr algn="ctr">
              <a:lnSpc>
                <a:spcPct val="125000"/>
              </a:lnSpc>
            </a:pPr>
            <a:r>
              <a:rPr sz="1200" b="0" i="0">
                <a:solidFill>
                  <a:srgbClr val="0D2A50"/>
                </a:solidFill>
                <a:latin typeface="Nunito Sans"/>
              </a:rPr>
              <a:t>Zon</a:t>
            </a:r>
          </a:p>
        </p:txBody>
      </p:sp>
      <p:sp>
        <p:nvSpPr>
          <p:cNvPr id="49" name="Rounded Rectangle 48"/>
          <p:cNvSpPr/>
          <p:nvPr/>
        </p:nvSpPr>
        <p:spPr>
          <a:xfrm>
            <a:off x="6908800" y="4013200"/>
            <a:ext cx="1422400" cy="1587500"/>
          </a:xfrm>
          <a:prstGeom prst="roundRect">
            <a:avLst>
              <a:gd name="adj" fmla="val 7142"/>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908800" y="4102100"/>
            <a:ext cx="1422400" cy="228600"/>
          </a:xfrm>
          <a:prstGeom prst="rect">
            <a:avLst/>
          </a:prstGeom>
          <a:noFill/>
        </p:spPr>
        <p:txBody>
          <a:bodyPr wrap="square" anchor="t" lIns="0" rIns="0" tIns="0" bIns="0">
            <a:noAutofit/>
          </a:bodyPr>
          <a:lstStyle/>
          <a:p>
            <a:pPr algn="ctr">
              <a:lnSpc>
                <a:spcPct val="125000"/>
              </a:lnSpc>
            </a:pPr>
            <a:r>
              <a:rPr sz="1200" b="1" i="0">
                <a:solidFill>
                  <a:srgbClr val="45658F"/>
                </a:solidFill>
                <a:latin typeface="Nunito Sans"/>
              </a:rPr>
              <a:t>ma 12</a:t>
            </a:r>
          </a:p>
        </p:txBody>
      </p:sp>
      <p:pic>
        <p:nvPicPr>
          <p:cNvPr id="51" name="Picture 50" descr="storm_w.gif"/>
          <p:cNvPicPr>
            <a:picLocks noChangeAspect="1"/>
          </p:cNvPicPr>
          <p:nvPr/>
        </p:nvPicPr>
        <p:blipFill>
          <a:blip r:embed="rId7"/>
          <a:stretch>
            <a:fillRect/>
          </a:stretch>
        </p:blipFill>
        <p:spPr>
          <a:xfrm>
            <a:off x="7234766" y="4368800"/>
            <a:ext cx="770466" cy="889000"/>
          </a:xfrm>
          <a:prstGeom prst="rect">
            <a:avLst/>
          </a:prstGeom>
        </p:spPr>
      </p:pic>
      <p:sp>
        <p:nvSpPr>
          <p:cNvPr id="52" name="TextBox 51"/>
          <p:cNvSpPr txBox="1"/>
          <p:nvPr/>
        </p:nvSpPr>
        <p:spPr>
          <a:xfrm>
            <a:off x="6908800" y="5283200"/>
            <a:ext cx="1422400" cy="228600"/>
          </a:xfrm>
          <a:prstGeom prst="rect">
            <a:avLst/>
          </a:prstGeom>
          <a:noFill/>
        </p:spPr>
        <p:txBody>
          <a:bodyPr wrap="square" anchor="t" lIns="0" rIns="0" tIns="0" bIns="0">
            <a:noAutofit/>
          </a:bodyPr>
          <a:lstStyle/>
          <a:p>
            <a:pPr algn="ctr">
              <a:lnSpc>
                <a:spcPct val="125000"/>
              </a:lnSpc>
            </a:pPr>
            <a:r>
              <a:rPr sz="1200" b="0" i="0">
                <a:solidFill>
                  <a:srgbClr val="0D2A50"/>
                </a:solidFill>
                <a:latin typeface="Nunito Sans"/>
              </a:rPr>
              <a:t>Storm</a:t>
            </a:r>
          </a:p>
        </p:txBody>
      </p:sp>
      <p:sp>
        <p:nvSpPr>
          <p:cNvPr id="53" name="Rounded Rectangle 52"/>
          <p:cNvSpPr/>
          <p:nvPr/>
        </p:nvSpPr>
        <p:spPr>
          <a:xfrm>
            <a:off x="8432800" y="4013200"/>
            <a:ext cx="1422400" cy="1587500"/>
          </a:xfrm>
          <a:prstGeom prst="roundRect">
            <a:avLst>
              <a:gd name="adj" fmla="val 7142"/>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32800" y="4102100"/>
            <a:ext cx="1422400" cy="228600"/>
          </a:xfrm>
          <a:prstGeom prst="rect">
            <a:avLst/>
          </a:prstGeom>
          <a:noFill/>
        </p:spPr>
        <p:txBody>
          <a:bodyPr wrap="square" anchor="t" lIns="0" rIns="0" tIns="0" bIns="0">
            <a:noAutofit/>
          </a:bodyPr>
          <a:lstStyle/>
          <a:p>
            <a:pPr algn="ctr">
              <a:lnSpc>
                <a:spcPct val="125000"/>
              </a:lnSpc>
            </a:pPr>
            <a:r>
              <a:rPr sz="1200" b="1" i="0">
                <a:solidFill>
                  <a:srgbClr val="45658F"/>
                </a:solidFill>
                <a:latin typeface="Nunito Sans"/>
              </a:rPr>
              <a:t>di 13</a:t>
            </a:r>
          </a:p>
        </p:txBody>
      </p:sp>
      <p:pic>
        <p:nvPicPr>
          <p:cNvPr id="55" name="Picture 54" descr="regen_w.gif"/>
          <p:cNvPicPr>
            <a:picLocks noChangeAspect="1"/>
          </p:cNvPicPr>
          <p:nvPr/>
        </p:nvPicPr>
        <p:blipFill>
          <a:blip r:embed="rId6"/>
          <a:stretch>
            <a:fillRect/>
          </a:stretch>
        </p:blipFill>
        <p:spPr>
          <a:xfrm>
            <a:off x="8746079" y="4368800"/>
            <a:ext cx="795841" cy="889000"/>
          </a:xfrm>
          <a:prstGeom prst="rect">
            <a:avLst/>
          </a:prstGeom>
        </p:spPr>
      </p:pic>
      <p:sp>
        <p:nvSpPr>
          <p:cNvPr id="56" name="TextBox 55"/>
          <p:cNvSpPr txBox="1"/>
          <p:nvPr/>
        </p:nvSpPr>
        <p:spPr>
          <a:xfrm>
            <a:off x="8432800" y="5283200"/>
            <a:ext cx="1422400" cy="228600"/>
          </a:xfrm>
          <a:prstGeom prst="rect">
            <a:avLst/>
          </a:prstGeom>
          <a:noFill/>
        </p:spPr>
        <p:txBody>
          <a:bodyPr wrap="square" anchor="t" lIns="0" rIns="0" tIns="0" bIns="0">
            <a:noAutofit/>
          </a:bodyPr>
          <a:lstStyle/>
          <a:p>
            <a:pPr algn="ctr">
              <a:lnSpc>
                <a:spcPct val="125000"/>
              </a:lnSpc>
            </a:pPr>
            <a:r>
              <a:rPr sz="1200" b="0" i="0">
                <a:solidFill>
                  <a:srgbClr val="0D2A50"/>
                </a:solidFill>
                <a:latin typeface="Nunito Sans"/>
              </a:rPr>
              <a:t>Regen</a:t>
            </a:r>
          </a:p>
        </p:txBody>
      </p:sp>
      <p:sp>
        <p:nvSpPr>
          <p:cNvPr id="57" name="Rounded Rectangle 56"/>
          <p:cNvSpPr/>
          <p:nvPr/>
        </p:nvSpPr>
        <p:spPr>
          <a:xfrm>
            <a:off x="9956800" y="4013200"/>
            <a:ext cx="1422400" cy="1587500"/>
          </a:xfrm>
          <a:prstGeom prst="roundRect">
            <a:avLst>
              <a:gd name="adj" fmla="val 7142"/>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956800" y="4102100"/>
            <a:ext cx="1422400" cy="228600"/>
          </a:xfrm>
          <a:prstGeom prst="rect">
            <a:avLst/>
          </a:prstGeom>
          <a:noFill/>
        </p:spPr>
        <p:txBody>
          <a:bodyPr wrap="square" anchor="t" lIns="0" rIns="0" tIns="0" bIns="0">
            <a:noAutofit/>
          </a:bodyPr>
          <a:lstStyle/>
          <a:p>
            <a:pPr algn="ctr">
              <a:lnSpc>
                <a:spcPct val="125000"/>
              </a:lnSpc>
            </a:pPr>
            <a:r>
              <a:rPr sz="1200" b="1" i="0">
                <a:solidFill>
                  <a:srgbClr val="45658F"/>
                </a:solidFill>
                <a:latin typeface="Nunito Sans"/>
              </a:rPr>
              <a:t>wo 14</a:t>
            </a:r>
          </a:p>
        </p:txBody>
      </p:sp>
      <p:pic>
        <p:nvPicPr>
          <p:cNvPr id="59" name="Picture 58" descr="regenboog_w.gif"/>
          <p:cNvPicPr>
            <a:picLocks noChangeAspect="1"/>
          </p:cNvPicPr>
          <p:nvPr/>
        </p:nvPicPr>
        <p:blipFill>
          <a:blip r:embed="rId8"/>
          <a:stretch>
            <a:fillRect/>
          </a:stretch>
        </p:blipFill>
        <p:spPr>
          <a:xfrm>
            <a:off x="10096500" y="4503737"/>
            <a:ext cx="1143000" cy="619125"/>
          </a:xfrm>
          <a:prstGeom prst="rect">
            <a:avLst/>
          </a:prstGeom>
        </p:spPr>
      </p:pic>
      <p:sp>
        <p:nvSpPr>
          <p:cNvPr id="60" name="TextBox 59"/>
          <p:cNvSpPr txBox="1"/>
          <p:nvPr/>
        </p:nvSpPr>
        <p:spPr>
          <a:xfrm>
            <a:off x="9956800" y="5283200"/>
            <a:ext cx="1422400" cy="228600"/>
          </a:xfrm>
          <a:prstGeom prst="rect">
            <a:avLst/>
          </a:prstGeom>
          <a:noFill/>
        </p:spPr>
        <p:txBody>
          <a:bodyPr wrap="square" anchor="t" lIns="0" rIns="0" tIns="0" bIns="0">
            <a:noAutofit/>
          </a:bodyPr>
          <a:lstStyle/>
          <a:p>
            <a:pPr algn="ctr">
              <a:lnSpc>
                <a:spcPct val="125000"/>
              </a:lnSpc>
            </a:pPr>
            <a:r>
              <a:rPr sz="1200" b="0" i="0">
                <a:solidFill>
                  <a:srgbClr val="0D2A50"/>
                </a:solidFill>
                <a:latin typeface="Nunito Sans"/>
              </a:rPr>
              <a:t>Regenboog</a:t>
            </a:r>
          </a:p>
        </p:txBody>
      </p:sp>
      <p:sp>
        <p:nvSpPr>
          <p:cNvPr id="61" name="TextBox 60"/>
          <p:cNvSpPr txBox="1"/>
          <p:nvPr/>
        </p:nvSpPr>
        <p:spPr>
          <a:xfrm>
            <a:off x="812800" y="6350000"/>
            <a:ext cx="8890000" cy="215900"/>
          </a:xfrm>
          <a:prstGeom prst="rect">
            <a:avLst/>
          </a:prstGeom>
          <a:noFill/>
        </p:spPr>
        <p:txBody>
          <a:bodyPr wrap="square" anchor="t" lIns="0" rIns="0" tIns="0" bIns="0">
            <a:noAutofit/>
          </a:bodyPr>
          <a:lstStyle/>
          <a:p>
            <a:pPr algn="l">
              <a:lnSpc>
                <a:spcPct val="125000"/>
              </a:lnSpc>
            </a:pPr>
            <a:r>
              <a:rPr sz="1100" b="0" i="0">
                <a:solidFill>
                  <a:srgbClr val="45658F"/>
                </a:solidFill>
                <a:latin typeface="Nunito Sans"/>
              </a:rPr>
              <a:t>Illustratie: voorspelling voor oktober 2026 · 3D-iconen geanimeerd in Blender</a:t>
            </a:r>
          </a:p>
        </p:txBody>
      </p:sp>
      <p:sp>
        <p:nvSpPr>
          <p:cNvPr id="62" name="TextBox 61"/>
          <p:cNvSpPr txBox="1"/>
          <p:nvPr/>
        </p:nvSpPr>
        <p:spPr>
          <a:xfrm>
            <a:off x="10109200" y="6350000"/>
            <a:ext cx="1270000" cy="215900"/>
          </a:xfrm>
          <a:prstGeom prst="rect">
            <a:avLst/>
          </a:prstGeom>
          <a:noFill/>
        </p:spPr>
        <p:txBody>
          <a:bodyPr wrap="square" anchor="t" lIns="0" rIns="0" tIns="0" bIns="0">
            <a:noAutofit/>
          </a:bodyPr>
          <a:lstStyle/>
          <a:p>
            <a:pPr algn="r">
              <a:lnSpc>
                <a:spcPct val="125000"/>
              </a:lnSpc>
            </a:pPr>
            <a:r>
              <a:rPr sz="1100" b="0" i="0">
                <a:solidFill>
                  <a:srgbClr val="45658F"/>
                </a:solidFill>
                <a:latin typeface="Nunito Sans"/>
              </a:rPr>
              <a:t>5 / 23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4" fill="hold">
                            <p:stCondLst>
                              <p:cond delay="0"/>
                            </p:stCondLst>
                            <p:childTnLst>
                              <p:par>
                                <p:cTn id="4" presetID="42"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ppt_y+.08"/>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p:cTn id="12" dur="500" fill="hold"/>
                                        <p:tgtEl>
                                          <p:spTgt spid="3"/>
                                        </p:tgtEl>
                                        <p:attrNameLst>
                                          <p:attrName>ppt_x</p:attrName>
                                        </p:attrNameLst>
                                      </p:cBhvr>
                                      <p:tavLst>
                                        <p:tav tm="0">
                                          <p:val>
                                            <p:strVal val="#ppt_x"/>
                                          </p:val>
                                        </p:tav>
                                        <p:tav tm="100000">
                                          <p:val>
                                            <p:strVal val="#ppt_x"/>
                                          </p:val>
                                        </p:tav>
                                      </p:tavLst>
                                    </p:anim>
                                    <p:anim calcmode="lin" valueType="num">
                                      <p:cBhvr>
                                        <p:cTn id="13" dur="500" fill="hold"/>
                                        <p:tgtEl>
                                          <p:spTgt spid="3"/>
                                        </p:tgtEl>
                                        <p:attrNameLst>
                                          <p:attrName>ppt_y</p:attrName>
                                        </p:attrNameLst>
                                      </p:cBhvr>
                                      <p:tavLst>
                                        <p:tav tm="0">
                                          <p:val>
                                            <p:strVal val="#ppt_y+.08"/>
                                          </p:val>
                                        </p:tav>
                                        <p:tav tm="100000">
                                          <p:val>
                                            <p:strVal val="#ppt_y"/>
                                          </p:val>
                                        </p:tav>
                                      </p:tavLst>
                                    </p:anim>
                                  </p:childTnLst>
                                </p:cTn>
                              </p:par>
                            </p:childTnLst>
                          </p:cTn>
                        </p:par>
                        <p:par>
                          <p:cTn id="18" fill="hold">
                            <p:stCondLst>
                              <p:cond delay="350"/>
                            </p:stCondLst>
                            <p:childTnLst>
                              <p:par>
                                <p:cTn id="15" presetID="10" presetClass="entr" presetSubtype="0"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400"/>
                                        <p:tgtEl>
                                          <p:spTgt spid="4"/>
                                        </p:tgtEl>
                                      </p:cBhvr>
                                    </p:animEffect>
                                  </p:childTnLst>
                                </p:cTn>
                              </p:par>
                            </p:childTnLst>
                          </p:cTn>
                        </p:par>
                        <p:par>
                          <p:cTn id="39" fill="hold">
                            <p:stCondLst>
                              <p:cond delay="630"/>
                            </p:stCondLst>
                            <p:childTnLst>
                              <p:par>
                                <p:cTn id="19" presetID="53" presetClass="entr" presetSubtype="16"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300"/>
                                        <p:tgtEl>
                                          <p:spTgt spid="5"/>
                                        </p:tgtEl>
                                      </p:cBhvr>
                                    </p:animEffect>
                                    <p:anim calcmode="lin" valueType="num">
                                      <p:cBhvr>
                                        <p:cTn id="22" dur="300" fill="hold"/>
                                        <p:tgtEl>
                                          <p:spTgt spid="5"/>
                                        </p:tgtEl>
                                        <p:attrNameLst>
                                          <p:attrName>ppt_w</p:attrName>
                                        </p:attrNameLst>
                                      </p:cBhvr>
                                      <p:tavLst>
                                        <p:tav tm="0">
                                          <p:val>
                                            <p:strVal val="#ppt_w*0.3"/>
                                          </p:val>
                                        </p:tav>
                                        <p:tav tm="100000">
                                          <p:val>
                                            <p:strVal val="#ppt_w"/>
                                          </p:val>
                                        </p:tav>
                                      </p:tavLst>
                                    </p:anim>
                                    <p:anim calcmode="lin" valueType="num">
                                      <p:cBhvr>
                                        <p:cTn id="23" dur="300" fill="hold"/>
                                        <p:tgtEl>
                                          <p:spTgt spid="5"/>
                                        </p:tgtEl>
                                        <p:attrNameLst>
                                          <p:attrName>ppt_h</p:attrName>
                                        </p:attrNameLst>
                                      </p:cBhvr>
                                      <p:tavLst>
                                        <p:tav tm="0">
                                          <p:val>
                                            <p:strVal val="#ppt_h*0.3"/>
                                          </p:val>
                                        </p:tav>
                                        <p:tav tm="100000">
                                          <p:val>
                                            <p:strVal val="#ppt_h"/>
                                          </p:val>
                                        </p:tav>
                                      </p:tavLst>
                                    </p:anim>
                                  </p:childTnLst>
                                </p:cTn>
                              </p:par>
                              <p:par>
                                <p:cTn id="24" presetID="53" presetClass="entr" presetSubtype="16"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300"/>
                                        <p:tgtEl>
                                          <p:spTgt spid="6"/>
                                        </p:tgtEl>
                                      </p:cBhvr>
                                    </p:animEffect>
                                    <p:anim calcmode="lin" valueType="num">
                                      <p:cBhvr>
                                        <p:cTn id="27" dur="300" fill="hold"/>
                                        <p:tgtEl>
                                          <p:spTgt spid="6"/>
                                        </p:tgtEl>
                                        <p:attrNameLst>
                                          <p:attrName>ppt_w</p:attrName>
                                        </p:attrNameLst>
                                      </p:cBhvr>
                                      <p:tavLst>
                                        <p:tav tm="0">
                                          <p:val>
                                            <p:strVal val="#ppt_w*0.3"/>
                                          </p:val>
                                        </p:tav>
                                        <p:tav tm="100000">
                                          <p:val>
                                            <p:strVal val="#ppt_w"/>
                                          </p:val>
                                        </p:tav>
                                      </p:tavLst>
                                    </p:anim>
                                    <p:anim calcmode="lin" valueType="num">
                                      <p:cBhvr>
                                        <p:cTn id="28" dur="300" fill="hold"/>
                                        <p:tgtEl>
                                          <p:spTgt spid="6"/>
                                        </p:tgtEl>
                                        <p:attrNameLst>
                                          <p:attrName>ppt_h</p:attrName>
                                        </p:attrNameLst>
                                      </p:cBhvr>
                                      <p:tavLst>
                                        <p:tav tm="0">
                                          <p:val>
                                            <p:strVal val="#ppt_h*0.3"/>
                                          </p:val>
                                        </p:tav>
                                        <p:tav tm="100000">
                                          <p:val>
                                            <p:strVal val="#ppt_h"/>
                                          </p:val>
                                        </p:tav>
                                      </p:tavLst>
                                    </p:anim>
                                  </p:childTnLst>
                                </p:cTn>
                              </p:par>
                              <p:par>
                                <p:cTn id="29" presetID="53" presetClass="entr" presetSubtype="16"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300"/>
                                        <p:tgtEl>
                                          <p:spTgt spid="7"/>
                                        </p:tgtEl>
                                      </p:cBhvr>
                                    </p:animEffect>
                                    <p:anim calcmode="lin" valueType="num">
                                      <p:cBhvr>
                                        <p:cTn id="32" dur="300" fill="hold"/>
                                        <p:tgtEl>
                                          <p:spTgt spid="7"/>
                                        </p:tgtEl>
                                        <p:attrNameLst>
                                          <p:attrName>ppt_w</p:attrName>
                                        </p:attrNameLst>
                                      </p:cBhvr>
                                      <p:tavLst>
                                        <p:tav tm="0">
                                          <p:val>
                                            <p:strVal val="#ppt_w*0.3"/>
                                          </p:val>
                                        </p:tav>
                                        <p:tav tm="100000">
                                          <p:val>
                                            <p:strVal val="#ppt_w"/>
                                          </p:val>
                                        </p:tav>
                                      </p:tavLst>
                                    </p:anim>
                                    <p:anim calcmode="lin" valueType="num">
                                      <p:cBhvr>
                                        <p:cTn id="33" dur="300" fill="hold"/>
                                        <p:tgtEl>
                                          <p:spTgt spid="7"/>
                                        </p:tgtEl>
                                        <p:attrNameLst>
                                          <p:attrName>ppt_h</p:attrName>
                                        </p:attrNameLst>
                                      </p:cBhvr>
                                      <p:tavLst>
                                        <p:tav tm="0">
                                          <p:val>
                                            <p:strVal val="#ppt_h*0.3"/>
                                          </p:val>
                                        </p:tav>
                                        <p:tav tm="100000">
                                          <p:val>
                                            <p:strVal val="#ppt_h"/>
                                          </p:val>
                                        </p:tav>
                                      </p:tavLst>
                                    </p:anim>
                                  </p:childTnLst>
                                </p:cTn>
                              </p:par>
                              <p:par>
                                <p:cTn id="34" presetID="53" presetClass="entr" presetSubtype="16" fill="hold" grpId="0"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300"/>
                                        <p:tgtEl>
                                          <p:spTgt spid="8"/>
                                        </p:tgtEl>
                                      </p:cBhvr>
                                    </p:animEffect>
                                    <p:anim calcmode="lin" valueType="num">
                                      <p:cBhvr>
                                        <p:cTn id="37" dur="300" fill="hold"/>
                                        <p:tgtEl>
                                          <p:spTgt spid="8"/>
                                        </p:tgtEl>
                                        <p:attrNameLst>
                                          <p:attrName>ppt_w</p:attrName>
                                        </p:attrNameLst>
                                      </p:cBhvr>
                                      <p:tavLst>
                                        <p:tav tm="0">
                                          <p:val>
                                            <p:strVal val="#ppt_w*0.3"/>
                                          </p:val>
                                        </p:tav>
                                        <p:tav tm="100000">
                                          <p:val>
                                            <p:strVal val="#ppt_w"/>
                                          </p:val>
                                        </p:tav>
                                      </p:tavLst>
                                    </p:anim>
                                    <p:anim calcmode="lin" valueType="num">
                                      <p:cBhvr>
                                        <p:cTn id="38" dur="300" fill="hold"/>
                                        <p:tgtEl>
                                          <p:spTgt spid="8"/>
                                        </p:tgtEl>
                                        <p:attrNameLst>
                                          <p:attrName>ppt_h</p:attrName>
                                        </p:attrNameLst>
                                      </p:cBhvr>
                                      <p:tavLst>
                                        <p:tav tm="0">
                                          <p:val>
                                            <p:strVal val="#ppt_h*0.3"/>
                                          </p:val>
                                        </p:tav>
                                        <p:tav tm="100000">
                                          <p:val>
                                            <p:strVal val="#ppt_h"/>
                                          </p:val>
                                        </p:tav>
                                      </p:tavLst>
                                    </p:anim>
                                  </p:childTnLst>
                                </p:cTn>
                              </p:par>
                            </p:childTnLst>
                          </p:cTn>
                        </p:par>
                        <p:par>
                          <p:cTn id="60" fill="hold">
                            <p:stCondLst>
                              <p:cond delay="750"/>
                            </p:stCondLst>
                            <p:childTnLst>
                              <p:par>
                                <p:cTn id="40" presetID="53" presetClass="entr" presetSubtype="16" fill="hold" grpId="0" nodeType="after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300"/>
                                        <p:tgtEl>
                                          <p:spTgt spid="9"/>
                                        </p:tgtEl>
                                      </p:cBhvr>
                                    </p:animEffect>
                                    <p:anim calcmode="lin" valueType="num">
                                      <p:cBhvr>
                                        <p:cTn id="43" dur="300" fill="hold"/>
                                        <p:tgtEl>
                                          <p:spTgt spid="9"/>
                                        </p:tgtEl>
                                        <p:attrNameLst>
                                          <p:attrName>ppt_w</p:attrName>
                                        </p:attrNameLst>
                                      </p:cBhvr>
                                      <p:tavLst>
                                        <p:tav tm="0">
                                          <p:val>
                                            <p:strVal val="#ppt_w*0.3"/>
                                          </p:val>
                                        </p:tav>
                                        <p:tav tm="100000">
                                          <p:val>
                                            <p:strVal val="#ppt_w"/>
                                          </p:val>
                                        </p:tav>
                                      </p:tavLst>
                                    </p:anim>
                                    <p:anim calcmode="lin" valueType="num">
                                      <p:cBhvr>
                                        <p:cTn id="44" dur="300" fill="hold"/>
                                        <p:tgtEl>
                                          <p:spTgt spid="9"/>
                                        </p:tgtEl>
                                        <p:attrNameLst>
                                          <p:attrName>ppt_h</p:attrName>
                                        </p:attrNameLst>
                                      </p:cBhvr>
                                      <p:tavLst>
                                        <p:tav tm="0">
                                          <p:val>
                                            <p:strVal val="#ppt_h*0.3"/>
                                          </p:val>
                                        </p:tav>
                                        <p:tav tm="100000">
                                          <p:val>
                                            <p:strVal val="#ppt_h"/>
                                          </p:val>
                                        </p:tav>
                                      </p:tavLst>
                                    </p:anim>
                                  </p:childTnLst>
                                </p:cTn>
                              </p:par>
                              <p:par>
                                <p:cTn id="45" presetID="53" presetClass="entr" presetSubtype="16"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300"/>
                                        <p:tgtEl>
                                          <p:spTgt spid="10"/>
                                        </p:tgtEl>
                                      </p:cBhvr>
                                    </p:animEffect>
                                    <p:anim calcmode="lin" valueType="num">
                                      <p:cBhvr>
                                        <p:cTn id="48" dur="300" fill="hold"/>
                                        <p:tgtEl>
                                          <p:spTgt spid="10"/>
                                        </p:tgtEl>
                                        <p:attrNameLst>
                                          <p:attrName>ppt_w</p:attrName>
                                        </p:attrNameLst>
                                      </p:cBhvr>
                                      <p:tavLst>
                                        <p:tav tm="0">
                                          <p:val>
                                            <p:strVal val="#ppt_w*0.3"/>
                                          </p:val>
                                        </p:tav>
                                        <p:tav tm="100000">
                                          <p:val>
                                            <p:strVal val="#ppt_w"/>
                                          </p:val>
                                        </p:tav>
                                      </p:tavLst>
                                    </p:anim>
                                    <p:anim calcmode="lin" valueType="num">
                                      <p:cBhvr>
                                        <p:cTn id="49" dur="300" fill="hold"/>
                                        <p:tgtEl>
                                          <p:spTgt spid="10"/>
                                        </p:tgtEl>
                                        <p:attrNameLst>
                                          <p:attrName>ppt_h</p:attrName>
                                        </p:attrNameLst>
                                      </p:cBhvr>
                                      <p:tavLst>
                                        <p:tav tm="0">
                                          <p:val>
                                            <p:strVal val="#ppt_h*0.3"/>
                                          </p:val>
                                        </p:tav>
                                        <p:tav tm="100000">
                                          <p:val>
                                            <p:strVal val="#ppt_h"/>
                                          </p:val>
                                        </p:tav>
                                      </p:tavLst>
                                    </p:anim>
                                  </p:childTnLst>
                                </p:cTn>
                              </p:par>
                              <p:par>
                                <p:cTn id="50" presetID="53" presetClass="entr" presetSubtype="16" fill="hold" grpId="0" nodeType="with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300"/>
                                        <p:tgtEl>
                                          <p:spTgt spid="11"/>
                                        </p:tgtEl>
                                      </p:cBhvr>
                                    </p:animEffect>
                                    <p:anim calcmode="lin" valueType="num">
                                      <p:cBhvr>
                                        <p:cTn id="53" dur="300" fill="hold"/>
                                        <p:tgtEl>
                                          <p:spTgt spid="11"/>
                                        </p:tgtEl>
                                        <p:attrNameLst>
                                          <p:attrName>ppt_w</p:attrName>
                                        </p:attrNameLst>
                                      </p:cBhvr>
                                      <p:tavLst>
                                        <p:tav tm="0">
                                          <p:val>
                                            <p:strVal val="#ppt_w*0.3"/>
                                          </p:val>
                                        </p:tav>
                                        <p:tav tm="100000">
                                          <p:val>
                                            <p:strVal val="#ppt_w"/>
                                          </p:val>
                                        </p:tav>
                                      </p:tavLst>
                                    </p:anim>
                                    <p:anim calcmode="lin" valueType="num">
                                      <p:cBhvr>
                                        <p:cTn id="54" dur="300" fill="hold"/>
                                        <p:tgtEl>
                                          <p:spTgt spid="11"/>
                                        </p:tgtEl>
                                        <p:attrNameLst>
                                          <p:attrName>ppt_h</p:attrName>
                                        </p:attrNameLst>
                                      </p:cBhvr>
                                      <p:tavLst>
                                        <p:tav tm="0">
                                          <p:val>
                                            <p:strVal val="#ppt_h*0.3"/>
                                          </p:val>
                                        </p:tav>
                                        <p:tav tm="100000">
                                          <p:val>
                                            <p:strVal val="#ppt_h"/>
                                          </p:val>
                                        </p:tav>
                                      </p:tavLst>
                                    </p:anim>
                                  </p:childTnLst>
                                </p:cTn>
                              </p:par>
                              <p:par>
                                <p:cTn id="55" presetID="53" presetClass="entr" presetSubtype="16" fill="hold" grpId="0" nodeType="with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300"/>
                                        <p:tgtEl>
                                          <p:spTgt spid="12"/>
                                        </p:tgtEl>
                                      </p:cBhvr>
                                    </p:animEffect>
                                    <p:anim calcmode="lin" valueType="num">
                                      <p:cBhvr>
                                        <p:cTn id="58" dur="300" fill="hold"/>
                                        <p:tgtEl>
                                          <p:spTgt spid="12"/>
                                        </p:tgtEl>
                                        <p:attrNameLst>
                                          <p:attrName>ppt_w</p:attrName>
                                        </p:attrNameLst>
                                      </p:cBhvr>
                                      <p:tavLst>
                                        <p:tav tm="0">
                                          <p:val>
                                            <p:strVal val="#ppt_w*0.3"/>
                                          </p:val>
                                        </p:tav>
                                        <p:tav tm="100000">
                                          <p:val>
                                            <p:strVal val="#ppt_w"/>
                                          </p:val>
                                        </p:tav>
                                      </p:tavLst>
                                    </p:anim>
                                    <p:anim calcmode="lin" valueType="num">
                                      <p:cBhvr>
                                        <p:cTn id="59" dur="300" fill="hold"/>
                                        <p:tgtEl>
                                          <p:spTgt spid="12"/>
                                        </p:tgtEl>
                                        <p:attrNameLst>
                                          <p:attrName>ppt_h</p:attrName>
                                        </p:attrNameLst>
                                      </p:cBhvr>
                                      <p:tavLst>
                                        <p:tav tm="0">
                                          <p:val>
                                            <p:strVal val="#ppt_h*0.3"/>
                                          </p:val>
                                        </p:tav>
                                        <p:tav tm="100000">
                                          <p:val>
                                            <p:strVal val="#ppt_h"/>
                                          </p:val>
                                        </p:tav>
                                      </p:tavLst>
                                    </p:anim>
                                  </p:childTnLst>
                                </p:cTn>
                              </p:par>
                            </p:childTnLst>
                          </p:cTn>
                        </p:par>
                        <p:par>
                          <p:cTn id="81" fill="hold">
                            <p:stCondLst>
                              <p:cond delay="870"/>
                            </p:stCondLst>
                            <p:childTnLst>
                              <p:par>
                                <p:cTn id="61" presetID="53" presetClass="entr" presetSubtype="16" fill="hold" grpId="0" nodeType="after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fade">
                                      <p:cBhvr>
                                        <p:cTn id="63" dur="300"/>
                                        <p:tgtEl>
                                          <p:spTgt spid="13"/>
                                        </p:tgtEl>
                                      </p:cBhvr>
                                    </p:animEffect>
                                    <p:anim calcmode="lin" valueType="num">
                                      <p:cBhvr>
                                        <p:cTn id="64" dur="300" fill="hold"/>
                                        <p:tgtEl>
                                          <p:spTgt spid="13"/>
                                        </p:tgtEl>
                                        <p:attrNameLst>
                                          <p:attrName>ppt_w</p:attrName>
                                        </p:attrNameLst>
                                      </p:cBhvr>
                                      <p:tavLst>
                                        <p:tav tm="0">
                                          <p:val>
                                            <p:strVal val="#ppt_w*0.3"/>
                                          </p:val>
                                        </p:tav>
                                        <p:tav tm="100000">
                                          <p:val>
                                            <p:strVal val="#ppt_w"/>
                                          </p:val>
                                        </p:tav>
                                      </p:tavLst>
                                    </p:anim>
                                    <p:anim calcmode="lin" valueType="num">
                                      <p:cBhvr>
                                        <p:cTn id="65" dur="300" fill="hold"/>
                                        <p:tgtEl>
                                          <p:spTgt spid="13"/>
                                        </p:tgtEl>
                                        <p:attrNameLst>
                                          <p:attrName>ppt_h</p:attrName>
                                        </p:attrNameLst>
                                      </p:cBhvr>
                                      <p:tavLst>
                                        <p:tav tm="0">
                                          <p:val>
                                            <p:strVal val="#ppt_h*0.3"/>
                                          </p:val>
                                        </p:tav>
                                        <p:tav tm="100000">
                                          <p:val>
                                            <p:strVal val="#ppt_h"/>
                                          </p:val>
                                        </p:tav>
                                      </p:tavLst>
                                    </p:anim>
                                  </p:childTnLst>
                                </p:cTn>
                              </p:par>
                              <p:par>
                                <p:cTn id="66" presetID="53" presetClass="entr" presetSubtype="16" fill="hold" grpId="0" nodeType="withEffect">
                                  <p:stCondLst>
                                    <p:cond delay="0"/>
                                  </p:stCondLst>
                                  <p:childTnLst>
                                    <p:set>
                                      <p:cBhvr>
                                        <p:cTn id="67" dur="1" fill="hold">
                                          <p:stCondLst>
                                            <p:cond delay="0"/>
                                          </p:stCondLst>
                                        </p:cTn>
                                        <p:tgtEl>
                                          <p:spTgt spid="14"/>
                                        </p:tgtEl>
                                        <p:attrNameLst>
                                          <p:attrName>style.visibility</p:attrName>
                                        </p:attrNameLst>
                                      </p:cBhvr>
                                      <p:to>
                                        <p:strVal val="visible"/>
                                      </p:to>
                                    </p:set>
                                    <p:animEffect transition="in" filter="fade">
                                      <p:cBhvr>
                                        <p:cTn id="68" dur="300"/>
                                        <p:tgtEl>
                                          <p:spTgt spid="14"/>
                                        </p:tgtEl>
                                      </p:cBhvr>
                                    </p:animEffect>
                                    <p:anim calcmode="lin" valueType="num">
                                      <p:cBhvr>
                                        <p:cTn id="69" dur="300" fill="hold"/>
                                        <p:tgtEl>
                                          <p:spTgt spid="14"/>
                                        </p:tgtEl>
                                        <p:attrNameLst>
                                          <p:attrName>ppt_w</p:attrName>
                                        </p:attrNameLst>
                                      </p:cBhvr>
                                      <p:tavLst>
                                        <p:tav tm="0">
                                          <p:val>
                                            <p:strVal val="#ppt_w*0.3"/>
                                          </p:val>
                                        </p:tav>
                                        <p:tav tm="100000">
                                          <p:val>
                                            <p:strVal val="#ppt_w"/>
                                          </p:val>
                                        </p:tav>
                                      </p:tavLst>
                                    </p:anim>
                                    <p:anim calcmode="lin" valueType="num">
                                      <p:cBhvr>
                                        <p:cTn id="70" dur="300" fill="hold"/>
                                        <p:tgtEl>
                                          <p:spTgt spid="14"/>
                                        </p:tgtEl>
                                        <p:attrNameLst>
                                          <p:attrName>ppt_h</p:attrName>
                                        </p:attrNameLst>
                                      </p:cBhvr>
                                      <p:tavLst>
                                        <p:tav tm="0">
                                          <p:val>
                                            <p:strVal val="#ppt_h*0.3"/>
                                          </p:val>
                                        </p:tav>
                                        <p:tav tm="100000">
                                          <p:val>
                                            <p:strVal val="#ppt_h"/>
                                          </p:val>
                                        </p:tav>
                                      </p:tavLst>
                                    </p:anim>
                                  </p:childTnLst>
                                </p:cTn>
                              </p:par>
                              <p:par>
                                <p:cTn id="71" presetID="53" presetClass="entr" presetSubtype="16" fill="hold" grpId="0" nodeType="withEffect">
                                  <p:stCondLst>
                                    <p:cond delay="0"/>
                                  </p:stCondLst>
                                  <p:childTnLst>
                                    <p:set>
                                      <p:cBhvr>
                                        <p:cTn id="72" dur="1" fill="hold">
                                          <p:stCondLst>
                                            <p:cond delay="0"/>
                                          </p:stCondLst>
                                        </p:cTn>
                                        <p:tgtEl>
                                          <p:spTgt spid="15"/>
                                        </p:tgtEl>
                                        <p:attrNameLst>
                                          <p:attrName>style.visibility</p:attrName>
                                        </p:attrNameLst>
                                      </p:cBhvr>
                                      <p:to>
                                        <p:strVal val="visible"/>
                                      </p:to>
                                    </p:set>
                                    <p:animEffect transition="in" filter="fade">
                                      <p:cBhvr>
                                        <p:cTn id="73" dur="300"/>
                                        <p:tgtEl>
                                          <p:spTgt spid="15"/>
                                        </p:tgtEl>
                                      </p:cBhvr>
                                    </p:animEffect>
                                    <p:anim calcmode="lin" valueType="num">
                                      <p:cBhvr>
                                        <p:cTn id="74" dur="300" fill="hold"/>
                                        <p:tgtEl>
                                          <p:spTgt spid="15"/>
                                        </p:tgtEl>
                                        <p:attrNameLst>
                                          <p:attrName>ppt_w</p:attrName>
                                        </p:attrNameLst>
                                      </p:cBhvr>
                                      <p:tavLst>
                                        <p:tav tm="0">
                                          <p:val>
                                            <p:strVal val="#ppt_w*0.3"/>
                                          </p:val>
                                        </p:tav>
                                        <p:tav tm="100000">
                                          <p:val>
                                            <p:strVal val="#ppt_w"/>
                                          </p:val>
                                        </p:tav>
                                      </p:tavLst>
                                    </p:anim>
                                    <p:anim calcmode="lin" valueType="num">
                                      <p:cBhvr>
                                        <p:cTn id="75" dur="300" fill="hold"/>
                                        <p:tgtEl>
                                          <p:spTgt spid="15"/>
                                        </p:tgtEl>
                                        <p:attrNameLst>
                                          <p:attrName>ppt_h</p:attrName>
                                        </p:attrNameLst>
                                      </p:cBhvr>
                                      <p:tavLst>
                                        <p:tav tm="0">
                                          <p:val>
                                            <p:strVal val="#ppt_h*0.3"/>
                                          </p:val>
                                        </p:tav>
                                        <p:tav tm="100000">
                                          <p:val>
                                            <p:strVal val="#ppt_h"/>
                                          </p:val>
                                        </p:tav>
                                      </p:tavLst>
                                    </p:anim>
                                  </p:childTnLst>
                                </p:cTn>
                              </p:par>
                              <p:par>
                                <p:cTn id="76" presetID="53" presetClass="entr" presetSubtype="16" fill="hold" grpId="0" nodeType="withEffect">
                                  <p:stCondLst>
                                    <p:cond delay="0"/>
                                  </p:stCondLst>
                                  <p:childTnLst>
                                    <p:set>
                                      <p:cBhvr>
                                        <p:cTn id="77" dur="1" fill="hold">
                                          <p:stCondLst>
                                            <p:cond delay="0"/>
                                          </p:stCondLst>
                                        </p:cTn>
                                        <p:tgtEl>
                                          <p:spTgt spid="16"/>
                                        </p:tgtEl>
                                        <p:attrNameLst>
                                          <p:attrName>style.visibility</p:attrName>
                                        </p:attrNameLst>
                                      </p:cBhvr>
                                      <p:to>
                                        <p:strVal val="visible"/>
                                      </p:to>
                                    </p:set>
                                    <p:animEffect transition="in" filter="fade">
                                      <p:cBhvr>
                                        <p:cTn id="78" dur="300"/>
                                        <p:tgtEl>
                                          <p:spTgt spid="16"/>
                                        </p:tgtEl>
                                      </p:cBhvr>
                                    </p:animEffect>
                                    <p:anim calcmode="lin" valueType="num">
                                      <p:cBhvr>
                                        <p:cTn id="79" dur="300" fill="hold"/>
                                        <p:tgtEl>
                                          <p:spTgt spid="16"/>
                                        </p:tgtEl>
                                        <p:attrNameLst>
                                          <p:attrName>ppt_w</p:attrName>
                                        </p:attrNameLst>
                                      </p:cBhvr>
                                      <p:tavLst>
                                        <p:tav tm="0">
                                          <p:val>
                                            <p:strVal val="#ppt_w*0.3"/>
                                          </p:val>
                                        </p:tav>
                                        <p:tav tm="100000">
                                          <p:val>
                                            <p:strVal val="#ppt_w"/>
                                          </p:val>
                                        </p:tav>
                                      </p:tavLst>
                                    </p:anim>
                                    <p:anim calcmode="lin" valueType="num">
                                      <p:cBhvr>
                                        <p:cTn id="80" dur="300" fill="hold"/>
                                        <p:tgtEl>
                                          <p:spTgt spid="16"/>
                                        </p:tgtEl>
                                        <p:attrNameLst>
                                          <p:attrName>ppt_h</p:attrName>
                                        </p:attrNameLst>
                                      </p:cBhvr>
                                      <p:tavLst>
                                        <p:tav tm="0">
                                          <p:val>
                                            <p:strVal val="#ppt_h*0.3"/>
                                          </p:val>
                                        </p:tav>
                                        <p:tav tm="100000">
                                          <p:val>
                                            <p:strVal val="#ppt_h"/>
                                          </p:val>
                                        </p:tav>
                                      </p:tavLst>
                                    </p:anim>
                                  </p:childTnLst>
                                </p:cTn>
                              </p:par>
                            </p:childTnLst>
                          </p:cTn>
                        </p:par>
                        <p:par>
                          <p:cTn id="102" fill="hold">
                            <p:stCondLst>
                              <p:cond delay="990"/>
                            </p:stCondLst>
                            <p:childTnLst>
                              <p:par>
                                <p:cTn id="82" presetID="53" presetClass="entr" presetSubtype="16" fill="hold" grpId="0" nodeType="afterEffect">
                                  <p:stCondLst>
                                    <p:cond delay="0"/>
                                  </p:stCondLst>
                                  <p:childTnLst>
                                    <p:set>
                                      <p:cBhvr>
                                        <p:cTn id="83" dur="1" fill="hold">
                                          <p:stCondLst>
                                            <p:cond delay="0"/>
                                          </p:stCondLst>
                                        </p:cTn>
                                        <p:tgtEl>
                                          <p:spTgt spid="17"/>
                                        </p:tgtEl>
                                        <p:attrNameLst>
                                          <p:attrName>style.visibility</p:attrName>
                                        </p:attrNameLst>
                                      </p:cBhvr>
                                      <p:to>
                                        <p:strVal val="visible"/>
                                      </p:to>
                                    </p:set>
                                    <p:animEffect transition="in" filter="fade">
                                      <p:cBhvr>
                                        <p:cTn id="84" dur="300"/>
                                        <p:tgtEl>
                                          <p:spTgt spid="17"/>
                                        </p:tgtEl>
                                      </p:cBhvr>
                                    </p:animEffect>
                                    <p:anim calcmode="lin" valueType="num">
                                      <p:cBhvr>
                                        <p:cTn id="85" dur="300" fill="hold"/>
                                        <p:tgtEl>
                                          <p:spTgt spid="17"/>
                                        </p:tgtEl>
                                        <p:attrNameLst>
                                          <p:attrName>ppt_w</p:attrName>
                                        </p:attrNameLst>
                                      </p:cBhvr>
                                      <p:tavLst>
                                        <p:tav tm="0">
                                          <p:val>
                                            <p:strVal val="#ppt_w*0.3"/>
                                          </p:val>
                                        </p:tav>
                                        <p:tav tm="100000">
                                          <p:val>
                                            <p:strVal val="#ppt_w"/>
                                          </p:val>
                                        </p:tav>
                                      </p:tavLst>
                                    </p:anim>
                                    <p:anim calcmode="lin" valueType="num">
                                      <p:cBhvr>
                                        <p:cTn id="86" dur="300" fill="hold"/>
                                        <p:tgtEl>
                                          <p:spTgt spid="17"/>
                                        </p:tgtEl>
                                        <p:attrNameLst>
                                          <p:attrName>ppt_h</p:attrName>
                                        </p:attrNameLst>
                                      </p:cBhvr>
                                      <p:tavLst>
                                        <p:tav tm="0">
                                          <p:val>
                                            <p:strVal val="#ppt_h*0.3"/>
                                          </p:val>
                                        </p:tav>
                                        <p:tav tm="100000">
                                          <p:val>
                                            <p:strVal val="#ppt_h"/>
                                          </p:val>
                                        </p:tav>
                                      </p:tavLst>
                                    </p:anim>
                                  </p:childTnLst>
                                </p:cTn>
                              </p:par>
                              <p:par>
                                <p:cTn id="87" presetID="53" presetClass="entr" presetSubtype="16" fill="hold" grpId="0" nodeType="withEffect">
                                  <p:stCondLst>
                                    <p:cond delay="0"/>
                                  </p:stCondLst>
                                  <p:childTnLst>
                                    <p:set>
                                      <p:cBhvr>
                                        <p:cTn id="88" dur="1" fill="hold">
                                          <p:stCondLst>
                                            <p:cond delay="0"/>
                                          </p:stCondLst>
                                        </p:cTn>
                                        <p:tgtEl>
                                          <p:spTgt spid="18"/>
                                        </p:tgtEl>
                                        <p:attrNameLst>
                                          <p:attrName>style.visibility</p:attrName>
                                        </p:attrNameLst>
                                      </p:cBhvr>
                                      <p:to>
                                        <p:strVal val="visible"/>
                                      </p:to>
                                    </p:set>
                                    <p:animEffect transition="in" filter="fade">
                                      <p:cBhvr>
                                        <p:cTn id="89" dur="300"/>
                                        <p:tgtEl>
                                          <p:spTgt spid="18"/>
                                        </p:tgtEl>
                                      </p:cBhvr>
                                    </p:animEffect>
                                    <p:anim calcmode="lin" valueType="num">
                                      <p:cBhvr>
                                        <p:cTn id="90" dur="300" fill="hold"/>
                                        <p:tgtEl>
                                          <p:spTgt spid="18"/>
                                        </p:tgtEl>
                                        <p:attrNameLst>
                                          <p:attrName>ppt_w</p:attrName>
                                        </p:attrNameLst>
                                      </p:cBhvr>
                                      <p:tavLst>
                                        <p:tav tm="0">
                                          <p:val>
                                            <p:strVal val="#ppt_w*0.3"/>
                                          </p:val>
                                        </p:tav>
                                        <p:tav tm="100000">
                                          <p:val>
                                            <p:strVal val="#ppt_w"/>
                                          </p:val>
                                        </p:tav>
                                      </p:tavLst>
                                    </p:anim>
                                    <p:anim calcmode="lin" valueType="num">
                                      <p:cBhvr>
                                        <p:cTn id="91" dur="300" fill="hold"/>
                                        <p:tgtEl>
                                          <p:spTgt spid="18"/>
                                        </p:tgtEl>
                                        <p:attrNameLst>
                                          <p:attrName>ppt_h</p:attrName>
                                        </p:attrNameLst>
                                      </p:cBhvr>
                                      <p:tavLst>
                                        <p:tav tm="0">
                                          <p:val>
                                            <p:strVal val="#ppt_h*0.3"/>
                                          </p:val>
                                        </p:tav>
                                        <p:tav tm="100000">
                                          <p:val>
                                            <p:strVal val="#ppt_h"/>
                                          </p:val>
                                        </p:tav>
                                      </p:tavLst>
                                    </p:anim>
                                  </p:childTnLst>
                                </p:cTn>
                              </p:par>
                              <p:par>
                                <p:cTn id="92" presetID="53" presetClass="entr" presetSubtype="16" fill="hold" grpId="0" nodeType="withEffect">
                                  <p:stCondLst>
                                    <p:cond delay="0"/>
                                  </p:stCondLst>
                                  <p:childTnLst>
                                    <p:set>
                                      <p:cBhvr>
                                        <p:cTn id="93" dur="1" fill="hold">
                                          <p:stCondLst>
                                            <p:cond delay="0"/>
                                          </p:stCondLst>
                                        </p:cTn>
                                        <p:tgtEl>
                                          <p:spTgt spid="19"/>
                                        </p:tgtEl>
                                        <p:attrNameLst>
                                          <p:attrName>style.visibility</p:attrName>
                                        </p:attrNameLst>
                                      </p:cBhvr>
                                      <p:to>
                                        <p:strVal val="visible"/>
                                      </p:to>
                                    </p:set>
                                    <p:animEffect transition="in" filter="fade">
                                      <p:cBhvr>
                                        <p:cTn id="94" dur="300"/>
                                        <p:tgtEl>
                                          <p:spTgt spid="19"/>
                                        </p:tgtEl>
                                      </p:cBhvr>
                                    </p:animEffect>
                                    <p:anim calcmode="lin" valueType="num">
                                      <p:cBhvr>
                                        <p:cTn id="95" dur="300" fill="hold"/>
                                        <p:tgtEl>
                                          <p:spTgt spid="19"/>
                                        </p:tgtEl>
                                        <p:attrNameLst>
                                          <p:attrName>ppt_w</p:attrName>
                                        </p:attrNameLst>
                                      </p:cBhvr>
                                      <p:tavLst>
                                        <p:tav tm="0">
                                          <p:val>
                                            <p:strVal val="#ppt_w*0.3"/>
                                          </p:val>
                                        </p:tav>
                                        <p:tav tm="100000">
                                          <p:val>
                                            <p:strVal val="#ppt_w"/>
                                          </p:val>
                                        </p:tav>
                                      </p:tavLst>
                                    </p:anim>
                                    <p:anim calcmode="lin" valueType="num">
                                      <p:cBhvr>
                                        <p:cTn id="96" dur="300" fill="hold"/>
                                        <p:tgtEl>
                                          <p:spTgt spid="19"/>
                                        </p:tgtEl>
                                        <p:attrNameLst>
                                          <p:attrName>ppt_h</p:attrName>
                                        </p:attrNameLst>
                                      </p:cBhvr>
                                      <p:tavLst>
                                        <p:tav tm="0">
                                          <p:val>
                                            <p:strVal val="#ppt_h*0.3"/>
                                          </p:val>
                                        </p:tav>
                                        <p:tav tm="100000">
                                          <p:val>
                                            <p:strVal val="#ppt_h"/>
                                          </p:val>
                                        </p:tav>
                                      </p:tavLst>
                                    </p:anim>
                                  </p:childTnLst>
                                </p:cTn>
                              </p:par>
                              <p:par>
                                <p:cTn id="97" presetID="53" presetClass="entr" presetSubtype="16" fill="hold" grpId="0" nodeType="withEffect">
                                  <p:stCondLst>
                                    <p:cond delay="0"/>
                                  </p:stCondLst>
                                  <p:childTnLst>
                                    <p:set>
                                      <p:cBhvr>
                                        <p:cTn id="98" dur="1" fill="hold">
                                          <p:stCondLst>
                                            <p:cond delay="0"/>
                                          </p:stCondLst>
                                        </p:cTn>
                                        <p:tgtEl>
                                          <p:spTgt spid="20"/>
                                        </p:tgtEl>
                                        <p:attrNameLst>
                                          <p:attrName>style.visibility</p:attrName>
                                        </p:attrNameLst>
                                      </p:cBhvr>
                                      <p:to>
                                        <p:strVal val="visible"/>
                                      </p:to>
                                    </p:set>
                                    <p:animEffect transition="in" filter="fade">
                                      <p:cBhvr>
                                        <p:cTn id="99" dur="300"/>
                                        <p:tgtEl>
                                          <p:spTgt spid="20"/>
                                        </p:tgtEl>
                                      </p:cBhvr>
                                    </p:animEffect>
                                    <p:anim calcmode="lin" valueType="num">
                                      <p:cBhvr>
                                        <p:cTn id="100" dur="300" fill="hold"/>
                                        <p:tgtEl>
                                          <p:spTgt spid="20"/>
                                        </p:tgtEl>
                                        <p:attrNameLst>
                                          <p:attrName>ppt_w</p:attrName>
                                        </p:attrNameLst>
                                      </p:cBhvr>
                                      <p:tavLst>
                                        <p:tav tm="0">
                                          <p:val>
                                            <p:strVal val="#ppt_w*0.3"/>
                                          </p:val>
                                        </p:tav>
                                        <p:tav tm="100000">
                                          <p:val>
                                            <p:strVal val="#ppt_w"/>
                                          </p:val>
                                        </p:tav>
                                      </p:tavLst>
                                    </p:anim>
                                    <p:anim calcmode="lin" valueType="num">
                                      <p:cBhvr>
                                        <p:cTn id="101" dur="300" fill="hold"/>
                                        <p:tgtEl>
                                          <p:spTgt spid="20"/>
                                        </p:tgtEl>
                                        <p:attrNameLst>
                                          <p:attrName>ppt_h</p:attrName>
                                        </p:attrNameLst>
                                      </p:cBhvr>
                                      <p:tavLst>
                                        <p:tav tm="0">
                                          <p:val>
                                            <p:strVal val="#ppt_h*0.3"/>
                                          </p:val>
                                        </p:tav>
                                        <p:tav tm="100000">
                                          <p:val>
                                            <p:strVal val="#ppt_h"/>
                                          </p:val>
                                        </p:tav>
                                      </p:tavLst>
                                    </p:anim>
                                  </p:childTnLst>
                                </p:cTn>
                              </p:par>
                            </p:childTnLst>
                          </p:cTn>
                        </p:par>
                        <p:par>
                          <p:cTn id="123" fill="hold">
                            <p:stCondLst>
                              <p:cond delay="1110"/>
                            </p:stCondLst>
                            <p:childTnLst>
                              <p:par>
                                <p:cTn id="103" presetID="53" presetClass="entr" presetSubtype="16" fill="hold" grpId="0" nodeType="afterEffect">
                                  <p:stCondLst>
                                    <p:cond delay="0"/>
                                  </p:stCondLst>
                                  <p:childTnLst>
                                    <p:set>
                                      <p:cBhvr>
                                        <p:cTn id="104" dur="1" fill="hold">
                                          <p:stCondLst>
                                            <p:cond delay="0"/>
                                          </p:stCondLst>
                                        </p:cTn>
                                        <p:tgtEl>
                                          <p:spTgt spid="21"/>
                                        </p:tgtEl>
                                        <p:attrNameLst>
                                          <p:attrName>style.visibility</p:attrName>
                                        </p:attrNameLst>
                                      </p:cBhvr>
                                      <p:to>
                                        <p:strVal val="visible"/>
                                      </p:to>
                                    </p:set>
                                    <p:animEffect transition="in" filter="fade">
                                      <p:cBhvr>
                                        <p:cTn id="105" dur="300"/>
                                        <p:tgtEl>
                                          <p:spTgt spid="21"/>
                                        </p:tgtEl>
                                      </p:cBhvr>
                                    </p:animEffect>
                                    <p:anim calcmode="lin" valueType="num">
                                      <p:cBhvr>
                                        <p:cTn id="106" dur="300" fill="hold"/>
                                        <p:tgtEl>
                                          <p:spTgt spid="21"/>
                                        </p:tgtEl>
                                        <p:attrNameLst>
                                          <p:attrName>ppt_w</p:attrName>
                                        </p:attrNameLst>
                                      </p:cBhvr>
                                      <p:tavLst>
                                        <p:tav tm="0">
                                          <p:val>
                                            <p:strVal val="#ppt_w*0.3"/>
                                          </p:val>
                                        </p:tav>
                                        <p:tav tm="100000">
                                          <p:val>
                                            <p:strVal val="#ppt_w"/>
                                          </p:val>
                                        </p:tav>
                                      </p:tavLst>
                                    </p:anim>
                                    <p:anim calcmode="lin" valueType="num">
                                      <p:cBhvr>
                                        <p:cTn id="107" dur="300" fill="hold"/>
                                        <p:tgtEl>
                                          <p:spTgt spid="21"/>
                                        </p:tgtEl>
                                        <p:attrNameLst>
                                          <p:attrName>ppt_h</p:attrName>
                                        </p:attrNameLst>
                                      </p:cBhvr>
                                      <p:tavLst>
                                        <p:tav tm="0">
                                          <p:val>
                                            <p:strVal val="#ppt_h*0.3"/>
                                          </p:val>
                                        </p:tav>
                                        <p:tav tm="100000">
                                          <p:val>
                                            <p:strVal val="#ppt_h"/>
                                          </p:val>
                                        </p:tav>
                                      </p:tavLst>
                                    </p:anim>
                                  </p:childTnLst>
                                </p:cTn>
                              </p:par>
                              <p:par>
                                <p:cTn id="108" presetID="53" presetClass="entr" presetSubtype="16" fill="hold" grpId="0" nodeType="withEffect">
                                  <p:stCondLst>
                                    <p:cond delay="0"/>
                                  </p:stCondLst>
                                  <p:childTnLst>
                                    <p:set>
                                      <p:cBhvr>
                                        <p:cTn id="109" dur="1" fill="hold">
                                          <p:stCondLst>
                                            <p:cond delay="0"/>
                                          </p:stCondLst>
                                        </p:cTn>
                                        <p:tgtEl>
                                          <p:spTgt spid="22"/>
                                        </p:tgtEl>
                                        <p:attrNameLst>
                                          <p:attrName>style.visibility</p:attrName>
                                        </p:attrNameLst>
                                      </p:cBhvr>
                                      <p:to>
                                        <p:strVal val="visible"/>
                                      </p:to>
                                    </p:set>
                                    <p:animEffect transition="in" filter="fade">
                                      <p:cBhvr>
                                        <p:cTn id="110" dur="300"/>
                                        <p:tgtEl>
                                          <p:spTgt spid="22"/>
                                        </p:tgtEl>
                                      </p:cBhvr>
                                    </p:animEffect>
                                    <p:anim calcmode="lin" valueType="num">
                                      <p:cBhvr>
                                        <p:cTn id="111" dur="300" fill="hold"/>
                                        <p:tgtEl>
                                          <p:spTgt spid="22"/>
                                        </p:tgtEl>
                                        <p:attrNameLst>
                                          <p:attrName>ppt_w</p:attrName>
                                        </p:attrNameLst>
                                      </p:cBhvr>
                                      <p:tavLst>
                                        <p:tav tm="0">
                                          <p:val>
                                            <p:strVal val="#ppt_w*0.3"/>
                                          </p:val>
                                        </p:tav>
                                        <p:tav tm="100000">
                                          <p:val>
                                            <p:strVal val="#ppt_w"/>
                                          </p:val>
                                        </p:tav>
                                      </p:tavLst>
                                    </p:anim>
                                    <p:anim calcmode="lin" valueType="num">
                                      <p:cBhvr>
                                        <p:cTn id="112" dur="300" fill="hold"/>
                                        <p:tgtEl>
                                          <p:spTgt spid="22"/>
                                        </p:tgtEl>
                                        <p:attrNameLst>
                                          <p:attrName>ppt_h</p:attrName>
                                        </p:attrNameLst>
                                      </p:cBhvr>
                                      <p:tavLst>
                                        <p:tav tm="0">
                                          <p:val>
                                            <p:strVal val="#ppt_h*0.3"/>
                                          </p:val>
                                        </p:tav>
                                        <p:tav tm="100000">
                                          <p:val>
                                            <p:strVal val="#ppt_h"/>
                                          </p:val>
                                        </p:tav>
                                      </p:tavLst>
                                    </p:anim>
                                  </p:childTnLst>
                                </p:cTn>
                              </p:par>
                              <p:par>
                                <p:cTn id="113" presetID="53" presetClass="entr" presetSubtype="16" fill="hold" grpId="0" nodeType="withEffect">
                                  <p:stCondLst>
                                    <p:cond delay="0"/>
                                  </p:stCondLst>
                                  <p:childTnLst>
                                    <p:set>
                                      <p:cBhvr>
                                        <p:cTn id="114" dur="1" fill="hold">
                                          <p:stCondLst>
                                            <p:cond delay="0"/>
                                          </p:stCondLst>
                                        </p:cTn>
                                        <p:tgtEl>
                                          <p:spTgt spid="23"/>
                                        </p:tgtEl>
                                        <p:attrNameLst>
                                          <p:attrName>style.visibility</p:attrName>
                                        </p:attrNameLst>
                                      </p:cBhvr>
                                      <p:to>
                                        <p:strVal val="visible"/>
                                      </p:to>
                                    </p:set>
                                    <p:animEffect transition="in" filter="fade">
                                      <p:cBhvr>
                                        <p:cTn id="115" dur="300"/>
                                        <p:tgtEl>
                                          <p:spTgt spid="23"/>
                                        </p:tgtEl>
                                      </p:cBhvr>
                                    </p:animEffect>
                                    <p:anim calcmode="lin" valueType="num">
                                      <p:cBhvr>
                                        <p:cTn id="116" dur="300" fill="hold"/>
                                        <p:tgtEl>
                                          <p:spTgt spid="23"/>
                                        </p:tgtEl>
                                        <p:attrNameLst>
                                          <p:attrName>ppt_w</p:attrName>
                                        </p:attrNameLst>
                                      </p:cBhvr>
                                      <p:tavLst>
                                        <p:tav tm="0">
                                          <p:val>
                                            <p:strVal val="#ppt_w*0.3"/>
                                          </p:val>
                                        </p:tav>
                                        <p:tav tm="100000">
                                          <p:val>
                                            <p:strVal val="#ppt_w"/>
                                          </p:val>
                                        </p:tav>
                                      </p:tavLst>
                                    </p:anim>
                                    <p:anim calcmode="lin" valueType="num">
                                      <p:cBhvr>
                                        <p:cTn id="117" dur="300" fill="hold"/>
                                        <p:tgtEl>
                                          <p:spTgt spid="23"/>
                                        </p:tgtEl>
                                        <p:attrNameLst>
                                          <p:attrName>ppt_h</p:attrName>
                                        </p:attrNameLst>
                                      </p:cBhvr>
                                      <p:tavLst>
                                        <p:tav tm="0">
                                          <p:val>
                                            <p:strVal val="#ppt_h*0.3"/>
                                          </p:val>
                                        </p:tav>
                                        <p:tav tm="100000">
                                          <p:val>
                                            <p:strVal val="#ppt_h"/>
                                          </p:val>
                                        </p:tav>
                                      </p:tavLst>
                                    </p:anim>
                                  </p:childTnLst>
                                </p:cTn>
                              </p:par>
                              <p:par>
                                <p:cTn id="118" presetID="53" presetClass="entr" presetSubtype="16" fill="hold" grpId="0" nodeType="withEffect">
                                  <p:stCondLst>
                                    <p:cond delay="0"/>
                                  </p:stCondLst>
                                  <p:childTnLst>
                                    <p:set>
                                      <p:cBhvr>
                                        <p:cTn id="119" dur="1" fill="hold">
                                          <p:stCondLst>
                                            <p:cond delay="0"/>
                                          </p:stCondLst>
                                        </p:cTn>
                                        <p:tgtEl>
                                          <p:spTgt spid="24"/>
                                        </p:tgtEl>
                                        <p:attrNameLst>
                                          <p:attrName>style.visibility</p:attrName>
                                        </p:attrNameLst>
                                      </p:cBhvr>
                                      <p:to>
                                        <p:strVal val="visible"/>
                                      </p:to>
                                    </p:set>
                                    <p:animEffect transition="in" filter="fade">
                                      <p:cBhvr>
                                        <p:cTn id="120" dur="300"/>
                                        <p:tgtEl>
                                          <p:spTgt spid="24"/>
                                        </p:tgtEl>
                                      </p:cBhvr>
                                    </p:animEffect>
                                    <p:anim calcmode="lin" valueType="num">
                                      <p:cBhvr>
                                        <p:cTn id="121" dur="300" fill="hold"/>
                                        <p:tgtEl>
                                          <p:spTgt spid="24"/>
                                        </p:tgtEl>
                                        <p:attrNameLst>
                                          <p:attrName>ppt_w</p:attrName>
                                        </p:attrNameLst>
                                      </p:cBhvr>
                                      <p:tavLst>
                                        <p:tav tm="0">
                                          <p:val>
                                            <p:strVal val="#ppt_w*0.3"/>
                                          </p:val>
                                        </p:tav>
                                        <p:tav tm="100000">
                                          <p:val>
                                            <p:strVal val="#ppt_w"/>
                                          </p:val>
                                        </p:tav>
                                      </p:tavLst>
                                    </p:anim>
                                    <p:anim calcmode="lin" valueType="num">
                                      <p:cBhvr>
                                        <p:cTn id="122" dur="300" fill="hold"/>
                                        <p:tgtEl>
                                          <p:spTgt spid="24"/>
                                        </p:tgtEl>
                                        <p:attrNameLst>
                                          <p:attrName>ppt_h</p:attrName>
                                        </p:attrNameLst>
                                      </p:cBhvr>
                                      <p:tavLst>
                                        <p:tav tm="0">
                                          <p:val>
                                            <p:strVal val="#ppt_h*0.3"/>
                                          </p:val>
                                        </p:tav>
                                        <p:tav tm="100000">
                                          <p:val>
                                            <p:strVal val="#ppt_h"/>
                                          </p:val>
                                        </p:tav>
                                      </p:tavLst>
                                    </p:anim>
                                  </p:childTnLst>
                                </p:cTn>
                              </p:par>
                            </p:childTnLst>
                          </p:cTn>
                        </p:par>
                        <p:par>
                          <p:cTn id="144" fill="hold">
                            <p:stCondLst>
                              <p:cond delay="1230"/>
                            </p:stCondLst>
                            <p:childTnLst>
                              <p:par>
                                <p:cTn id="124" presetID="53" presetClass="entr" presetSubtype="16" fill="hold" grpId="0" nodeType="afterEffect">
                                  <p:stCondLst>
                                    <p:cond delay="0"/>
                                  </p:stCondLst>
                                  <p:childTnLst>
                                    <p:set>
                                      <p:cBhvr>
                                        <p:cTn id="125" dur="1" fill="hold">
                                          <p:stCondLst>
                                            <p:cond delay="0"/>
                                          </p:stCondLst>
                                        </p:cTn>
                                        <p:tgtEl>
                                          <p:spTgt spid="25"/>
                                        </p:tgtEl>
                                        <p:attrNameLst>
                                          <p:attrName>style.visibility</p:attrName>
                                        </p:attrNameLst>
                                      </p:cBhvr>
                                      <p:to>
                                        <p:strVal val="visible"/>
                                      </p:to>
                                    </p:set>
                                    <p:animEffect transition="in" filter="fade">
                                      <p:cBhvr>
                                        <p:cTn id="126" dur="300"/>
                                        <p:tgtEl>
                                          <p:spTgt spid="25"/>
                                        </p:tgtEl>
                                      </p:cBhvr>
                                    </p:animEffect>
                                    <p:anim calcmode="lin" valueType="num">
                                      <p:cBhvr>
                                        <p:cTn id="127" dur="300" fill="hold"/>
                                        <p:tgtEl>
                                          <p:spTgt spid="25"/>
                                        </p:tgtEl>
                                        <p:attrNameLst>
                                          <p:attrName>ppt_w</p:attrName>
                                        </p:attrNameLst>
                                      </p:cBhvr>
                                      <p:tavLst>
                                        <p:tav tm="0">
                                          <p:val>
                                            <p:strVal val="#ppt_w*0.3"/>
                                          </p:val>
                                        </p:tav>
                                        <p:tav tm="100000">
                                          <p:val>
                                            <p:strVal val="#ppt_w"/>
                                          </p:val>
                                        </p:tav>
                                      </p:tavLst>
                                    </p:anim>
                                    <p:anim calcmode="lin" valueType="num">
                                      <p:cBhvr>
                                        <p:cTn id="128" dur="300" fill="hold"/>
                                        <p:tgtEl>
                                          <p:spTgt spid="25"/>
                                        </p:tgtEl>
                                        <p:attrNameLst>
                                          <p:attrName>ppt_h</p:attrName>
                                        </p:attrNameLst>
                                      </p:cBhvr>
                                      <p:tavLst>
                                        <p:tav tm="0">
                                          <p:val>
                                            <p:strVal val="#ppt_h*0.3"/>
                                          </p:val>
                                        </p:tav>
                                        <p:tav tm="100000">
                                          <p:val>
                                            <p:strVal val="#ppt_h"/>
                                          </p:val>
                                        </p:tav>
                                      </p:tavLst>
                                    </p:anim>
                                  </p:childTnLst>
                                </p:cTn>
                              </p:par>
                              <p:par>
                                <p:cTn id="129" presetID="53" presetClass="entr" presetSubtype="16" fill="hold" grpId="0" nodeType="withEffect">
                                  <p:stCondLst>
                                    <p:cond delay="0"/>
                                  </p:stCondLst>
                                  <p:childTnLst>
                                    <p:set>
                                      <p:cBhvr>
                                        <p:cTn id="130" dur="1" fill="hold">
                                          <p:stCondLst>
                                            <p:cond delay="0"/>
                                          </p:stCondLst>
                                        </p:cTn>
                                        <p:tgtEl>
                                          <p:spTgt spid="26"/>
                                        </p:tgtEl>
                                        <p:attrNameLst>
                                          <p:attrName>style.visibility</p:attrName>
                                        </p:attrNameLst>
                                      </p:cBhvr>
                                      <p:to>
                                        <p:strVal val="visible"/>
                                      </p:to>
                                    </p:set>
                                    <p:animEffect transition="in" filter="fade">
                                      <p:cBhvr>
                                        <p:cTn id="131" dur="300"/>
                                        <p:tgtEl>
                                          <p:spTgt spid="26"/>
                                        </p:tgtEl>
                                      </p:cBhvr>
                                    </p:animEffect>
                                    <p:anim calcmode="lin" valueType="num">
                                      <p:cBhvr>
                                        <p:cTn id="132" dur="300" fill="hold"/>
                                        <p:tgtEl>
                                          <p:spTgt spid="26"/>
                                        </p:tgtEl>
                                        <p:attrNameLst>
                                          <p:attrName>ppt_w</p:attrName>
                                        </p:attrNameLst>
                                      </p:cBhvr>
                                      <p:tavLst>
                                        <p:tav tm="0">
                                          <p:val>
                                            <p:strVal val="#ppt_w*0.3"/>
                                          </p:val>
                                        </p:tav>
                                        <p:tav tm="100000">
                                          <p:val>
                                            <p:strVal val="#ppt_w"/>
                                          </p:val>
                                        </p:tav>
                                      </p:tavLst>
                                    </p:anim>
                                    <p:anim calcmode="lin" valueType="num">
                                      <p:cBhvr>
                                        <p:cTn id="133" dur="300" fill="hold"/>
                                        <p:tgtEl>
                                          <p:spTgt spid="26"/>
                                        </p:tgtEl>
                                        <p:attrNameLst>
                                          <p:attrName>ppt_h</p:attrName>
                                        </p:attrNameLst>
                                      </p:cBhvr>
                                      <p:tavLst>
                                        <p:tav tm="0">
                                          <p:val>
                                            <p:strVal val="#ppt_h*0.3"/>
                                          </p:val>
                                        </p:tav>
                                        <p:tav tm="100000">
                                          <p:val>
                                            <p:strVal val="#ppt_h"/>
                                          </p:val>
                                        </p:tav>
                                      </p:tavLst>
                                    </p:anim>
                                  </p:childTnLst>
                                </p:cTn>
                              </p:par>
                              <p:par>
                                <p:cTn id="134" presetID="53" presetClass="entr" presetSubtype="16" fill="hold" grpId="0" nodeType="withEffect">
                                  <p:stCondLst>
                                    <p:cond delay="0"/>
                                  </p:stCondLst>
                                  <p:childTnLst>
                                    <p:set>
                                      <p:cBhvr>
                                        <p:cTn id="135" dur="1" fill="hold">
                                          <p:stCondLst>
                                            <p:cond delay="0"/>
                                          </p:stCondLst>
                                        </p:cTn>
                                        <p:tgtEl>
                                          <p:spTgt spid="27"/>
                                        </p:tgtEl>
                                        <p:attrNameLst>
                                          <p:attrName>style.visibility</p:attrName>
                                        </p:attrNameLst>
                                      </p:cBhvr>
                                      <p:to>
                                        <p:strVal val="visible"/>
                                      </p:to>
                                    </p:set>
                                    <p:animEffect transition="in" filter="fade">
                                      <p:cBhvr>
                                        <p:cTn id="136" dur="300"/>
                                        <p:tgtEl>
                                          <p:spTgt spid="27"/>
                                        </p:tgtEl>
                                      </p:cBhvr>
                                    </p:animEffect>
                                    <p:anim calcmode="lin" valueType="num">
                                      <p:cBhvr>
                                        <p:cTn id="137" dur="300" fill="hold"/>
                                        <p:tgtEl>
                                          <p:spTgt spid="27"/>
                                        </p:tgtEl>
                                        <p:attrNameLst>
                                          <p:attrName>ppt_w</p:attrName>
                                        </p:attrNameLst>
                                      </p:cBhvr>
                                      <p:tavLst>
                                        <p:tav tm="0">
                                          <p:val>
                                            <p:strVal val="#ppt_w*0.3"/>
                                          </p:val>
                                        </p:tav>
                                        <p:tav tm="100000">
                                          <p:val>
                                            <p:strVal val="#ppt_w"/>
                                          </p:val>
                                        </p:tav>
                                      </p:tavLst>
                                    </p:anim>
                                    <p:anim calcmode="lin" valueType="num">
                                      <p:cBhvr>
                                        <p:cTn id="138" dur="300" fill="hold"/>
                                        <p:tgtEl>
                                          <p:spTgt spid="27"/>
                                        </p:tgtEl>
                                        <p:attrNameLst>
                                          <p:attrName>ppt_h</p:attrName>
                                        </p:attrNameLst>
                                      </p:cBhvr>
                                      <p:tavLst>
                                        <p:tav tm="0">
                                          <p:val>
                                            <p:strVal val="#ppt_h*0.3"/>
                                          </p:val>
                                        </p:tav>
                                        <p:tav tm="100000">
                                          <p:val>
                                            <p:strVal val="#ppt_h"/>
                                          </p:val>
                                        </p:tav>
                                      </p:tavLst>
                                    </p:anim>
                                  </p:childTnLst>
                                </p:cTn>
                              </p:par>
                              <p:par>
                                <p:cTn id="139" presetID="53" presetClass="entr" presetSubtype="16" fill="hold" grpId="0" nodeType="withEffect">
                                  <p:stCondLst>
                                    <p:cond delay="0"/>
                                  </p:stCondLst>
                                  <p:childTnLst>
                                    <p:set>
                                      <p:cBhvr>
                                        <p:cTn id="140" dur="1" fill="hold">
                                          <p:stCondLst>
                                            <p:cond delay="0"/>
                                          </p:stCondLst>
                                        </p:cTn>
                                        <p:tgtEl>
                                          <p:spTgt spid="28"/>
                                        </p:tgtEl>
                                        <p:attrNameLst>
                                          <p:attrName>style.visibility</p:attrName>
                                        </p:attrNameLst>
                                      </p:cBhvr>
                                      <p:to>
                                        <p:strVal val="visible"/>
                                      </p:to>
                                    </p:set>
                                    <p:animEffect transition="in" filter="fade">
                                      <p:cBhvr>
                                        <p:cTn id="141" dur="300"/>
                                        <p:tgtEl>
                                          <p:spTgt spid="28"/>
                                        </p:tgtEl>
                                      </p:cBhvr>
                                    </p:animEffect>
                                    <p:anim calcmode="lin" valueType="num">
                                      <p:cBhvr>
                                        <p:cTn id="142" dur="300" fill="hold"/>
                                        <p:tgtEl>
                                          <p:spTgt spid="28"/>
                                        </p:tgtEl>
                                        <p:attrNameLst>
                                          <p:attrName>ppt_w</p:attrName>
                                        </p:attrNameLst>
                                      </p:cBhvr>
                                      <p:tavLst>
                                        <p:tav tm="0">
                                          <p:val>
                                            <p:strVal val="#ppt_w*0.3"/>
                                          </p:val>
                                        </p:tav>
                                        <p:tav tm="100000">
                                          <p:val>
                                            <p:strVal val="#ppt_w"/>
                                          </p:val>
                                        </p:tav>
                                      </p:tavLst>
                                    </p:anim>
                                    <p:anim calcmode="lin" valueType="num">
                                      <p:cBhvr>
                                        <p:cTn id="143" dur="300" fill="hold"/>
                                        <p:tgtEl>
                                          <p:spTgt spid="28"/>
                                        </p:tgtEl>
                                        <p:attrNameLst>
                                          <p:attrName>ppt_h</p:attrName>
                                        </p:attrNameLst>
                                      </p:cBhvr>
                                      <p:tavLst>
                                        <p:tav tm="0">
                                          <p:val>
                                            <p:strVal val="#ppt_h*0.3"/>
                                          </p:val>
                                        </p:tav>
                                        <p:tav tm="100000">
                                          <p:val>
                                            <p:strVal val="#ppt_h"/>
                                          </p:val>
                                        </p:tav>
                                      </p:tavLst>
                                    </p:anim>
                                  </p:childTnLst>
                                </p:cTn>
                              </p:par>
                            </p:childTnLst>
                          </p:cTn>
                        </p:par>
                        <p:par>
                          <p:cTn id="165" fill="hold">
                            <p:stCondLst>
                              <p:cond delay="1350"/>
                            </p:stCondLst>
                            <p:childTnLst>
                              <p:par>
                                <p:cTn id="145" presetID="53" presetClass="entr" presetSubtype="16" fill="hold" grpId="0" nodeType="afterEffect">
                                  <p:stCondLst>
                                    <p:cond delay="0"/>
                                  </p:stCondLst>
                                  <p:childTnLst>
                                    <p:set>
                                      <p:cBhvr>
                                        <p:cTn id="146" dur="1" fill="hold">
                                          <p:stCondLst>
                                            <p:cond delay="0"/>
                                          </p:stCondLst>
                                        </p:cTn>
                                        <p:tgtEl>
                                          <p:spTgt spid="29"/>
                                        </p:tgtEl>
                                        <p:attrNameLst>
                                          <p:attrName>style.visibility</p:attrName>
                                        </p:attrNameLst>
                                      </p:cBhvr>
                                      <p:to>
                                        <p:strVal val="visible"/>
                                      </p:to>
                                    </p:set>
                                    <p:animEffect transition="in" filter="fade">
                                      <p:cBhvr>
                                        <p:cTn id="147" dur="300"/>
                                        <p:tgtEl>
                                          <p:spTgt spid="29"/>
                                        </p:tgtEl>
                                      </p:cBhvr>
                                    </p:animEffect>
                                    <p:anim calcmode="lin" valueType="num">
                                      <p:cBhvr>
                                        <p:cTn id="148" dur="300" fill="hold"/>
                                        <p:tgtEl>
                                          <p:spTgt spid="29"/>
                                        </p:tgtEl>
                                        <p:attrNameLst>
                                          <p:attrName>ppt_w</p:attrName>
                                        </p:attrNameLst>
                                      </p:cBhvr>
                                      <p:tavLst>
                                        <p:tav tm="0">
                                          <p:val>
                                            <p:strVal val="#ppt_w*0.3"/>
                                          </p:val>
                                        </p:tav>
                                        <p:tav tm="100000">
                                          <p:val>
                                            <p:strVal val="#ppt_w"/>
                                          </p:val>
                                        </p:tav>
                                      </p:tavLst>
                                    </p:anim>
                                    <p:anim calcmode="lin" valueType="num">
                                      <p:cBhvr>
                                        <p:cTn id="149" dur="300" fill="hold"/>
                                        <p:tgtEl>
                                          <p:spTgt spid="29"/>
                                        </p:tgtEl>
                                        <p:attrNameLst>
                                          <p:attrName>ppt_h</p:attrName>
                                        </p:attrNameLst>
                                      </p:cBhvr>
                                      <p:tavLst>
                                        <p:tav tm="0">
                                          <p:val>
                                            <p:strVal val="#ppt_h*0.3"/>
                                          </p:val>
                                        </p:tav>
                                        <p:tav tm="100000">
                                          <p:val>
                                            <p:strVal val="#ppt_h"/>
                                          </p:val>
                                        </p:tav>
                                      </p:tavLst>
                                    </p:anim>
                                  </p:childTnLst>
                                </p:cTn>
                              </p:par>
                              <p:par>
                                <p:cTn id="150" presetID="53" presetClass="entr" presetSubtype="16" fill="hold" grpId="0" nodeType="withEffect">
                                  <p:stCondLst>
                                    <p:cond delay="0"/>
                                  </p:stCondLst>
                                  <p:childTnLst>
                                    <p:set>
                                      <p:cBhvr>
                                        <p:cTn id="151" dur="1" fill="hold">
                                          <p:stCondLst>
                                            <p:cond delay="0"/>
                                          </p:stCondLst>
                                        </p:cTn>
                                        <p:tgtEl>
                                          <p:spTgt spid="30"/>
                                        </p:tgtEl>
                                        <p:attrNameLst>
                                          <p:attrName>style.visibility</p:attrName>
                                        </p:attrNameLst>
                                      </p:cBhvr>
                                      <p:to>
                                        <p:strVal val="visible"/>
                                      </p:to>
                                    </p:set>
                                    <p:animEffect transition="in" filter="fade">
                                      <p:cBhvr>
                                        <p:cTn id="152" dur="300"/>
                                        <p:tgtEl>
                                          <p:spTgt spid="30"/>
                                        </p:tgtEl>
                                      </p:cBhvr>
                                    </p:animEffect>
                                    <p:anim calcmode="lin" valueType="num">
                                      <p:cBhvr>
                                        <p:cTn id="153" dur="300" fill="hold"/>
                                        <p:tgtEl>
                                          <p:spTgt spid="30"/>
                                        </p:tgtEl>
                                        <p:attrNameLst>
                                          <p:attrName>ppt_w</p:attrName>
                                        </p:attrNameLst>
                                      </p:cBhvr>
                                      <p:tavLst>
                                        <p:tav tm="0">
                                          <p:val>
                                            <p:strVal val="#ppt_w*0.3"/>
                                          </p:val>
                                        </p:tav>
                                        <p:tav tm="100000">
                                          <p:val>
                                            <p:strVal val="#ppt_w"/>
                                          </p:val>
                                        </p:tav>
                                      </p:tavLst>
                                    </p:anim>
                                    <p:anim calcmode="lin" valueType="num">
                                      <p:cBhvr>
                                        <p:cTn id="154" dur="300" fill="hold"/>
                                        <p:tgtEl>
                                          <p:spTgt spid="30"/>
                                        </p:tgtEl>
                                        <p:attrNameLst>
                                          <p:attrName>ppt_h</p:attrName>
                                        </p:attrNameLst>
                                      </p:cBhvr>
                                      <p:tavLst>
                                        <p:tav tm="0">
                                          <p:val>
                                            <p:strVal val="#ppt_h*0.3"/>
                                          </p:val>
                                        </p:tav>
                                        <p:tav tm="100000">
                                          <p:val>
                                            <p:strVal val="#ppt_h"/>
                                          </p:val>
                                        </p:tav>
                                      </p:tavLst>
                                    </p:anim>
                                  </p:childTnLst>
                                </p:cTn>
                              </p:par>
                              <p:par>
                                <p:cTn id="155" presetID="53" presetClass="entr" presetSubtype="16" fill="hold" grpId="0" nodeType="withEffect">
                                  <p:stCondLst>
                                    <p:cond delay="0"/>
                                  </p:stCondLst>
                                  <p:childTnLst>
                                    <p:set>
                                      <p:cBhvr>
                                        <p:cTn id="156" dur="1" fill="hold">
                                          <p:stCondLst>
                                            <p:cond delay="0"/>
                                          </p:stCondLst>
                                        </p:cTn>
                                        <p:tgtEl>
                                          <p:spTgt spid="31"/>
                                        </p:tgtEl>
                                        <p:attrNameLst>
                                          <p:attrName>style.visibility</p:attrName>
                                        </p:attrNameLst>
                                      </p:cBhvr>
                                      <p:to>
                                        <p:strVal val="visible"/>
                                      </p:to>
                                    </p:set>
                                    <p:animEffect transition="in" filter="fade">
                                      <p:cBhvr>
                                        <p:cTn id="157" dur="300"/>
                                        <p:tgtEl>
                                          <p:spTgt spid="31"/>
                                        </p:tgtEl>
                                      </p:cBhvr>
                                    </p:animEffect>
                                    <p:anim calcmode="lin" valueType="num">
                                      <p:cBhvr>
                                        <p:cTn id="158" dur="300" fill="hold"/>
                                        <p:tgtEl>
                                          <p:spTgt spid="31"/>
                                        </p:tgtEl>
                                        <p:attrNameLst>
                                          <p:attrName>ppt_w</p:attrName>
                                        </p:attrNameLst>
                                      </p:cBhvr>
                                      <p:tavLst>
                                        <p:tav tm="0">
                                          <p:val>
                                            <p:strVal val="#ppt_w*0.3"/>
                                          </p:val>
                                        </p:tav>
                                        <p:tav tm="100000">
                                          <p:val>
                                            <p:strVal val="#ppt_w"/>
                                          </p:val>
                                        </p:tav>
                                      </p:tavLst>
                                    </p:anim>
                                    <p:anim calcmode="lin" valueType="num">
                                      <p:cBhvr>
                                        <p:cTn id="159" dur="300" fill="hold"/>
                                        <p:tgtEl>
                                          <p:spTgt spid="31"/>
                                        </p:tgtEl>
                                        <p:attrNameLst>
                                          <p:attrName>ppt_h</p:attrName>
                                        </p:attrNameLst>
                                      </p:cBhvr>
                                      <p:tavLst>
                                        <p:tav tm="0">
                                          <p:val>
                                            <p:strVal val="#ppt_h*0.3"/>
                                          </p:val>
                                        </p:tav>
                                        <p:tav tm="100000">
                                          <p:val>
                                            <p:strVal val="#ppt_h"/>
                                          </p:val>
                                        </p:tav>
                                      </p:tavLst>
                                    </p:anim>
                                  </p:childTnLst>
                                </p:cTn>
                              </p:par>
                              <p:par>
                                <p:cTn id="160" presetID="53" presetClass="entr" presetSubtype="16" fill="hold" grpId="0" nodeType="withEffect">
                                  <p:stCondLst>
                                    <p:cond delay="0"/>
                                  </p:stCondLst>
                                  <p:childTnLst>
                                    <p:set>
                                      <p:cBhvr>
                                        <p:cTn id="161" dur="1" fill="hold">
                                          <p:stCondLst>
                                            <p:cond delay="0"/>
                                          </p:stCondLst>
                                        </p:cTn>
                                        <p:tgtEl>
                                          <p:spTgt spid="32"/>
                                        </p:tgtEl>
                                        <p:attrNameLst>
                                          <p:attrName>style.visibility</p:attrName>
                                        </p:attrNameLst>
                                      </p:cBhvr>
                                      <p:to>
                                        <p:strVal val="visible"/>
                                      </p:to>
                                    </p:set>
                                    <p:animEffect transition="in" filter="fade">
                                      <p:cBhvr>
                                        <p:cTn id="162" dur="300"/>
                                        <p:tgtEl>
                                          <p:spTgt spid="32"/>
                                        </p:tgtEl>
                                      </p:cBhvr>
                                    </p:animEffect>
                                    <p:anim calcmode="lin" valueType="num">
                                      <p:cBhvr>
                                        <p:cTn id="163" dur="300" fill="hold"/>
                                        <p:tgtEl>
                                          <p:spTgt spid="32"/>
                                        </p:tgtEl>
                                        <p:attrNameLst>
                                          <p:attrName>ppt_w</p:attrName>
                                        </p:attrNameLst>
                                      </p:cBhvr>
                                      <p:tavLst>
                                        <p:tav tm="0">
                                          <p:val>
                                            <p:strVal val="#ppt_w*0.3"/>
                                          </p:val>
                                        </p:tav>
                                        <p:tav tm="100000">
                                          <p:val>
                                            <p:strVal val="#ppt_w"/>
                                          </p:val>
                                        </p:tav>
                                      </p:tavLst>
                                    </p:anim>
                                    <p:anim calcmode="lin" valueType="num">
                                      <p:cBhvr>
                                        <p:cTn id="164" dur="300" fill="hold"/>
                                        <p:tgtEl>
                                          <p:spTgt spid="32"/>
                                        </p:tgtEl>
                                        <p:attrNameLst>
                                          <p:attrName>ppt_h</p:attrName>
                                        </p:attrNameLst>
                                      </p:cBhvr>
                                      <p:tavLst>
                                        <p:tav tm="0">
                                          <p:val>
                                            <p:strVal val="#ppt_h*0.3"/>
                                          </p:val>
                                        </p:tav>
                                        <p:tav tm="100000">
                                          <p:val>
                                            <p:strVal val="#ppt_h"/>
                                          </p:val>
                                        </p:tav>
                                      </p:tavLst>
                                    </p:anim>
                                  </p:childTnLst>
                                </p:cTn>
                              </p:par>
                            </p:childTnLst>
                          </p:cTn>
                        </p:par>
                        <p:par>
                          <p:cTn id="186" fill="hold">
                            <p:stCondLst>
                              <p:cond delay="1470"/>
                            </p:stCondLst>
                            <p:childTnLst>
                              <p:par>
                                <p:cTn id="166" presetID="53" presetClass="entr" presetSubtype="16" fill="hold" grpId="0" nodeType="afterEffect">
                                  <p:stCondLst>
                                    <p:cond delay="0"/>
                                  </p:stCondLst>
                                  <p:childTnLst>
                                    <p:set>
                                      <p:cBhvr>
                                        <p:cTn id="167" dur="1" fill="hold">
                                          <p:stCondLst>
                                            <p:cond delay="0"/>
                                          </p:stCondLst>
                                        </p:cTn>
                                        <p:tgtEl>
                                          <p:spTgt spid="33"/>
                                        </p:tgtEl>
                                        <p:attrNameLst>
                                          <p:attrName>style.visibility</p:attrName>
                                        </p:attrNameLst>
                                      </p:cBhvr>
                                      <p:to>
                                        <p:strVal val="visible"/>
                                      </p:to>
                                    </p:set>
                                    <p:animEffect transition="in" filter="fade">
                                      <p:cBhvr>
                                        <p:cTn id="168" dur="300"/>
                                        <p:tgtEl>
                                          <p:spTgt spid="33"/>
                                        </p:tgtEl>
                                      </p:cBhvr>
                                    </p:animEffect>
                                    <p:anim calcmode="lin" valueType="num">
                                      <p:cBhvr>
                                        <p:cTn id="169" dur="300" fill="hold"/>
                                        <p:tgtEl>
                                          <p:spTgt spid="33"/>
                                        </p:tgtEl>
                                        <p:attrNameLst>
                                          <p:attrName>ppt_w</p:attrName>
                                        </p:attrNameLst>
                                      </p:cBhvr>
                                      <p:tavLst>
                                        <p:tav tm="0">
                                          <p:val>
                                            <p:strVal val="#ppt_w*0.3"/>
                                          </p:val>
                                        </p:tav>
                                        <p:tav tm="100000">
                                          <p:val>
                                            <p:strVal val="#ppt_w"/>
                                          </p:val>
                                        </p:tav>
                                      </p:tavLst>
                                    </p:anim>
                                    <p:anim calcmode="lin" valueType="num">
                                      <p:cBhvr>
                                        <p:cTn id="170" dur="300" fill="hold"/>
                                        <p:tgtEl>
                                          <p:spTgt spid="33"/>
                                        </p:tgtEl>
                                        <p:attrNameLst>
                                          <p:attrName>ppt_h</p:attrName>
                                        </p:attrNameLst>
                                      </p:cBhvr>
                                      <p:tavLst>
                                        <p:tav tm="0">
                                          <p:val>
                                            <p:strVal val="#ppt_h*0.3"/>
                                          </p:val>
                                        </p:tav>
                                        <p:tav tm="100000">
                                          <p:val>
                                            <p:strVal val="#ppt_h"/>
                                          </p:val>
                                        </p:tav>
                                      </p:tavLst>
                                    </p:anim>
                                  </p:childTnLst>
                                </p:cTn>
                              </p:par>
                              <p:par>
                                <p:cTn id="171" presetID="53" presetClass="entr" presetSubtype="16" fill="hold" grpId="0" nodeType="withEffect">
                                  <p:stCondLst>
                                    <p:cond delay="0"/>
                                  </p:stCondLst>
                                  <p:childTnLst>
                                    <p:set>
                                      <p:cBhvr>
                                        <p:cTn id="172" dur="1" fill="hold">
                                          <p:stCondLst>
                                            <p:cond delay="0"/>
                                          </p:stCondLst>
                                        </p:cTn>
                                        <p:tgtEl>
                                          <p:spTgt spid="34"/>
                                        </p:tgtEl>
                                        <p:attrNameLst>
                                          <p:attrName>style.visibility</p:attrName>
                                        </p:attrNameLst>
                                      </p:cBhvr>
                                      <p:to>
                                        <p:strVal val="visible"/>
                                      </p:to>
                                    </p:set>
                                    <p:animEffect transition="in" filter="fade">
                                      <p:cBhvr>
                                        <p:cTn id="173" dur="300"/>
                                        <p:tgtEl>
                                          <p:spTgt spid="34"/>
                                        </p:tgtEl>
                                      </p:cBhvr>
                                    </p:animEffect>
                                    <p:anim calcmode="lin" valueType="num">
                                      <p:cBhvr>
                                        <p:cTn id="174" dur="300" fill="hold"/>
                                        <p:tgtEl>
                                          <p:spTgt spid="34"/>
                                        </p:tgtEl>
                                        <p:attrNameLst>
                                          <p:attrName>ppt_w</p:attrName>
                                        </p:attrNameLst>
                                      </p:cBhvr>
                                      <p:tavLst>
                                        <p:tav tm="0">
                                          <p:val>
                                            <p:strVal val="#ppt_w*0.3"/>
                                          </p:val>
                                        </p:tav>
                                        <p:tav tm="100000">
                                          <p:val>
                                            <p:strVal val="#ppt_w"/>
                                          </p:val>
                                        </p:tav>
                                      </p:tavLst>
                                    </p:anim>
                                    <p:anim calcmode="lin" valueType="num">
                                      <p:cBhvr>
                                        <p:cTn id="175" dur="300" fill="hold"/>
                                        <p:tgtEl>
                                          <p:spTgt spid="34"/>
                                        </p:tgtEl>
                                        <p:attrNameLst>
                                          <p:attrName>ppt_h</p:attrName>
                                        </p:attrNameLst>
                                      </p:cBhvr>
                                      <p:tavLst>
                                        <p:tav tm="0">
                                          <p:val>
                                            <p:strVal val="#ppt_h*0.3"/>
                                          </p:val>
                                        </p:tav>
                                        <p:tav tm="100000">
                                          <p:val>
                                            <p:strVal val="#ppt_h"/>
                                          </p:val>
                                        </p:tav>
                                      </p:tavLst>
                                    </p:anim>
                                  </p:childTnLst>
                                </p:cTn>
                              </p:par>
                              <p:par>
                                <p:cTn id="176" presetID="53" presetClass="entr" presetSubtype="16" fill="hold" grpId="0" nodeType="withEffect">
                                  <p:stCondLst>
                                    <p:cond delay="0"/>
                                  </p:stCondLst>
                                  <p:childTnLst>
                                    <p:set>
                                      <p:cBhvr>
                                        <p:cTn id="177" dur="1" fill="hold">
                                          <p:stCondLst>
                                            <p:cond delay="0"/>
                                          </p:stCondLst>
                                        </p:cTn>
                                        <p:tgtEl>
                                          <p:spTgt spid="35"/>
                                        </p:tgtEl>
                                        <p:attrNameLst>
                                          <p:attrName>style.visibility</p:attrName>
                                        </p:attrNameLst>
                                      </p:cBhvr>
                                      <p:to>
                                        <p:strVal val="visible"/>
                                      </p:to>
                                    </p:set>
                                    <p:animEffect transition="in" filter="fade">
                                      <p:cBhvr>
                                        <p:cTn id="178" dur="300"/>
                                        <p:tgtEl>
                                          <p:spTgt spid="35"/>
                                        </p:tgtEl>
                                      </p:cBhvr>
                                    </p:animEffect>
                                    <p:anim calcmode="lin" valueType="num">
                                      <p:cBhvr>
                                        <p:cTn id="179" dur="300" fill="hold"/>
                                        <p:tgtEl>
                                          <p:spTgt spid="35"/>
                                        </p:tgtEl>
                                        <p:attrNameLst>
                                          <p:attrName>ppt_w</p:attrName>
                                        </p:attrNameLst>
                                      </p:cBhvr>
                                      <p:tavLst>
                                        <p:tav tm="0">
                                          <p:val>
                                            <p:strVal val="#ppt_w*0.3"/>
                                          </p:val>
                                        </p:tav>
                                        <p:tav tm="100000">
                                          <p:val>
                                            <p:strVal val="#ppt_w"/>
                                          </p:val>
                                        </p:tav>
                                      </p:tavLst>
                                    </p:anim>
                                    <p:anim calcmode="lin" valueType="num">
                                      <p:cBhvr>
                                        <p:cTn id="180" dur="300" fill="hold"/>
                                        <p:tgtEl>
                                          <p:spTgt spid="35"/>
                                        </p:tgtEl>
                                        <p:attrNameLst>
                                          <p:attrName>ppt_h</p:attrName>
                                        </p:attrNameLst>
                                      </p:cBhvr>
                                      <p:tavLst>
                                        <p:tav tm="0">
                                          <p:val>
                                            <p:strVal val="#ppt_h*0.3"/>
                                          </p:val>
                                        </p:tav>
                                        <p:tav tm="100000">
                                          <p:val>
                                            <p:strVal val="#ppt_h"/>
                                          </p:val>
                                        </p:tav>
                                      </p:tavLst>
                                    </p:anim>
                                  </p:childTnLst>
                                </p:cTn>
                              </p:par>
                              <p:par>
                                <p:cTn id="181" presetID="53" presetClass="entr" presetSubtype="16" fill="hold" grpId="0" nodeType="withEffect">
                                  <p:stCondLst>
                                    <p:cond delay="0"/>
                                  </p:stCondLst>
                                  <p:childTnLst>
                                    <p:set>
                                      <p:cBhvr>
                                        <p:cTn id="182" dur="1" fill="hold">
                                          <p:stCondLst>
                                            <p:cond delay="0"/>
                                          </p:stCondLst>
                                        </p:cTn>
                                        <p:tgtEl>
                                          <p:spTgt spid="36"/>
                                        </p:tgtEl>
                                        <p:attrNameLst>
                                          <p:attrName>style.visibility</p:attrName>
                                        </p:attrNameLst>
                                      </p:cBhvr>
                                      <p:to>
                                        <p:strVal val="visible"/>
                                      </p:to>
                                    </p:set>
                                    <p:animEffect transition="in" filter="fade">
                                      <p:cBhvr>
                                        <p:cTn id="183" dur="300"/>
                                        <p:tgtEl>
                                          <p:spTgt spid="36"/>
                                        </p:tgtEl>
                                      </p:cBhvr>
                                    </p:animEffect>
                                    <p:anim calcmode="lin" valueType="num">
                                      <p:cBhvr>
                                        <p:cTn id="184" dur="300" fill="hold"/>
                                        <p:tgtEl>
                                          <p:spTgt spid="36"/>
                                        </p:tgtEl>
                                        <p:attrNameLst>
                                          <p:attrName>ppt_w</p:attrName>
                                        </p:attrNameLst>
                                      </p:cBhvr>
                                      <p:tavLst>
                                        <p:tav tm="0">
                                          <p:val>
                                            <p:strVal val="#ppt_w*0.3"/>
                                          </p:val>
                                        </p:tav>
                                        <p:tav tm="100000">
                                          <p:val>
                                            <p:strVal val="#ppt_w"/>
                                          </p:val>
                                        </p:tav>
                                      </p:tavLst>
                                    </p:anim>
                                    <p:anim calcmode="lin" valueType="num">
                                      <p:cBhvr>
                                        <p:cTn id="185" dur="300" fill="hold"/>
                                        <p:tgtEl>
                                          <p:spTgt spid="36"/>
                                        </p:tgtEl>
                                        <p:attrNameLst>
                                          <p:attrName>ppt_h</p:attrName>
                                        </p:attrNameLst>
                                      </p:cBhvr>
                                      <p:tavLst>
                                        <p:tav tm="0">
                                          <p:val>
                                            <p:strVal val="#ppt_h*0.3"/>
                                          </p:val>
                                        </p:tav>
                                        <p:tav tm="100000">
                                          <p:val>
                                            <p:strVal val="#ppt_h"/>
                                          </p:val>
                                        </p:tav>
                                      </p:tavLst>
                                    </p:anim>
                                  </p:childTnLst>
                                </p:cTn>
                              </p:par>
                            </p:childTnLst>
                          </p:cTn>
                        </p:par>
                        <p:par>
                          <p:cTn id="207" fill="hold">
                            <p:stCondLst>
                              <p:cond delay="1590"/>
                            </p:stCondLst>
                            <p:childTnLst>
                              <p:par>
                                <p:cTn id="187" presetID="53" presetClass="entr" presetSubtype="16" fill="hold" grpId="0" nodeType="afterEffect">
                                  <p:stCondLst>
                                    <p:cond delay="0"/>
                                  </p:stCondLst>
                                  <p:childTnLst>
                                    <p:set>
                                      <p:cBhvr>
                                        <p:cTn id="188" dur="1" fill="hold">
                                          <p:stCondLst>
                                            <p:cond delay="0"/>
                                          </p:stCondLst>
                                        </p:cTn>
                                        <p:tgtEl>
                                          <p:spTgt spid="37"/>
                                        </p:tgtEl>
                                        <p:attrNameLst>
                                          <p:attrName>style.visibility</p:attrName>
                                        </p:attrNameLst>
                                      </p:cBhvr>
                                      <p:to>
                                        <p:strVal val="visible"/>
                                      </p:to>
                                    </p:set>
                                    <p:animEffect transition="in" filter="fade">
                                      <p:cBhvr>
                                        <p:cTn id="189" dur="300"/>
                                        <p:tgtEl>
                                          <p:spTgt spid="37"/>
                                        </p:tgtEl>
                                      </p:cBhvr>
                                    </p:animEffect>
                                    <p:anim calcmode="lin" valueType="num">
                                      <p:cBhvr>
                                        <p:cTn id="190" dur="300" fill="hold"/>
                                        <p:tgtEl>
                                          <p:spTgt spid="37"/>
                                        </p:tgtEl>
                                        <p:attrNameLst>
                                          <p:attrName>ppt_w</p:attrName>
                                        </p:attrNameLst>
                                      </p:cBhvr>
                                      <p:tavLst>
                                        <p:tav tm="0">
                                          <p:val>
                                            <p:strVal val="#ppt_w*0.3"/>
                                          </p:val>
                                        </p:tav>
                                        <p:tav tm="100000">
                                          <p:val>
                                            <p:strVal val="#ppt_w"/>
                                          </p:val>
                                        </p:tav>
                                      </p:tavLst>
                                    </p:anim>
                                    <p:anim calcmode="lin" valueType="num">
                                      <p:cBhvr>
                                        <p:cTn id="191" dur="300" fill="hold"/>
                                        <p:tgtEl>
                                          <p:spTgt spid="37"/>
                                        </p:tgtEl>
                                        <p:attrNameLst>
                                          <p:attrName>ppt_h</p:attrName>
                                        </p:attrNameLst>
                                      </p:cBhvr>
                                      <p:tavLst>
                                        <p:tav tm="0">
                                          <p:val>
                                            <p:strVal val="#ppt_h*0.3"/>
                                          </p:val>
                                        </p:tav>
                                        <p:tav tm="100000">
                                          <p:val>
                                            <p:strVal val="#ppt_h"/>
                                          </p:val>
                                        </p:tav>
                                      </p:tavLst>
                                    </p:anim>
                                  </p:childTnLst>
                                </p:cTn>
                              </p:par>
                              <p:par>
                                <p:cTn id="192" presetID="53" presetClass="entr" presetSubtype="16" fill="hold" grpId="0" nodeType="withEffect">
                                  <p:stCondLst>
                                    <p:cond delay="0"/>
                                  </p:stCondLst>
                                  <p:childTnLst>
                                    <p:set>
                                      <p:cBhvr>
                                        <p:cTn id="193" dur="1" fill="hold">
                                          <p:stCondLst>
                                            <p:cond delay="0"/>
                                          </p:stCondLst>
                                        </p:cTn>
                                        <p:tgtEl>
                                          <p:spTgt spid="38"/>
                                        </p:tgtEl>
                                        <p:attrNameLst>
                                          <p:attrName>style.visibility</p:attrName>
                                        </p:attrNameLst>
                                      </p:cBhvr>
                                      <p:to>
                                        <p:strVal val="visible"/>
                                      </p:to>
                                    </p:set>
                                    <p:animEffect transition="in" filter="fade">
                                      <p:cBhvr>
                                        <p:cTn id="194" dur="300"/>
                                        <p:tgtEl>
                                          <p:spTgt spid="38"/>
                                        </p:tgtEl>
                                      </p:cBhvr>
                                    </p:animEffect>
                                    <p:anim calcmode="lin" valueType="num">
                                      <p:cBhvr>
                                        <p:cTn id="195" dur="300" fill="hold"/>
                                        <p:tgtEl>
                                          <p:spTgt spid="38"/>
                                        </p:tgtEl>
                                        <p:attrNameLst>
                                          <p:attrName>ppt_w</p:attrName>
                                        </p:attrNameLst>
                                      </p:cBhvr>
                                      <p:tavLst>
                                        <p:tav tm="0">
                                          <p:val>
                                            <p:strVal val="#ppt_w*0.3"/>
                                          </p:val>
                                        </p:tav>
                                        <p:tav tm="100000">
                                          <p:val>
                                            <p:strVal val="#ppt_w"/>
                                          </p:val>
                                        </p:tav>
                                      </p:tavLst>
                                    </p:anim>
                                    <p:anim calcmode="lin" valueType="num">
                                      <p:cBhvr>
                                        <p:cTn id="196" dur="300" fill="hold"/>
                                        <p:tgtEl>
                                          <p:spTgt spid="38"/>
                                        </p:tgtEl>
                                        <p:attrNameLst>
                                          <p:attrName>ppt_h</p:attrName>
                                        </p:attrNameLst>
                                      </p:cBhvr>
                                      <p:tavLst>
                                        <p:tav tm="0">
                                          <p:val>
                                            <p:strVal val="#ppt_h*0.3"/>
                                          </p:val>
                                        </p:tav>
                                        <p:tav tm="100000">
                                          <p:val>
                                            <p:strVal val="#ppt_h"/>
                                          </p:val>
                                        </p:tav>
                                      </p:tavLst>
                                    </p:anim>
                                  </p:childTnLst>
                                </p:cTn>
                              </p:par>
                              <p:par>
                                <p:cTn id="197" presetID="53" presetClass="entr" presetSubtype="16" fill="hold" grpId="0" nodeType="withEffect">
                                  <p:stCondLst>
                                    <p:cond delay="0"/>
                                  </p:stCondLst>
                                  <p:childTnLst>
                                    <p:set>
                                      <p:cBhvr>
                                        <p:cTn id="198" dur="1" fill="hold">
                                          <p:stCondLst>
                                            <p:cond delay="0"/>
                                          </p:stCondLst>
                                        </p:cTn>
                                        <p:tgtEl>
                                          <p:spTgt spid="39"/>
                                        </p:tgtEl>
                                        <p:attrNameLst>
                                          <p:attrName>style.visibility</p:attrName>
                                        </p:attrNameLst>
                                      </p:cBhvr>
                                      <p:to>
                                        <p:strVal val="visible"/>
                                      </p:to>
                                    </p:set>
                                    <p:animEffect transition="in" filter="fade">
                                      <p:cBhvr>
                                        <p:cTn id="199" dur="300"/>
                                        <p:tgtEl>
                                          <p:spTgt spid="39"/>
                                        </p:tgtEl>
                                      </p:cBhvr>
                                    </p:animEffect>
                                    <p:anim calcmode="lin" valueType="num">
                                      <p:cBhvr>
                                        <p:cTn id="200" dur="300" fill="hold"/>
                                        <p:tgtEl>
                                          <p:spTgt spid="39"/>
                                        </p:tgtEl>
                                        <p:attrNameLst>
                                          <p:attrName>ppt_w</p:attrName>
                                        </p:attrNameLst>
                                      </p:cBhvr>
                                      <p:tavLst>
                                        <p:tav tm="0">
                                          <p:val>
                                            <p:strVal val="#ppt_w*0.3"/>
                                          </p:val>
                                        </p:tav>
                                        <p:tav tm="100000">
                                          <p:val>
                                            <p:strVal val="#ppt_w"/>
                                          </p:val>
                                        </p:tav>
                                      </p:tavLst>
                                    </p:anim>
                                    <p:anim calcmode="lin" valueType="num">
                                      <p:cBhvr>
                                        <p:cTn id="201" dur="300" fill="hold"/>
                                        <p:tgtEl>
                                          <p:spTgt spid="39"/>
                                        </p:tgtEl>
                                        <p:attrNameLst>
                                          <p:attrName>ppt_h</p:attrName>
                                        </p:attrNameLst>
                                      </p:cBhvr>
                                      <p:tavLst>
                                        <p:tav tm="0">
                                          <p:val>
                                            <p:strVal val="#ppt_h*0.3"/>
                                          </p:val>
                                        </p:tav>
                                        <p:tav tm="100000">
                                          <p:val>
                                            <p:strVal val="#ppt_h"/>
                                          </p:val>
                                        </p:tav>
                                      </p:tavLst>
                                    </p:anim>
                                  </p:childTnLst>
                                </p:cTn>
                              </p:par>
                              <p:par>
                                <p:cTn id="202" presetID="53" presetClass="entr" presetSubtype="16" fill="hold" grpId="0" nodeType="withEffect">
                                  <p:stCondLst>
                                    <p:cond delay="0"/>
                                  </p:stCondLst>
                                  <p:childTnLst>
                                    <p:set>
                                      <p:cBhvr>
                                        <p:cTn id="203" dur="1" fill="hold">
                                          <p:stCondLst>
                                            <p:cond delay="0"/>
                                          </p:stCondLst>
                                        </p:cTn>
                                        <p:tgtEl>
                                          <p:spTgt spid="40"/>
                                        </p:tgtEl>
                                        <p:attrNameLst>
                                          <p:attrName>style.visibility</p:attrName>
                                        </p:attrNameLst>
                                      </p:cBhvr>
                                      <p:to>
                                        <p:strVal val="visible"/>
                                      </p:to>
                                    </p:set>
                                    <p:animEffect transition="in" filter="fade">
                                      <p:cBhvr>
                                        <p:cTn id="204" dur="300"/>
                                        <p:tgtEl>
                                          <p:spTgt spid="40"/>
                                        </p:tgtEl>
                                      </p:cBhvr>
                                    </p:animEffect>
                                    <p:anim calcmode="lin" valueType="num">
                                      <p:cBhvr>
                                        <p:cTn id="205" dur="300" fill="hold"/>
                                        <p:tgtEl>
                                          <p:spTgt spid="40"/>
                                        </p:tgtEl>
                                        <p:attrNameLst>
                                          <p:attrName>ppt_w</p:attrName>
                                        </p:attrNameLst>
                                      </p:cBhvr>
                                      <p:tavLst>
                                        <p:tav tm="0">
                                          <p:val>
                                            <p:strVal val="#ppt_w*0.3"/>
                                          </p:val>
                                        </p:tav>
                                        <p:tav tm="100000">
                                          <p:val>
                                            <p:strVal val="#ppt_w"/>
                                          </p:val>
                                        </p:tav>
                                      </p:tavLst>
                                    </p:anim>
                                    <p:anim calcmode="lin" valueType="num">
                                      <p:cBhvr>
                                        <p:cTn id="206" dur="300" fill="hold"/>
                                        <p:tgtEl>
                                          <p:spTgt spid="40"/>
                                        </p:tgtEl>
                                        <p:attrNameLst>
                                          <p:attrName>ppt_h</p:attrName>
                                        </p:attrNameLst>
                                      </p:cBhvr>
                                      <p:tavLst>
                                        <p:tav tm="0">
                                          <p:val>
                                            <p:strVal val="#ppt_h*0.3"/>
                                          </p:val>
                                        </p:tav>
                                        <p:tav tm="100000">
                                          <p:val>
                                            <p:strVal val="#ppt_h"/>
                                          </p:val>
                                        </p:tav>
                                      </p:tavLst>
                                    </p:anim>
                                  </p:childTnLst>
                                </p:cTn>
                              </p:par>
                            </p:childTnLst>
                          </p:cTn>
                        </p:par>
                        <p:par>
                          <p:cTn id="228" fill="hold">
                            <p:stCondLst>
                              <p:cond delay="1710"/>
                            </p:stCondLst>
                            <p:childTnLst>
                              <p:par>
                                <p:cTn id="208" presetID="53" presetClass="entr" presetSubtype="16" fill="hold" grpId="0" nodeType="afterEffect">
                                  <p:stCondLst>
                                    <p:cond delay="0"/>
                                  </p:stCondLst>
                                  <p:childTnLst>
                                    <p:set>
                                      <p:cBhvr>
                                        <p:cTn id="209" dur="1" fill="hold">
                                          <p:stCondLst>
                                            <p:cond delay="0"/>
                                          </p:stCondLst>
                                        </p:cTn>
                                        <p:tgtEl>
                                          <p:spTgt spid="41"/>
                                        </p:tgtEl>
                                        <p:attrNameLst>
                                          <p:attrName>style.visibility</p:attrName>
                                        </p:attrNameLst>
                                      </p:cBhvr>
                                      <p:to>
                                        <p:strVal val="visible"/>
                                      </p:to>
                                    </p:set>
                                    <p:animEffect transition="in" filter="fade">
                                      <p:cBhvr>
                                        <p:cTn id="210" dur="300"/>
                                        <p:tgtEl>
                                          <p:spTgt spid="41"/>
                                        </p:tgtEl>
                                      </p:cBhvr>
                                    </p:animEffect>
                                    <p:anim calcmode="lin" valueType="num">
                                      <p:cBhvr>
                                        <p:cTn id="211" dur="300" fill="hold"/>
                                        <p:tgtEl>
                                          <p:spTgt spid="41"/>
                                        </p:tgtEl>
                                        <p:attrNameLst>
                                          <p:attrName>ppt_w</p:attrName>
                                        </p:attrNameLst>
                                      </p:cBhvr>
                                      <p:tavLst>
                                        <p:tav tm="0">
                                          <p:val>
                                            <p:strVal val="#ppt_w*0.3"/>
                                          </p:val>
                                        </p:tav>
                                        <p:tav tm="100000">
                                          <p:val>
                                            <p:strVal val="#ppt_w"/>
                                          </p:val>
                                        </p:tav>
                                      </p:tavLst>
                                    </p:anim>
                                    <p:anim calcmode="lin" valueType="num">
                                      <p:cBhvr>
                                        <p:cTn id="212" dur="300" fill="hold"/>
                                        <p:tgtEl>
                                          <p:spTgt spid="41"/>
                                        </p:tgtEl>
                                        <p:attrNameLst>
                                          <p:attrName>ppt_h</p:attrName>
                                        </p:attrNameLst>
                                      </p:cBhvr>
                                      <p:tavLst>
                                        <p:tav tm="0">
                                          <p:val>
                                            <p:strVal val="#ppt_h*0.3"/>
                                          </p:val>
                                        </p:tav>
                                        <p:tav tm="100000">
                                          <p:val>
                                            <p:strVal val="#ppt_h"/>
                                          </p:val>
                                        </p:tav>
                                      </p:tavLst>
                                    </p:anim>
                                  </p:childTnLst>
                                </p:cTn>
                              </p:par>
                              <p:par>
                                <p:cTn id="213" presetID="53" presetClass="entr" presetSubtype="16" fill="hold" grpId="0" nodeType="withEffect">
                                  <p:stCondLst>
                                    <p:cond delay="0"/>
                                  </p:stCondLst>
                                  <p:childTnLst>
                                    <p:set>
                                      <p:cBhvr>
                                        <p:cTn id="214" dur="1" fill="hold">
                                          <p:stCondLst>
                                            <p:cond delay="0"/>
                                          </p:stCondLst>
                                        </p:cTn>
                                        <p:tgtEl>
                                          <p:spTgt spid="42"/>
                                        </p:tgtEl>
                                        <p:attrNameLst>
                                          <p:attrName>style.visibility</p:attrName>
                                        </p:attrNameLst>
                                      </p:cBhvr>
                                      <p:to>
                                        <p:strVal val="visible"/>
                                      </p:to>
                                    </p:set>
                                    <p:animEffect transition="in" filter="fade">
                                      <p:cBhvr>
                                        <p:cTn id="215" dur="300"/>
                                        <p:tgtEl>
                                          <p:spTgt spid="42"/>
                                        </p:tgtEl>
                                      </p:cBhvr>
                                    </p:animEffect>
                                    <p:anim calcmode="lin" valueType="num">
                                      <p:cBhvr>
                                        <p:cTn id="216" dur="300" fill="hold"/>
                                        <p:tgtEl>
                                          <p:spTgt spid="42"/>
                                        </p:tgtEl>
                                        <p:attrNameLst>
                                          <p:attrName>ppt_w</p:attrName>
                                        </p:attrNameLst>
                                      </p:cBhvr>
                                      <p:tavLst>
                                        <p:tav tm="0">
                                          <p:val>
                                            <p:strVal val="#ppt_w*0.3"/>
                                          </p:val>
                                        </p:tav>
                                        <p:tav tm="100000">
                                          <p:val>
                                            <p:strVal val="#ppt_w"/>
                                          </p:val>
                                        </p:tav>
                                      </p:tavLst>
                                    </p:anim>
                                    <p:anim calcmode="lin" valueType="num">
                                      <p:cBhvr>
                                        <p:cTn id="217" dur="300" fill="hold"/>
                                        <p:tgtEl>
                                          <p:spTgt spid="42"/>
                                        </p:tgtEl>
                                        <p:attrNameLst>
                                          <p:attrName>ppt_h</p:attrName>
                                        </p:attrNameLst>
                                      </p:cBhvr>
                                      <p:tavLst>
                                        <p:tav tm="0">
                                          <p:val>
                                            <p:strVal val="#ppt_h*0.3"/>
                                          </p:val>
                                        </p:tav>
                                        <p:tav tm="100000">
                                          <p:val>
                                            <p:strVal val="#ppt_h"/>
                                          </p:val>
                                        </p:tav>
                                      </p:tavLst>
                                    </p:anim>
                                  </p:childTnLst>
                                </p:cTn>
                              </p:par>
                              <p:par>
                                <p:cTn id="218" presetID="53" presetClass="entr" presetSubtype="16" fill="hold" grpId="0" nodeType="withEffect">
                                  <p:stCondLst>
                                    <p:cond delay="0"/>
                                  </p:stCondLst>
                                  <p:childTnLst>
                                    <p:set>
                                      <p:cBhvr>
                                        <p:cTn id="219" dur="1" fill="hold">
                                          <p:stCondLst>
                                            <p:cond delay="0"/>
                                          </p:stCondLst>
                                        </p:cTn>
                                        <p:tgtEl>
                                          <p:spTgt spid="43"/>
                                        </p:tgtEl>
                                        <p:attrNameLst>
                                          <p:attrName>style.visibility</p:attrName>
                                        </p:attrNameLst>
                                      </p:cBhvr>
                                      <p:to>
                                        <p:strVal val="visible"/>
                                      </p:to>
                                    </p:set>
                                    <p:animEffect transition="in" filter="fade">
                                      <p:cBhvr>
                                        <p:cTn id="220" dur="300"/>
                                        <p:tgtEl>
                                          <p:spTgt spid="43"/>
                                        </p:tgtEl>
                                      </p:cBhvr>
                                    </p:animEffect>
                                    <p:anim calcmode="lin" valueType="num">
                                      <p:cBhvr>
                                        <p:cTn id="221" dur="300" fill="hold"/>
                                        <p:tgtEl>
                                          <p:spTgt spid="43"/>
                                        </p:tgtEl>
                                        <p:attrNameLst>
                                          <p:attrName>ppt_w</p:attrName>
                                        </p:attrNameLst>
                                      </p:cBhvr>
                                      <p:tavLst>
                                        <p:tav tm="0">
                                          <p:val>
                                            <p:strVal val="#ppt_w*0.3"/>
                                          </p:val>
                                        </p:tav>
                                        <p:tav tm="100000">
                                          <p:val>
                                            <p:strVal val="#ppt_w"/>
                                          </p:val>
                                        </p:tav>
                                      </p:tavLst>
                                    </p:anim>
                                    <p:anim calcmode="lin" valueType="num">
                                      <p:cBhvr>
                                        <p:cTn id="222" dur="300" fill="hold"/>
                                        <p:tgtEl>
                                          <p:spTgt spid="43"/>
                                        </p:tgtEl>
                                        <p:attrNameLst>
                                          <p:attrName>ppt_h</p:attrName>
                                        </p:attrNameLst>
                                      </p:cBhvr>
                                      <p:tavLst>
                                        <p:tav tm="0">
                                          <p:val>
                                            <p:strVal val="#ppt_h*0.3"/>
                                          </p:val>
                                        </p:tav>
                                        <p:tav tm="100000">
                                          <p:val>
                                            <p:strVal val="#ppt_h"/>
                                          </p:val>
                                        </p:tav>
                                      </p:tavLst>
                                    </p:anim>
                                  </p:childTnLst>
                                </p:cTn>
                              </p:par>
                              <p:par>
                                <p:cTn id="223" presetID="53" presetClass="entr" presetSubtype="16" fill="hold" grpId="0" nodeType="withEffect">
                                  <p:stCondLst>
                                    <p:cond delay="0"/>
                                  </p:stCondLst>
                                  <p:childTnLst>
                                    <p:set>
                                      <p:cBhvr>
                                        <p:cTn id="224" dur="1" fill="hold">
                                          <p:stCondLst>
                                            <p:cond delay="0"/>
                                          </p:stCondLst>
                                        </p:cTn>
                                        <p:tgtEl>
                                          <p:spTgt spid="44"/>
                                        </p:tgtEl>
                                        <p:attrNameLst>
                                          <p:attrName>style.visibility</p:attrName>
                                        </p:attrNameLst>
                                      </p:cBhvr>
                                      <p:to>
                                        <p:strVal val="visible"/>
                                      </p:to>
                                    </p:set>
                                    <p:animEffect transition="in" filter="fade">
                                      <p:cBhvr>
                                        <p:cTn id="225" dur="300"/>
                                        <p:tgtEl>
                                          <p:spTgt spid="44"/>
                                        </p:tgtEl>
                                      </p:cBhvr>
                                    </p:animEffect>
                                    <p:anim calcmode="lin" valueType="num">
                                      <p:cBhvr>
                                        <p:cTn id="226" dur="300" fill="hold"/>
                                        <p:tgtEl>
                                          <p:spTgt spid="44"/>
                                        </p:tgtEl>
                                        <p:attrNameLst>
                                          <p:attrName>ppt_w</p:attrName>
                                        </p:attrNameLst>
                                      </p:cBhvr>
                                      <p:tavLst>
                                        <p:tav tm="0">
                                          <p:val>
                                            <p:strVal val="#ppt_w*0.3"/>
                                          </p:val>
                                        </p:tav>
                                        <p:tav tm="100000">
                                          <p:val>
                                            <p:strVal val="#ppt_w"/>
                                          </p:val>
                                        </p:tav>
                                      </p:tavLst>
                                    </p:anim>
                                    <p:anim calcmode="lin" valueType="num">
                                      <p:cBhvr>
                                        <p:cTn id="227" dur="300" fill="hold"/>
                                        <p:tgtEl>
                                          <p:spTgt spid="44"/>
                                        </p:tgtEl>
                                        <p:attrNameLst>
                                          <p:attrName>ppt_h</p:attrName>
                                        </p:attrNameLst>
                                      </p:cBhvr>
                                      <p:tavLst>
                                        <p:tav tm="0">
                                          <p:val>
                                            <p:strVal val="#ppt_h*0.3"/>
                                          </p:val>
                                        </p:tav>
                                        <p:tav tm="100000">
                                          <p:val>
                                            <p:strVal val="#ppt_h"/>
                                          </p:val>
                                        </p:tav>
                                      </p:tavLst>
                                    </p:anim>
                                  </p:childTnLst>
                                </p:cTn>
                              </p:par>
                            </p:childTnLst>
                          </p:cTn>
                        </p:par>
                        <p:par>
                          <p:cTn id="249" fill="hold">
                            <p:stCondLst>
                              <p:cond delay="1830"/>
                            </p:stCondLst>
                            <p:childTnLst>
                              <p:par>
                                <p:cTn id="229" presetID="53" presetClass="entr" presetSubtype="16" fill="hold" grpId="0" nodeType="afterEffect">
                                  <p:stCondLst>
                                    <p:cond delay="0"/>
                                  </p:stCondLst>
                                  <p:childTnLst>
                                    <p:set>
                                      <p:cBhvr>
                                        <p:cTn id="230" dur="1" fill="hold">
                                          <p:stCondLst>
                                            <p:cond delay="0"/>
                                          </p:stCondLst>
                                        </p:cTn>
                                        <p:tgtEl>
                                          <p:spTgt spid="45"/>
                                        </p:tgtEl>
                                        <p:attrNameLst>
                                          <p:attrName>style.visibility</p:attrName>
                                        </p:attrNameLst>
                                      </p:cBhvr>
                                      <p:to>
                                        <p:strVal val="visible"/>
                                      </p:to>
                                    </p:set>
                                    <p:animEffect transition="in" filter="fade">
                                      <p:cBhvr>
                                        <p:cTn id="231" dur="300"/>
                                        <p:tgtEl>
                                          <p:spTgt spid="45"/>
                                        </p:tgtEl>
                                      </p:cBhvr>
                                    </p:animEffect>
                                    <p:anim calcmode="lin" valueType="num">
                                      <p:cBhvr>
                                        <p:cTn id="232" dur="300" fill="hold"/>
                                        <p:tgtEl>
                                          <p:spTgt spid="45"/>
                                        </p:tgtEl>
                                        <p:attrNameLst>
                                          <p:attrName>ppt_w</p:attrName>
                                        </p:attrNameLst>
                                      </p:cBhvr>
                                      <p:tavLst>
                                        <p:tav tm="0">
                                          <p:val>
                                            <p:strVal val="#ppt_w*0.3"/>
                                          </p:val>
                                        </p:tav>
                                        <p:tav tm="100000">
                                          <p:val>
                                            <p:strVal val="#ppt_w"/>
                                          </p:val>
                                        </p:tav>
                                      </p:tavLst>
                                    </p:anim>
                                    <p:anim calcmode="lin" valueType="num">
                                      <p:cBhvr>
                                        <p:cTn id="233" dur="300" fill="hold"/>
                                        <p:tgtEl>
                                          <p:spTgt spid="45"/>
                                        </p:tgtEl>
                                        <p:attrNameLst>
                                          <p:attrName>ppt_h</p:attrName>
                                        </p:attrNameLst>
                                      </p:cBhvr>
                                      <p:tavLst>
                                        <p:tav tm="0">
                                          <p:val>
                                            <p:strVal val="#ppt_h*0.3"/>
                                          </p:val>
                                        </p:tav>
                                        <p:tav tm="100000">
                                          <p:val>
                                            <p:strVal val="#ppt_h"/>
                                          </p:val>
                                        </p:tav>
                                      </p:tavLst>
                                    </p:anim>
                                  </p:childTnLst>
                                </p:cTn>
                              </p:par>
                              <p:par>
                                <p:cTn id="234" presetID="53" presetClass="entr" presetSubtype="16" fill="hold" grpId="0" nodeType="withEffect">
                                  <p:stCondLst>
                                    <p:cond delay="0"/>
                                  </p:stCondLst>
                                  <p:childTnLst>
                                    <p:set>
                                      <p:cBhvr>
                                        <p:cTn id="235" dur="1" fill="hold">
                                          <p:stCondLst>
                                            <p:cond delay="0"/>
                                          </p:stCondLst>
                                        </p:cTn>
                                        <p:tgtEl>
                                          <p:spTgt spid="46"/>
                                        </p:tgtEl>
                                        <p:attrNameLst>
                                          <p:attrName>style.visibility</p:attrName>
                                        </p:attrNameLst>
                                      </p:cBhvr>
                                      <p:to>
                                        <p:strVal val="visible"/>
                                      </p:to>
                                    </p:set>
                                    <p:animEffect transition="in" filter="fade">
                                      <p:cBhvr>
                                        <p:cTn id="236" dur="300"/>
                                        <p:tgtEl>
                                          <p:spTgt spid="46"/>
                                        </p:tgtEl>
                                      </p:cBhvr>
                                    </p:animEffect>
                                    <p:anim calcmode="lin" valueType="num">
                                      <p:cBhvr>
                                        <p:cTn id="237" dur="300" fill="hold"/>
                                        <p:tgtEl>
                                          <p:spTgt spid="46"/>
                                        </p:tgtEl>
                                        <p:attrNameLst>
                                          <p:attrName>ppt_w</p:attrName>
                                        </p:attrNameLst>
                                      </p:cBhvr>
                                      <p:tavLst>
                                        <p:tav tm="0">
                                          <p:val>
                                            <p:strVal val="#ppt_w*0.3"/>
                                          </p:val>
                                        </p:tav>
                                        <p:tav tm="100000">
                                          <p:val>
                                            <p:strVal val="#ppt_w"/>
                                          </p:val>
                                        </p:tav>
                                      </p:tavLst>
                                    </p:anim>
                                    <p:anim calcmode="lin" valueType="num">
                                      <p:cBhvr>
                                        <p:cTn id="238" dur="300" fill="hold"/>
                                        <p:tgtEl>
                                          <p:spTgt spid="46"/>
                                        </p:tgtEl>
                                        <p:attrNameLst>
                                          <p:attrName>ppt_h</p:attrName>
                                        </p:attrNameLst>
                                      </p:cBhvr>
                                      <p:tavLst>
                                        <p:tav tm="0">
                                          <p:val>
                                            <p:strVal val="#ppt_h*0.3"/>
                                          </p:val>
                                        </p:tav>
                                        <p:tav tm="100000">
                                          <p:val>
                                            <p:strVal val="#ppt_h"/>
                                          </p:val>
                                        </p:tav>
                                      </p:tavLst>
                                    </p:anim>
                                  </p:childTnLst>
                                </p:cTn>
                              </p:par>
                              <p:par>
                                <p:cTn id="239" presetID="53" presetClass="entr" presetSubtype="16" fill="hold" grpId="0" nodeType="withEffect">
                                  <p:stCondLst>
                                    <p:cond delay="0"/>
                                  </p:stCondLst>
                                  <p:childTnLst>
                                    <p:set>
                                      <p:cBhvr>
                                        <p:cTn id="240" dur="1" fill="hold">
                                          <p:stCondLst>
                                            <p:cond delay="0"/>
                                          </p:stCondLst>
                                        </p:cTn>
                                        <p:tgtEl>
                                          <p:spTgt spid="47"/>
                                        </p:tgtEl>
                                        <p:attrNameLst>
                                          <p:attrName>style.visibility</p:attrName>
                                        </p:attrNameLst>
                                      </p:cBhvr>
                                      <p:to>
                                        <p:strVal val="visible"/>
                                      </p:to>
                                    </p:set>
                                    <p:animEffect transition="in" filter="fade">
                                      <p:cBhvr>
                                        <p:cTn id="241" dur="300"/>
                                        <p:tgtEl>
                                          <p:spTgt spid="47"/>
                                        </p:tgtEl>
                                      </p:cBhvr>
                                    </p:animEffect>
                                    <p:anim calcmode="lin" valueType="num">
                                      <p:cBhvr>
                                        <p:cTn id="242" dur="300" fill="hold"/>
                                        <p:tgtEl>
                                          <p:spTgt spid="47"/>
                                        </p:tgtEl>
                                        <p:attrNameLst>
                                          <p:attrName>ppt_w</p:attrName>
                                        </p:attrNameLst>
                                      </p:cBhvr>
                                      <p:tavLst>
                                        <p:tav tm="0">
                                          <p:val>
                                            <p:strVal val="#ppt_w*0.3"/>
                                          </p:val>
                                        </p:tav>
                                        <p:tav tm="100000">
                                          <p:val>
                                            <p:strVal val="#ppt_w"/>
                                          </p:val>
                                        </p:tav>
                                      </p:tavLst>
                                    </p:anim>
                                    <p:anim calcmode="lin" valueType="num">
                                      <p:cBhvr>
                                        <p:cTn id="243" dur="300" fill="hold"/>
                                        <p:tgtEl>
                                          <p:spTgt spid="47"/>
                                        </p:tgtEl>
                                        <p:attrNameLst>
                                          <p:attrName>ppt_h</p:attrName>
                                        </p:attrNameLst>
                                      </p:cBhvr>
                                      <p:tavLst>
                                        <p:tav tm="0">
                                          <p:val>
                                            <p:strVal val="#ppt_h*0.3"/>
                                          </p:val>
                                        </p:tav>
                                        <p:tav tm="100000">
                                          <p:val>
                                            <p:strVal val="#ppt_h"/>
                                          </p:val>
                                        </p:tav>
                                      </p:tavLst>
                                    </p:anim>
                                  </p:childTnLst>
                                </p:cTn>
                              </p:par>
                              <p:par>
                                <p:cTn id="244" presetID="53" presetClass="entr" presetSubtype="16" fill="hold" grpId="0" nodeType="withEffect">
                                  <p:stCondLst>
                                    <p:cond delay="0"/>
                                  </p:stCondLst>
                                  <p:childTnLst>
                                    <p:set>
                                      <p:cBhvr>
                                        <p:cTn id="245" dur="1" fill="hold">
                                          <p:stCondLst>
                                            <p:cond delay="0"/>
                                          </p:stCondLst>
                                        </p:cTn>
                                        <p:tgtEl>
                                          <p:spTgt spid="48"/>
                                        </p:tgtEl>
                                        <p:attrNameLst>
                                          <p:attrName>style.visibility</p:attrName>
                                        </p:attrNameLst>
                                      </p:cBhvr>
                                      <p:to>
                                        <p:strVal val="visible"/>
                                      </p:to>
                                    </p:set>
                                    <p:animEffect transition="in" filter="fade">
                                      <p:cBhvr>
                                        <p:cTn id="246" dur="300"/>
                                        <p:tgtEl>
                                          <p:spTgt spid="48"/>
                                        </p:tgtEl>
                                      </p:cBhvr>
                                    </p:animEffect>
                                    <p:anim calcmode="lin" valueType="num">
                                      <p:cBhvr>
                                        <p:cTn id="247" dur="300" fill="hold"/>
                                        <p:tgtEl>
                                          <p:spTgt spid="48"/>
                                        </p:tgtEl>
                                        <p:attrNameLst>
                                          <p:attrName>ppt_w</p:attrName>
                                        </p:attrNameLst>
                                      </p:cBhvr>
                                      <p:tavLst>
                                        <p:tav tm="0">
                                          <p:val>
                                            <p:strVal val="#ppt_w*0.3"/>
                                          </p:val>
                                        </p:tav>
                                        <p:tav tm="100000">
                                          <p:val>
                                            <p:strVal val="#ppt_w"/>
                                          </p:val>
                                        </p:tav>
                                      </p:tavLst>
                                    </p:anim>
                                    <p:anim calcmode="lin" valueType="num">
                                      <p:cBhvr>
                                        <p:cTn id="248" dur="300" fill="hold"/>
                                        <p:tgtEl>
                                          <p:spTgt spid="48"/>
                                        </p:tgtEl>
                                        <p:attrNameLst>
                                          <p:attrName>ppt_h</p:attrName>
                                        </p:attrNameLst>
                                      </p:cBhvr>
                                      <p:tavLst>
                                        <p:tav tm="0">
                                          <p:val>
                                            <p:strVal val="#ppt_h*0.3"/>
                                          </p:val>
                                        </p:tav>
                                        <p:tav tm="100000">
                                          <p:val>
                                            <p:strVal val="#ppt_h"/>
                                          </p:val>
                                        </p:tav>
                                      </p:tavLst>
                                    </p:anim>
                                  </p:childTnLst>
                                </p:cTn>
                              </p:par>
                            </p:childTnLst>
                          </p:cTn>
                        </p:par>
                        <p:par>
                          <p:cTn id="270" fill="hold">
                            <p:stCondLst>
                              <p:cond delay="1950"/>
                            </p:stCondLst>
                            <p:childTnLst>
                              <p:par>
                                <p:cTn id="250" presetID="53" presetClass="entr" presetSubtype="16" fill="hold" grpId="0" nodeType="afterEffect">
                                  <p:stCondLst>
                                    <p:cond delay="0"/>
                                  </p:stCondLst>
                                  <p:childTnLst>
                                    <p:set>
                                      <p:cBhvr>
                                        <p:cTn id="251" dur="1" fill="hold">
                                          <p:stCondLst>
                                            <p:cond delay="0"/>
                                          </p:stCondLst>
                                        </p:cTn>
                                        <p:tgtEl>
                                          <p:spTgt spid="49"/>
                                        </p:tgtEl>
                                        <p:attrNameLst>
                                          <p:attrName>style.visibility</p:attrName>
                                        </p:attrNameLst>
                                      </p:cBhvr>
                                      <p:to>
                                        <p:strVal val="visible"/>
                                      </p:to>
                                    </p:set>
                                    <p:animEffect transition="in" filter="fade">
                                      <p:cBhvr>
                                        <p:cTn id="252" dur="300"/>
                                        <p:tgtEl>
                                          <p:spTgt spid="49"/>
                                        </p:tgtEl>
                                      </p:cBhvr>
                                    </p:animEffect>
                                    <p:anim calcmode="lin" valueType="num">
                                      <p:cBhvr>
                                        <p:cTn id="253" dur="300" fill="hold"/>
                                        <p:tgtEl>
                                          <p:spTgt spid="49"/>
                                        </p:tgtEl>
                                        <p:attrNameLst>
                                          <p:attrName>ppt_w</p:attrName>
                                        </p:attrNameLst>
                                      </p:cBhvr>
                                      <p:tavLst>
                                        <p:tav tm="0">
                                          <p:val>
                                            <p:strVal val="#ppt_w*0.3"/>
                                          </p:val>
                                        </p:tav>
                                        <p:tav tm="100000">
                                          <p:val>
                                            <p:strVal val="#ppt_w"/>
                                          </p:val>
                                        </p:tav>
                                      </p:tavLst>
                                    </p:anim>
                                    <p:anim calcmode="lin" valueType="num">
                                      <p:cBhvr>
                                        <p:cTn id="254" dur="300" fill="hold"/>
                                        <p:tgtEl>
                                          <p:spTgt spid="49"/>
                                        </p:tgtEl>
                                        <p:attrNameLst>
                                          <p:attrName>ppt_h</p:attrName>
                                        </p:attrNameLst>
                                      </p:cBhvr>
                                      <p:tavLst>
                                        <p:tav tm="0">
                                          <p:val>
                                            <p:strVal val="#ppt_h*0.3"/>
                                          </p:val>
                                        </p:tav>
                                        <p:tav tm="100000">
                                          <p:val>
                                            <p:strVal val="#ppt_h"/>
                                          </p:val>
                                        </p:tav>
                                      </p:tavLst>
                                    </p:anim>
                                  </p:childTnLst>
                                </p:cTn>
                              </p:par>
                              <p:par>
                                <p:cTn id="255" presetID="53" presetClass="entr" presetSubtype="16" fill="hold" grpId="0" nodeType="withEffect">
                                  <p:stCondLst>
                                    <p:cond delay="0"/>
                                  </p:stCondLst>
                                  <p:childTnLst>
                                    <p:set>
                                      <p:cBhvr>
                                        <p:cTn id="256" dur="1" fill="hold">
                                          <p:stCondLst>
                                            <p:cond delay="0"/>
                                          </p:stCondLst>
                                        </p:cTn>
                                        <p:tgtEl>
                                          <p:spTgt spid="50"/>
                                        </p:tgtEl>
                                        <p:attrNameLst>
                                          <p:attrName>style.visibility</p:attrName>
                                        </p:attrNameLst>
                                      </p:cBhvr>
                                      <p:to>
                                        <p:strVal val="visible"/>
                                      </p:to>
                                    </p:set>
                                    <p:animEffect transition="in" filter="fade">
                                      <p:cBhvr>
                                        <p:cTn id="257" dur="300"/>
                                        <p:tgtEl>
                                          <p:spTgt spid="50"/>
                                        </p:tgtEl>
                                      </p:cBhvr>
                                    </p:animEffect>
                                    <p:anim calcmode="lin" valueType="num">
                                      <p:cBhvr>
                                        <p:cTn id="258" dur="300" fill="hold"/>
                                        <p:tgtEl>
                                          <p:spTgt spid="50"/>
                                        </p:tgtEl>
                                        <p:attrNameLst>
                                          <p:attrName>ppt_w</p:attrName>
                                        </p:attrNameLst>
                                      </p:cBhvr>
                                      <p:tavLst>
                                        <p:tav tm="0">
                                          <p:val>
                                            <p:strVal val="#ppt_w*0.3"/>
                                          </p:val>
                                        </p:tav>
                                        <p:tav tm="100000">
                                          <p:val>
                                            <p:strVal val="#ppt_w"/>
                                          </p:val>
                                        </p:tav>
                                      </p:tavLst>
                                    </p:anim>
                                    <p:anim calcmode="lin" valueType="num">
                                      <p:cBhvr>
                                        <p:cTn id="259" dur="300" fill="hold"/>
                                        <p:tgtEl>
                                          <p:spTgt spid="50"/>
                                        </p:tgtEl>
                                        <p:attrNameLst>
                                          <p:attrName>ppt_h</p:attrName>
                                        </p:attrNameLst>
                                      </p:cBhvr>
                                      <p:tavLst>
                                        <p:tav tm="0">
                                          <p:val>
                                            <p:strVal val="#ppt_h*0.3"/>
                                          </p:val>
                                        </p:tav>
                                        <p:tav tm="100000">
                                          <p:val>
                                            <p:strVal val="#ppt_h"/>
                                          </p:val>
                                        </p:tav>
                                      </p:tavLst>
                                    </p:anim>
                                  </p:childTnLst>
                                </p:cTn>
                              </p:par>
                              <p:par>
                                <p:cTn id="260" presetID="53" presetClass="entr" presetSubtype="16" fill="hold" grpId="0" nodeType="withEffect">
                                  <p:stCondLst>
                                    <p:cond delay="0"/>
                                  </p:stCondLst>
                                  <p:childTnLst>
                                    <p:set>
                                      <p:cBhvr>
                                        <p:cTn id="261" dur="1" fill="hold">
                                          <p:stCondLst>
                                            <p:cond delay="0"/>
                                          </p:stCondLst>
                                        </p:cTn>
                                        <p:tgtEl>
                                          <p:spTgt spid="51"/>
                                        </p:tgtEl>
                                        <p:attrNameLst>
                                          <p:attrName>style.visibility</p:attrName>
                                        </p:attrNameLst>
                                      </p:cBhvr>
                                      <p:to>
                                        <p:strVal val="visible"/>
                                      </p:to>
                                    </p:set>
                                    <p:animEffect transition="in" filter="fade">
                                      <p:cBhvr>
                                        <p:cTn id="262" dur="300"/>
                                        <p:tgtEl>
                                          <p:spTgt spid="51"/>
                                        </p:tgtEl>
                                      </p:cBhvr>
                                    </p:animEffect>
                                    <p:anim calcmode="lin" valueType="num">
                                      <p:cBhvr>
                                        <p:cTn id="263" dur="300" fill="hold"/>
                                        <p:tgtEl>
                                          <p:spTgt spid="51"/>
                                        </p:tgtEl>
                                        <p:attrNameLst>
                                          <p:attrName>ppt_w</p:attrName>
                                        </p:attrNameLst>
                                      </p:cBhvr>
                                      <p:tavLst>
                                        <p:tav tm="0">
                                          <p:val>
                                            <p:strVal val="#ppt_w*0.3"/>
                                          </p:val>
                                        </p:tav>
                                        <p:tav tm="100000">
                                          <p:val>
                                            <p:strVal val="#ppt_w"/>
                                          </p:val>
                                        </p:tav>
                                      </p:tavLst>
                                    </p:anim>
                                    <p:anim calcmode="lin" valueType="num">
                                      <p:cBhvr>
                                        <p:cTn id="264" dur="300" fill="hold"/>
                                        <p:tgtEl>
                                          <p:spTgt spid="51"/>
                                        </p:tgtEl>
                                        <p:attrNameLst>
                                          <p:attrName>ppt_h</p:attrName>
                                        </p:attrNameLst>
                                      </p:cBhvr>
                                      <p:tavLst>
                                        <p:tav tm="0">
                                          <p:val>
                                            <p:strVal val="#ppt_h*0.3"/>
                                          </p:val>
                                        </p:tav>
                                        <p:tav tm="100000">
                                          <p:val>
                                            <p:strVal val="#ppt_h"/>
                                          </p:val>
                                        </p:tav>
                                      </p:tavLst>
                                    </p:anim>
                                  </p:childTnLst>
                                </p:cTn>
                              </p:par>
                              <p:par>
                                <p:cTn id="265" presetID="53" presetClass="entr" presetSubtype="16" fill="hold" grpId="0" nodeType="withEffect">
                                  <p:stCondLst>
                                    <p:cond delay="0"/>
                                  </p:stCondLst>
                                  <p:childTnLst>
                                    <p:set>
                                      <p:cBhvr>
                                        <p:cTn id="266" dur="1" fill="hold">
                                          <p:stCondLst>
                                            <p:cond delay="0"/>
                                          </p:stCondLst>
                                        </p:cTn>
                                        <p:tgtEl>
                                          <p:spTgt spid="52"/>
                                        </p:tgtEl>
                                        <p:attrNameLst>
                                          <p:attrName>style.visibility</p:attrName>
                                        </p:attrNameLst>
                                      </p:cBhvr>
                                      <p:to>
                                        <p:strVal val="visible"/>
                                      </p:to>
                                    </p:set>
                                    <p:animEffect transition="in" filter="fade">
                                      <p:cBhvr>
                                        <p:cTn id="267" dur="300"/>
                                        <p:tgtEl>
                                          <p:spTgt spid="52"/>
                                        </p:tgtEl>
                                      </p:cBhvr>
                                    </p:animEffect>
                                    <p:anim calcmode="lin" valueType="num">
                                      <p:cBhvr>
                                        <p:cTn id="268" dur="300" fill="hold"/>
                                        <p:tgtEl>
                                          <p:spTgt spid="52"/>
                                        </p:tgtEl>
                                        <p:attrNameLst>
                                          <p:attrName>ppt_w</p:attrName>
                                        </p:attrNameLst>
                                      </p:cBhvr>
                                      <p:tavLst>
                                        <p:tav tm="0">
                                          <p:val>
                                            <p:strVal val="#ppt_w*0.3"/>
                                          </p:val>
                                        </p:tav>
                                        <p:tav tm="100000">
                                          <p:val>
                                            <p:strVal val="#ppt_w"/>
                                          </p:val>
                                        </p:tav>
                                      </p:tavLst>
                                    </p:anim>
                                    <p:anim calcmode="lin" valueType="num">
                                      <p:cBhvr>
                                        <p:cTn id="269" dur="300" fill="hold"/>
                                        <p:tgtEl>
                                          <p:spTgt spid="52"/>
                                        </p:tgtEl>
                                        <p:attrNameLst>
                                          <p:attrName>ppt_h</p:attrName>
                                        </p:attrNameLst>
                                      </p:cBhvr>
                                      <p:tavLst>
                                        <p:tav tm="0">
                                          <p:val>
                                            <p:strVal val="#ppt_h*0.3"/>
                                          </p:val>
                                        </p:tav>
                                        <p:tav tm="100000">
                                          <p:val>
                                            <p:strVal val="#ppt_h"/>
                                          </p:val>
                                        </p:tav>
                                      </p:tavLst>
                                    </p:anim>
                                  </p:childTnLst>
                                </p:cTn>
                              </p:par>
                            </p:childTnLst>
                          </p:cTn>
                        </p:par>
                        <p:par>
                          <p:cTn id="291" fill="hold">
                            <p:stCondLst>
                              <p:cond delay="2070"/>
                            </p:stCondLst>
                            <p:childTnLst>
                              <p:par>
                                <p:cTn id="271" presetID="53" presetClass="entr" presetSubtype="16" fill="hold" grpId="0" nodeType="afterEffect">
                                  <p:stCondLst>
                                    <p:cond delay="0"/>
                                  </p:stCondLst>
                                  <p:childTnLst>
                                    <p:set>
                                      <p:cBhvr>
                                        <p:cTn id="272" dur="1" fill="hold">
                                          <p:stCondLst>
                                            <p:cond delay="0"/>
                                          </p:stCondLst>
                                        </p:cTn>
                                        <p:tgtEl>
                                          <p:spTgt spid="53"/>
                                        </p:tgtEl>
                                        <p:attrNameLst>
                                          <p:attrName>style.visibility</p:attrName>
                                        </p:attrNameLst>
                                      </p:cBhvr>
                                      <p:to>
                                        <p:strVal val="visible"/>
                                      </p:to>
                                    </p:set>
                                    <p:animEffect transition="in" filter="fade">
                                      <p:cBhvr>
                                        <p:cTn id="273" dur="300"/>
                                        <p:tgtEl>
                                          <p:spTgt spid="53"/>
                                        </p:tgtEl>
                                      </p:cBhvr>
                                    </p:animEffect>
                                    <p:anim calcmode="lin" valueType="num">
                                      <p:cBhvr>
                                        <p:cTn id="274" dur="300" fill="hold"/>
                                        <p:tgtEl>
                                          <p:spTgt spid="53"/>
                                        </p:tgtEl>
                                        <p:attrNameLst>
                                          <p:attrName>ppt_w</p:attrName>
                                        </p:attrNameLst>
                                      </p:cBhvr>
                                      <p:tavLst>
                                        <p:tav tm="0">
                                          <p:val>
                                            <p:strVal val="#ppt_w*0.3"/>
                                          </p:val>
                                        </p:tav>
                                        <p:tav tm="100000">
                                          <p:val>
                                            <p:strVal val="#ppt_w"/>
                                          </p:val>
                                        </p:tav>
                                      </p:tavLst>
                                    </p:anim>
                                    <p:anim calcmode="lin" valueType="num">
                                      <p:cBhvr>
                                        <p:cTn id="275" dur="300" fill="hold"/>
                                        <p:tgtEl>
                                          <p:spTgt spid="53"/>
                                        </p:tgtEl>
                                        <p:attrNameLst>
                                          <p:attrName>ppt_h</p:attrName>
                                        </p:attrNameLst>
                                      </p:cBhvr>
                                      <p:tavLst>
                                        <p:tav tm="0">
                                          <p:val>
                                            <p:strVal val="#ppt_h*0.3"/>
                                          </p:val>
                                        </p:tav>
                                        <p:tav tm="100000">
                                          <p:val>
                                            <p:strVal val="#ppt_h"/>
                                          </p:val>
                                        </p:tav>
                                      </p:tavLst>
                                    </p:anim>
                                  </p:childTnLst>
                                </p:cTn>
                              </p:par>
                              <p:par>
                                <p:cTn id="276" presetID="53" presetClass="entr" presetSubtype="16" fill="hold" grpId="0" nodeType="withEffect">
                                  <p:stCondLst>
                                    <p:cond delay="0"/>
                                  </p:stCondLst>
                                  <p:childTnLst>
                                    <p:set>
                                      <p:cBhvr>
                                        <p:cTn id="277" dur="1" fill="hold">
                                          <p:stCondLst>
                                            <p:cond delay="0"/>
                                          </p:stCondLst>
                                        </p:cTn>
                                        <p:tgtEl>
                                          <p:spTgt spid="54"/>
                                        </p:tgtEl>
                                        <p:attrNameLst>
                                          <p:attrName>style.visibility</p:attrName>
                                        </p:attrNameLst>
                                      </p:cBhvr>
                                      <p:to>
                                        <p:strVal val="visible"/>
                                      </p:to>
                                    </p:set>
                                    <p:animEffect transition="in" filter="fade">
                                      <p:cBhvr>
                                        <p:cTn id="278" dur="300"/>
                                        <p:tgtEl>
                                          <p:spTgt spid="54"/>
                                        </p:tgtEl>
                                      </p:cBhvr>
                                    </p:animEffect>
                                    <p:anim calcmode="lin" valueType="num">
                                      <p:cBhvr>
                                        <p:cTn id="279" dur="300" fill="hold"/>
                                        <p:tgtEl>
                                          <p:spTgt spid="54"/>
                                        </p:tgtEl>
                                        <p:attrNameLst>
                                          <p:attrName>ppt_w</p:attrName>
                                        </p:attrNameLst>
                                      </p:cBhvr>
                                      <p:tavLst>
                                        <p:tav tm="0">
                                          <p:val>
                                            <p:strVal val="#ppt_w*0.3"/>
                                          </p:val>
                                        </p:tav>
                                        <p:tav tm="100000">
                                          <p:val>
                                            <p:strVal val="#ppt_w"/>
                                          </p:val>
                                        </p:tav>
                                      </p:tavLst>
                                    </p:anim>
                                    <p:anim calcmode="lin" valueType="num">
                                      <p:cBhvr>
                                        <p:cTn id="280" dur="300" fill="hold"/>
                                        <p:tgtEl>
                                          <p:spTgt spid="54"/>
                                        </p:tgtEl>
                                        <p:attrNameLst>
                                          <p:attrName>ppt_h</p:attrName>
                                        </p:attrNameLst>
                                      </p:cBhvr>
                                      <p:tavLst>
                                        <p:tav tm="0">
                                          <p:val>
                                            <p:strVal val="#ppt_h*0.3"/>
                                          </p:val>
                                        </p:tav>
                                        <p:tav tm="100000">
                                          <p:val>
                                            <p:strVal val="#ppt_h"/>
                                          </p:val>
                                        </p:tav>
                                      </p:tavLst>
                                    </p:anim>
                                  </p:childTnLst>
                                </p:cTn>
                              </p:par>
                              <p:par>
                                <p:cTn id="281" presetID="53" presetClass="entr" presetSubtype="16" fill="hold" grpId="0" nodeType="withEffect">
                                  <p:stCondLst>
                                    <p:cond delay="0"/>
                                  </p:stCondLst>
                                  <p:childTnLst>
                                    <p:set>
                                      <p:cBhvr>
                                        <p:cTn id="282" dur="1" fill="hold">
                                          <p:stCondLst>
                                            <p:cond delay="0"/>
                                          </p:stCondLst>
                                        </p:cTn>
                                        <p:tgtEl>
                                          <p:spTgt spid="55"/>
                                        </p:tgtEl>
                                        <p:attrNameLst>
                                          <p:attrName>style.visibility</p:attrName>
                                        </p:attrNameLst>
                                      </p:cBhvr>
                                      <p:to>
                                        <p:strVal val="visible"/>
                                      </p:to>
                                    </p:set>
                                    <p:animEffect transition="in" filter="fade">
                                      <p:cBhvr>
                                        <p:cTn id="283" dur="300"/>
                                        <p:tgtEl>
                                          <p:spTgt spid="55"/>
                                        </p:tgtEl>
                                      </p:cBhvr>
                                    </p:animEffect>
                                    <p:anim calcmode="lin" valueType="num">
                                      <p:cBhvr>
                                        <p:cTn id="284" dur="300" fill="hold"/>
                                        <p:tgtEl>
                                          <p:spTgt spid="55"/>
                                        </p:tgtEl>
                                        <p:attrNameLst>
                                          <p:attrName>ppt_w</p:attrName>
                                        </p:attrNameLst>
                                      </p:cBhvr>
                                      <p:tavLst>
                                        <p:tav tm="0">
                                          <p:val>
                                            <p:strVal val="#ppt_w*0.3"/>
                                          </p:val>
                                        </p:tav>
                                        <p:tav tm="100000">
                                          <p:val>
                                            <p:strVal val="#ppt_w"/>
                                          </p:val>
                                        </p:tav>
                                      </p:tavLst>
                                    </p:anim>
                                    <p:anim calcmode="lin" valueType="num">
                                      <p:cBhvr>
                                        <p:cTn id="285" dur="300" fill="hold"/>
                                        <p:tgtEl>
                                          <p:spTgt spid="55"/>
                                        </p:tgtEl>
                                        <p:attrNameLst>
                                          <p:attrName>ppt_h</p:attrName>
                                        </p:attrNameLst>
                                      </p:cBhvr>
                                      <p:tavLst>
                                        <p:tav tm="0">
                                          <p:val>
                                            <p:strVal val="#ppt_h*0.3"/>
                                          </p:val>
                                        </p:tav>
                                        <p:tav tm="100000">
                                          <p:val>
                                            <p:strVal val="#ppt_h"/>
                                          </p:val>
                                        </p:tav>
                                      </p:tavLst>
                                    </p:anim>
                                  </p:childTnLst>
                                </p:cTn>
                              </p:par>
                              <p:par>
                                <p:cTn id="286" presetID="53" presetClass="entr" presetSubtype="16" fill="hold" grpId="0" nodeType="withEffect">
                                  <p:stCondLst>
                                    <p:cond delay="0"/>
                                  </p:stCondLst>
                                  <p:childTnLst>
                                    <p:set>
                                      <p:cBhvr>
                                        <p:cTn id="287" dur="1" fill="hold">
                                          <p:stCondLst>
                                            <p:cond delay="0"/>
                                          </p:stCondLst>
                                        </p:cTn>
                                        <p:tgtEl>
                                          <p:spTgt spid="56"/>
                                        </p:tgtEl>
                                        <p:attrNameLst>
                                          <p:attrName>style.visibility</p:attrName>
                                        </p:attrNameLst>
                                      </p:cBhvr>
                                      <p:to>
                                        <p:strVal val="visible"/>
                                      </p:to>
                                    </p:set>
                                    <p:animEffect transition="in" filter="fade">
                                      <p:cBhvr>
                                        <p:cTn id="288" dur="300"/>
                                        <p:tgtEl>
                                          <p:spTgt spid="56"/>
                                        </p:tgtEl>
                                      </p:cBhvr>
                                    </p:animEffect>
                                    <p:anim calcmode="lin" valueType="num">
                                      <p:cBhvr>
                                        <p:cTn id="289" dur="300" fill="hold"/>
                                        <p:tgtEl>
                                          <p:spTgt spid="56"/>
                                        </p:tgtEl>
                                        <p:attrNameLst>
                                          <p:attrName>ppt_w</p:attrName>
                                        </p:attrNameLst>
                                      </p:cBhvr>
                                      <p:tavLst>
                                        <p:tav tm="0">
                                          <p:val>
                                            <p:strVal val="#ppt_w*0.3"/>
                                          </p:val>
                                        </p:tav>
                                        <p:tav tm="100000">
                                          <p:val>
                                            <p:strVal val="#ppt_w"/>
                                          </p:val>
                                        </p:tav>
                                      </p:tavLst>
                                    </p:anim>
                                    <p:anim calcmode="lin" valueType="num">
                                      <p:cBhvr>
                                        <p:cTn id="290" dur="300" fill="hold"/>
                                        <p:tgtEl>
                                          <p:spTgt spid="56"/>
                                        </p:tgtEl>
                                        <p:attrNameLst>
                                          <p:attrName>ppt_h</p:attrName>
                                        </p:attrNameLst>
                                      </p:cBhvr>
                                      <p:tavLst>
                                        <p:tav tm="0">
                                          <p:val>
                                            <p:strVal val="#ppt_h*0.3"/>
                                          </p:val>
                                        </p:tav>
                                        <p:tav tm="100000">
                                          <p:val>
                                            <p:strVal val="#ppt_h"/>
                                          </p:val>
                                        </p:tav>
                                      </p:tavLst>
                                    </p:anim>
                                  </p:childTnLst>
                                </p:cTn>
                              </p:par>
                            </p:childTnLst>
                          </p:cTn>
                        </p:par>
                        <p:par>
                          <p:cTn id="312" fill="hold">
                            <p:stCondLst>
                              <p:cond delay="2190"/>
                            </p:stCondLst>
                            <p:childTnLst>
                              <p:par>
                                <p:cTn id="292" presetID="53" presetClass="entr" presetSubtype="16" fill="hold" grpId="0" nodeType="afterEffect">
                                  <p:stCondLst>
                                    <p:cond delay="0"/>
                                  </p:stCondLst>
                                  <p:childTnLst>
                                    <p:set>
                                      <p:cBhvr>
                                        <p:cTn id="293" dur="1" fill="hold">
                                          <p:stCondLst>
                                            <p:cond delay="0"/>
                                          </p:stCondLst>
                                        </p:cTn>
                                        <p:tgtEl>
                                          <p:spTgt spid="57"/>
                                        </p:tgtEl>
                                        <p:attrNameLst>
                                          <p:attrName>style.visibility</p:attrName>
                                        </p:attrNameLst>
                                      </p:cBhvr>
                                      <p:to>
                                        <p:strVal val="visible"/>
                                      </p:to>
                                    </p:set>
                                    <p:animEffect transition="in" filter="fade">
                                      <p:cBhvr>
                                        <p:cTn id="294" dur="300"/>
                                        <p:tgtEl>
                                          <p:spTgt spid="57"/>
                                        </p:tgtEl>
                                      </p:cBhvr>
                                    </p:animEffect>
                                    <p:anim calcmode="lin" valueType="num">
                                      <p:cBhvr>
                                        <p:cTn id="295" dur="300" fill="hold"/>
                                        <p:tgtEl>
                                          <p:spTgt spid="57"/>
                                        </p:tgtEl>
                                        <p:attrNameLst>
                                          <p:attrName>ppt_w</p:attrName>
                                        </p:attrNameLst>
                                      </p:cBhvr>
                                      <p:tavLst>
                                        <p:tav tm="0">
                                          <p:val>
                                            <p:strVal val="#ppt_w*0.3"/>
                                          </p:val>
                                        </p:tav>
                                        <p:tav tm="100000">
                                          <p:val>
                                            <p:strVal val="#ppt_w"/>
                                          </p:val>
                                        </p:tav>
                                      </p:tavLst>
                                    </p:anim>
                                    <p:anim calcmode="lin" valueType="num">
                                      <p:cBhvr>
                                        <p:cTn id="296" dur="300" fill="hold"/>
                                        <p:tgtEl>
                                          <p:spTgt spid="57"/>
                                        </p:tgtEl>
                                        <p:attrNameLst>
                                          <p:attrName>ppt_h</p:attrName>
                                        </p:attrNameLst>
                                      </p:cBhvr>
                                      <p:tavLst>
                                        <p:tav tm="0">
                                          <p:val>
                                            <p:strVal val="#ppt_h*0.3"/>
                                          </p:val>
                                        </p:tav>
                                        <p:tav tm="100000">
                                          <p:val>
                                            <p:strVal val="#ppt_h"/>
                                          </p:val>
                                        </p:tav>
                                      </p:tavLst>
                                    </p:anim>
                                  </p:childTnLst>
                                </p:cTn>
                              </p:par>
                              <p:par>
                                <p:cTn id="297" presetID="53" presetClass="entr" presetSubtype="16" fill="hold" grpId="0" nodeType="withEffect">
                                  <p:stCondLst>
                                    <p:cond delay="0"/>
                                  </p:stCondLst>
                                  <p:childTnLst>
                                    <p:set>
                                      <p:cBhvr>
                                        <p:cTn id="298" dur="1" fill="hold">
                                          <p:stCondLst>
                                            <p:cond delay="0"/>
                                          </p:stCondLst>
                                        </p:cTn>
                                        <p:tgtEl>
                                          <p:spTgt spid="58"/>
                                        </p:tgtEl>
                                        <p:attrNameLst>
                                          <p:attrName>style.visibility</p:attrName>
                                        </p:attrNameLst>
                                      </p:cBhvr>
                                      <p:to>
                                        <p:strVal val="visible"/>
                                      </p:to>
                                    </p:set>
                                    <p:animEffect transition="in" filter="fade">
                                      <p:cBhvr>
                                        <p:cTn id="299" dur="300"/>
                                        <p:tgtEl>
                                          <p:spTgt spid="58"/>
                                        </p:tgtEl>
                                      </p:cBhvr>
                                    </p:animEffect>
                                    <p:anim calcmode="lin" valueType="num">
                                      <p:cBhvr>
                                        <p:cTn id="300" dur="300" fill="hold"/>
                                        <p:tgtEl>
                                          <p:spTgt spid="58"/>
                                        </p:tgtEl>
                                        <p:attrNameLst>
                                          <p:attrName>ppt_w</p:attrName>
                                        </p:attrNameLst>
                                      </p:cBhvr>
                                      <p:tavLst>
                                        <p:tav tm="0">
                                          <p:val>
                                            <p:strVal val="#ppt_w*0.3"/>
                                          </p:val>
                                        </p:tav>
                                        <p:tav tm="100000">
                                          <p:val>
                                            <p:strVal val="#ppt_w"/>
                                          </p:val>
                                        </p:tav>
                                      </p:tavLst>
                                    </p:anim>
                                    <p:anim calcmode="lin" valueType="num">
                                      <p:cBhvr>
                                        <p:cTn id="301" dur="300" fill="hold"/>
                                        <p:tgtEl>
                                          <p:spTgt spid="58"/>
                                        </p:tgtEl>
                                        <p:attrNameLst>
                                          <p:attrName>ppt_h</p:attrName>
                                        </p:attrNameLst>
                                      </p:cBhvr>
                                      <p:tavLst>
                                        <p:tav tm="0">
                                          <p:val>
                                            <p:strVal val="#ppt_h*0.3"/>
                                          </p:val>
                                        </p:tav>
                                        <p:tav tm="100000">
                                          <p:val>
                                            <p:strVal val="#ppt_h"/>
                                          </p:val>
                                        </p:tav>
                                      </p:tavLst>
                                    </p:anim>
                                  </p:childTnLst>
                                </p:cTn>
                              </p:par>
                              <p:par>
                                <p:cTn id="302" presetID="53" presetClass="entr" presetSubtype="16" fill="hold" grpId="0" nodeType="withEffect">
                                  <p:stCondLst>
                                    <p:cond delay="0"/>
                                  </p:stCondLst>
                                  <p:childTnLst>
                                    <p:set>
                                      <p:cBhvr>
                                        <p:cTn id="303" dur="1" fill="hold">
                                          <p:stCondLst>
                                            <p:cond delay="0"/>
                                          </p:stCondLst>
                                        </p:cTn>
                                        <p:tgtEl>
                                          <p:spTgt spid="59"/>
                                        </p:tgtEl>
                                        <p:attrNameLst>
                                          <p:attrName>style.visibility</p:attrName>
                                        </p:attrNameLst>
                                      </p:cBhvr>
                                      <p:to>
                                        <p:strVal val="visible"/>
                                      </p:to>
                                    </p:set>
                                    <p:animEffect transition="in" filter="fade">
                                      <p:cBhvr>
                                        <p:cTn id="304" dur="300"/>
                                        <p:tgtEl>
                                          <p:spTgt spid="59"/>
                                        </p:tgtEl>
                                      </p:cBhvr>
                                    </p:animEffect>
                                    <p:anim calcmode="lin" valueType="num">
                                      <p:cBhvr>
                                        <p:cTn id="305" dur="300" fill="hold"/>
                                        <p:tgtEl>
                                          <p:spTgt spid="59"/>
                                        </p:tgtEl>
                                        <p:attrNameLst>
                                          <p:attrName>ppt_w</p:attrName>
                                        </p:attrNameLst>
                                      </p:cBhvr>
                                      <p:tavLst>
                                        <p:tav tm="0">
                                          <p:val>
                                            <p:strVal val="#ppt_w*0.3"/>
                                          </p:val>
                                        </p:tav>
                                        <p:tav tm="100000">
                                          <p:val>
                                            <p:strVal val="#ppt_w"/>
                                          </p:val>
                                        </p:tav>
                                      </p:tavLst>
                                    </p:anim>
                                    <p:anim calcmode="lin" valueType="num">
                                      <p:cBhvr>
                                        <p:cTn id="306" dur="300" fill="hold"/>
                                        <p:tgtEl>
                                          <p:spTgt spid="59"/>
                                        </p:tgtEl>
                                        <p:attrNameLst>
                                          <p:attrName>ppt_h</p:attrName>
                                        </p:attrNameLst>
                                      </p:cBhvr>
                                      <p:tavLst>
                                        <p:tav tm="0">
                                          <p:val>
                                            <p:strVal val="#ppt_h*0.3"/>
                                          </p:val>
                                        </p:tav>
                                        <p:tav tm="100000">
                                          <p:val>
                                            <p:strVal val="#ppt_h"/>
                                          </p:val>
                                        </p:tav>
                                      </p:tavLst>
                                    </p:anim>
                                  </p:childTnLst>
                                </p:cTn>
                              </p:par>
                              <p:par>
                                <p:cTn id="307" presetID="53" presetClass="entr" presetSubtype="16" fill="hold" grpId="0" nodeType="withEffect">
                                  <p:stCondLst>
                                    <p:cond delay="0"/>
                                  </p:stCondLst>
                                  <p:childTnLst>
                                    <p:set>
                                      <p:cBhvr>
                                        <p:cTn id="308" dur="1" fill="hold">
                                          <p:stCondLst>
                                            <p:cond delay="0"/>
                                          </p:stCondLst>
                                        </p:cTn>
                                        <p:tgtEl>
                                          <p:spTgt spid="60"/>
                                        </p:tgtEl>
                                        <p:attrNameLst>
                                          <p:attrName>style.visibility</p:attrName>
                                        </p:attrNameLst>
                                      </p:cBhvr>
                                      <p:to>
                                        <p:strVal val="visible"/>
                                      </p:to>
                                    </p:set>
                                    <p:animEffect transition="in" filter="fade">
                                      <p:cBhvr>
                                        <p:cTn id="309" dur="300"/>
                                        <p:tgtEl>
                                          <p:spTgt spid="60"/>
                                        </p:tgtEl>
                                      </p:cBhvr>
                                    </p:animEffect>
                                    <p:anim calcmode="lin" valueType="num">
                                      <p:cBhvr>
                                        <p:cTn id="310" dur="300" fill="hold"/>
                                        <p:tgtEl>
                                          <p:spTgt spid="60"/>
                                        </p:tgtEl>
                                        <p:attrNameLst>
                                          <p:attrName>ppt_w</p:attrName>
                                        </p:attrNameLst>
                                      </p:cBhvr>
                                      <p:tavLst>
                                        <p:tav tm="0">
                                          <p:val>
                                            <p:strVal val="#ppt_w*0.3"/>
                                          </p:val>
                                        </p:tav>
                                        <p:tav tm="100000">
                                          <p:val>
                                            <p:strVal val="#ppt_w"/>
                                          </p:val>
                                        </p:tav>
                                      </p:tavLst>
                                    </p:anim>
                                    <p:anim calcmode="lin" valueType="num">
                                      <p:cBhvr>
                                        <p:cTn id="311" dur="300" fill="hold"/>
                                        <p:tgtEl>
                                          <p:spTgt spid="60"/>
                                        </p:tgtEl>
                                        <p:attrNameLst>
                                          <p:attrName>ppt_h</p:attrName>
                                        </p:attrNameLst>
                                      </p:cBhvr>
                                      <p:tavLst>
                                        <p:tav tm="0">
                                          <p:val>
                                            <p:strVal val="#ppt_h*0.3"/>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FF6FF"/>
        </a:solidFill>
        <a:effectLst/>
      </p:bgPr>
    </p:bg>
    <p:spTree>
      <p:nvGrpSpPr>
        <p:cNvPr id="1" name=""/>
        <p:cNvGrpSpPr/>
        <p:nvPr/>
      </p:nvGrpSpPr>
      <p:grpSpPr/>
      <p:sp>
        <p:nvSpPr>
          <p:cNvPr id="2" name="TextBox 1"/>
          <p:cNvSpPr txBox="1"/>
          <p:nvPr/>
        </p:nvSpPr>
        <p:spPr>
          <a:xfrm>
            <a:off x="812800" y="711200"/>
            <a:ext cx="10566400" cy="228600"/>
          </a:xfrm>
          <a:prstGeom prst="rect">
            <a:avLst/>
          </a:prstGeom>
          <a:noFill/>
        </p:spPr>
        <p:txBody>
          <a:bodyPr wrap="square" anchor="t" lIns="0" rIns="0" tIns="0" bIns="0">
            <a:noAutofit/>
          </a:bodyPr>
          <a:lstStyle/>
          <a:p>
            <a:pPr algn="l">
              <a:lnSpc>
                <a:spcPct val="125000"/>
              </a:lnSpc>
            </a:pPr>
            <a:r>
              <a:rPr sz="1200" b="1" i="0" cap="all" spc="300">
                <a:solidFill>
                  <a:srgbClr val="007AB1"/>
                </a:solidFill>
                <a:latin typeface="Nunito Sans"/>
              </a:rPr>
              <a:t>Het weerlexicon · 1/2</a:t>
            </a:r>
          </a:p>
        </p:txBody>
      </p:sp>
      <p:sp>
        <p:nvSpPr>
          <p:cNvPr id="3" name="TextBox 2"/>
          <p:cNvSpPr txBox="1"/>
          <p:nvPr/>
        </p:nvSpPr>
        <p:spPr>
          <a:xfrm>
            <a:off x="812800" y="990600"/>
            <a:ext cx="10566400" cy="508000"/>
          </a:xfrm>
          <a:prstGeom prst="rect">
            <a:avLst/>
          </a:prstGeom>
          <a:noFill/>
        </p:spPr>
        <p:txBody>
          <a:bodyPr wrap="square" anchor="t" lIns="0" rIns="0" tIns="0" bIns="0">
            <a:noAutofit/>
          </a:bodyPr>
          <a:lstStyle/>
          <a:p>
            <a:pPr algn="l">
              <a:lnSpc>
                <a:spcPct val="105000"/>
              </a:lnSpc>
            </a:pPr>
            <a:r>
              <a:rPr sz="3600" b="1" i="0">
                <a:solidFill>
                  <a:srgbClr val="0D2A50"/>
                </a:solidFill>
                <a:latin typeface="Nunito Sans"/>
              </a:rPr>
              <a:t>Het dagelijkse weer</a:t>
            </a:r>
          </a:p>
        </p:txBody>
      </p:sp>
      <p:sp>
        <p:nvSpPr>
          <p:cNvPr id="4" name="TextBox 3"/>
          <p:cNvSpPr txBox="1"/>
          <p:nvPr/>
        </p:nvSpPr>
        <p:spPr>
          <a:xfrm>
            <a:off x="812800" y="1790700"/>
            <a:ext cx="889000" cy="215900"/>
          </a:xfrm>
          <a:prstGeom prst="rect">
            <a:avLst/>
          </a:prstGeom>
          <a:noFill/>
        </p:spPr>
        <p:txBody>
          <a:bodyPr wrap="square" anchor="t" lIns="0" rIns="0" tIns="0" bIns="0">
            <a:noAutofit/>
          </a:bodyPr>
          <a:lstStyle/>
          <a:p>
            <a:pPr algn="l">
              <a:lnSpc>
                <a:spcPct val="125000"/>
              </a:lnSpc>
            </a:pPr>
            <a:r>
              <a:rPr sz="1100" b="1" i="0" cap="all" spc="300">
                <a:solidFill>
                  <a:srgbClr val="007AB1"/>
                </a:solidFill>
                <a:latin typeface="Nunito Sans"/>
              </a:rPr>
              <a:t>Weer</a:t>
            </a:r>
          </a:p>
        </p:txBody>
      </p:sp>
      <p:sp>
        <p:nvSpPr>
          <p:cNvPr id="5" name="TextBox 4"/>
          <p:cNvSpPr txBox="1"/>
          <p:nvPr/>
        </p:nvSpPr>
        <p:spPr>
          <a:xfrm>
            <a:off x="1854200" y="1790700"/>
            <a:ext cx="1397000" cy="215900"/>
          </a:xfrm>
          <a:prstGeom prst="rect">
            <a:avLst/>
          </a:prstGeom>
          <a:noFill/>
        </p:spPr>
        <p:txBody>
          <a:bodyPr wrap="square" anchor="t" lIns="0" rIns="0" tIns="0" bIns="0">
            <a:noAutofit/>
          </a:bodyPr>
          <a:lstStyle/>
          <a:p>
            <a:pPr algn="l">
              <a:lnSpc>
                <a:spcPct val="125000"/>
              </a:lnSpc>
            </a:pPr>
          </a:p>
        </p:txBody>
      </p:sp>
      <p:sp>
        <p:nvSpPr>
          <p:cNvPr id="6" name="TextBox 5"/>
          <p:cNvSpPr txBox="1"/>
          <p:nvPr/>
        </p:nvSpPr>
        <p:spPr>
          <a:xfrm>
            <a:off x="3403600" y="1790700"/>
            <a:ext cx="2159000" cy="215900"/>
          </a:xfrm>
          <a:prstGeom prst="rect">
            <a:avLst/>
          </a:prstGeom>
          <a:noFill/>
        </p:spPr>
        <p:txBody>
          <a:bodyPr wrap="square" anchor="t" lIns="0" rIns="0" tIns="0" bIns="0">
            <a:noAutofit/>
          </a:bodyPr>
          <a:lstStyle/>
          <a:p>
            <a:pPr algn="l">
              <a:lnSpc>
                <a:spcPct val="125000"/>
              </a:lnSpc>
            </a:pPr>
            <a:r>
              <a:rPr sz="1100" b="1" i="0" cap="all" spc="300">
                <a:solidFill>
                  <a:srgbClr val="007AB1"/>
                </a:solidFill>
                <a:latin typeface="Nunito Sans"/>
              </a:rPr>
              <a:t>Betekenis</a:t>
            </a:r>
          </a:p>
        </p:txBody>
      </p:sp>
      <p:sp>
        <p:nvSpPr>
          <p:cNvPr id="7" name="TextBox 6"/>
          <p:cNvSpPr txBox="1"/>
          <p:nvPr/>
        </p:nvSpPr>
        <p:spPr>
          <a:xfrm>
            <a:off x="5715000" y="1790700"/>
            <a:ext cx="2413000" cy="215900"/>
          </a:xfrm>
          <a:prstGeom prst="rect">
            <a:avLst/>
          </a:prstGeom>
          <a:noFill/>
        </p:spPr>
        <p:txBody>
          <a:bodyPr wrap="square" anchor="t" lIns="0" rIns="0" tIns="0" bIns="0">
            <a:noAutofit/>
          </a:bodyPr>
          <a:lstStyle/>
          <a:p>
            <a:pPr algn="l">
              <a:lnSpc>
                <a:spcPct val="125000"/>
              </a:lnSpc>
            </a:pPr>
            <a:r>
              <a:rPr sz="1100" b="1" i="0" cap="all" spc="300">
                <a:solidFill>
                  <a:srgbClr val="007AB1"/>
                </a:solidFill>
                <a:latin typeface="Nunito Sans"/>
              </a:rPr>
              <a:t>Voorbeeld</a:t>
            </a:r>
          </a:p>
        </p:txBody>
      </p:sp>
      <p:sp>
        <p:nvSpPr>
          <p:cNvPr id="8" name="TextBox 7"/>
          <p:cNvSpPr txBox="1"/>
          <p:nvPr/>
        </p:nvSpPr>
        <p:spPr>
          <a:xfrm>
            <a:off x="8280400" y="1790700"/>
            <a:ext cx="3098800" cy="215900"/>
          </a:xfrm>
          <a:prstGeom prst="rect">
            <a:avLst/>
          </a:prstGeom>
          <a:noFill/>
        </p:spPr>
        <p:txBody>
          <a:bodyPr wrap="square" anchor="t" lIns="0" rIns="0" tIns="0" bIns="0">
            <a:noAutofit/>
          </a:bodyPr>
          <a:lstStyle/>
          <a:p>
            <a:pPr algn="l">
              <a:lnSpc>
                <a:spcPct val="125000"/>
              </a:lnSpc>
            </a:pPr>
            <a:r>
              <a:rPr sz="1100" b="1" i="0" cap="all" spc="300">
                <a:solidFill>
                  <a:srgbClr val="007AB1"/>
                </a:solidFill>
                <a:latin typeface="Nunito Sans"/>
              </a:rPr>
              <a:t>Wat Kate doet</a:t>
            </a:r>
          </a:p>
        </p:txBody>
      </p:sp>
      <p:sp>
        <p:nvSpPr>
          <p:cNvPr id="9" name="Rectangle 8"/>
          <p:cNvSpPr/>
          <p:nvPr/>
        </p:nvSpPr>
        <p:spPr>
          <a:xfrm>
            <a:off x="812800" y="2070100"/>
            <a:ext cx="10566400" cy="12700"/>
          </a:xfrm>
          <a:prstGeom prst="rect">
            <a:avLst/>
          </a:prstGeom>
          <a:solidFill>
            <a:srgbClr val="BFD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zon_l.gif"/>
          <p:cNvPicPr>
            <a:picLocks noChangeAspect="1"/>
          </p:cNvPicPr>
          <p:nvPr/>
        </p:nvPicPr>
        <p:blipFill>
          <a:blip r:embed="rId3"/>
          <a:stretch>
            <a:fillRect/>
          </a:stretch>
        </p:blipFill>
        <p:spPr>
          <a:xfrm>
            <a:off x="826959" y="2120900"/>
            <a:ext cx="860680" cy="850900"/>
          </a:xfrm>
          <a:prstGeom prst="rect">
            <a:avLst/>
          </a:prstGeom>
        </p:spPr>
      </p:pic>
      <p:sp>
        <p:nvSpPr>
          <p:cNvPr id="11" name="TextBox 10"/>
          <p:cNvSpPr txBox="1"/>
          <p:nvPr/>
        </p:nvSpPr>
        <p:spPr>
          <a:xfrm>
            <a:off x="1854200" y="2070100"/>
            <a:ext cx="1397000" cy="952500"/>
          </a:xfrm>
          <a:prstGeom prst="rect">
            <a:avLst/>
          </a:prstGeom>
          <a:noFill/>
        </p:spPr>
        <p:txBody>
          <a:bodyPr wrap="square" anchor="ctr" lIns="0" rIns="0" tIns="0" bIns="0">
            <a:noAutofit/>
          </a:bodyPr>
          <a:lstStyle/>
          <a:p>
            <a:pPr algn="l">
              <a:lnSpc>
                <a:spcPct val="125000"/>
              </a:lnSpc>
            </a:pPr>
            <a:r>
              <a:rPr sz="1800" b="1" i="0">
                <a:solidFill>
                  <a:srgbClr val="0D2A50"/>
                </a:solidFill>
                <a:latin typeface="Nunito Sans"/>
              </a:rPr>
              <a:t>Zon</a:t>
            </a:r>
          </a:p>
        </p:txBody>
      </p:sp>
      <p:sp>
        <p:nvSpPr>
          <p:cNvPr id="12" name="TextBox 11"/>
          <p:cNvSpPr txBox="1"/>
          <p:nvPr/>
        </p:nvSpPr>
        <p:spPr>
          <a:xfrm>
            <a:off x="3403600" y="2070100"/>
            <a:ext cx="2159000" cy="952500"/>
          </a:xfrm>
          <a:prstGeom prst="rect">
            <a:avLst/>
          </a:prstGeom>
          <a:noFill/>
        </p:spPr>
        <p:txBody>
          <a:bodyPr wrap="square" anchor="ctr" lIns="0" rIns="0" tIns="0" bIns="0">
            <a:noAutofit/>
          </a:bodyPr>
          <a:lstStyle/>
          <a:p>
            <a:pPr algn="l">
              <a:lnSpc>
                <a:spcPct val="115000"/>
              </a:lnSpc>
            </a:pPr>
            <a:r>
              <a:rPr sz="1400" b="0" i="0">
                <a:solidFill>
                  <a:srgbClr val="0D2A50"/>
                </a:solidFill>
                <a:latin typeface="Nunito Sans"/>
              </a:rPr>
              <a:t>Ruime buffer, geen grote uitgaven</a:t>
            </a:r>
          </a:p>
        </p:txBody>
      </p:sp>
      <p:sp>
        <p:nvSpPr>
          <p:cNvPr id="13" name="TextBox 12"/>
          <p:cNvSpPr txBox="1"/>
          <p:nvPr/>
        </p:nvSpPr>
        <p:spPr>
          <a:xfrm>
            <a:off x="5715000" y="2070100"/>
            <a:ext cx="2413000" cy="952500"/>
          </a:xfrm>
          <a:prstGeom prst="rect">
            <a:avLst/>
          </a:prstGeom>
          <a:noFill/>
        </p:spPr>
        <p:txBody>
          <a:bodyPr wrap="square" anchor="ctr" lIns="0" rIns="0" tIns="0" bIns="0">
            <a:noAutofit/>
          </a:bodyPr>
          <a:lstStyle/>
          <a:p>
            <a:pPr algn="l">
              <a:lnSpc>
                <a:spcPct val="115000"/>
              </a:lnSpc>
            </a:pPr>
            <a:r>
              <a:rPr sz="1400" b="0" i="0">
                <a:solidFill>
                  <a:srgbClr val="45658F"/>
                </a:solidFill>
                <a:latin typeface="Nunito Sans"/>
              </a:rPr>
              <a:t>Loon net binnen</a:t>
            </a:r>
          </a:p>
        </p:txBody>
      </p:sp>
      <p:sp>
        <p:nvSpPr>
          <p:cNvPr id="14" name="TextBox 13"/>
          <p:cNvSpPr txBox="1"/>
          <p:nvPr/>
        </p:nvSpPr>
        <p:spPr>
          <a:xfrm>
            <a:off x="8280400" y="2070100"/>
            <a:ext cx="3098800" cy="952500"/>
          </a:xfrm>
          <a:prstGeom prst="rect">
            <a:avLst/>
          </a:prstGeom>
          <a:noFill/>
        </p:spPr>
        <p:txBody>
          <a:bodyPr wrap="square" anchor="ctr" lIns="0" rIns="0" tIns="0" bIns="0">
            <a:noAutofit/>
          </a:bodyPr>
          <a:lstStyle/>
          <a:p>
            <a:pPr algn="l">
              <a:lnSpc>
                <a:spcPct val="115000"/>
              </a:lnSpc>
            </a:pPr>
            <a:r>
              <a:rPr sz="1400" b="0" i="0">
                <a:solidFill>
                  <a:srgbClr val="0D2A50"/>
                </a:solidFill>
                <a:latin typeface="Nunito Sans"/>
              </a:rPr>
              <a:t>Stelt voor om een deel naar een doel te sturen</a:t>
            </a:r>
          </a:p>
        </p:txBody>
      </p:sp>
      <p:sp>
        <p:nvSpPr>
          <p:cNvPr id="15" name="Rectangle 14"/>
          <p:cNvSpPr/>
          <p:nvPr/>
        </p:nvSpPr>
        <p:spPr>
          <a:xfrm>
            <a:off x="812800" y="3073400"/>
            <a:ext cx="10566400" cy="12700"/>
          </a:xfrm>
          <a:prstGeom prst="rect">
            <a:avLst/>
          </a:prstGeom>
          <a:solidFill>
            <a:srgbClr val="BFD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bewolkt_l.gif"/>
          <p:cNvPicPr>
            <a:picLocks noChangeAspect="1"/>
          </p:cNvPicPr>
          <p:nvPr/>
        </p:nvPicPr>
        <p:blipFill>
          <a:blip r:embed="rId4"/>
          <a:stretch>
            <a:fillRect/>
          </a:stretch>
        </p:blipFill>
        <p:spPr>
          <a:xfrm>
            <a:off x="812800" y="3218744"/>
            <a:ext cx="889000" cy="661811"/>
          </a:xfrm>
          <a:prstGeom prst="rect">
            <a:avLst/>
          </a:prstGeom>
        </p:spPr>
      </p:pic>
      <p:sp>
        <p:nvSpPr>
          <p:cNvPr id="17" name="TextBox 16"/>
          <p:cNvSpPr txBox="1"/>
          <p:nvPr/>
        </p:nvSpPr>
        <p:spPr>
          <a:xfrm>
            <a:off x="1854200" y="3073400"/>
            <a:ext cx="1397000" cy="952500"/>
          </a:xfrm>
          <a:prstGeom prst="rect">
            <a:avLst/>
          </a:prstGeom>
          <a:noFill/>
        </p:spPr>
        <p:txBody>
          <a:bodyPr wrap="square" anchor="ctr" lIns="0" rIns="0" tIns="0" bIns="0">
            <a:noAutofit/>
          </a:bodyPr>
          <a:lstStyle/>
          <a:p>
            <a:pPr algn="l">
              <a:lnSpc>
                <a:spcPct val="125000"/>
              </a:lnSpc>
            </a:pPr>
            <a:r>
              <a:rPr sz="1800" b="1" i="0">
                <a:solidFill>
                  <a:srgbClr val="0D2A50"/>
                </a:solidFill>
                <a:latin typeface="Nunito Sans"/>
              </a:rPr>
              <a:t>Bewolkt</a:t>
            </a:r>
          </a:p>
        </p:txBody>
      </p:sp>
      <p:sp>
        <p:nvSpPr>
          <p:cNvPr id="18" name="TextBox 17"/>
          <p:cNvSpPr txBox="1"/>
          <p:nvPr/>
        </p:nvSpPr>
        <p:spPr>
          <a:xfrm>
            <a:off x="3403600" y="3073400"/>
            <a:ext cx="2159000" cy="952500"/>
          </a:xfrm>
          <a:prstGeom prst="rect">
            <a:avLst/>
          </a:prstGeom>
          <a:noFill/>
        </p:spPr>
        <p:txBody>
          <a:bodyPr wrap="square" anchor="ctr" lIns="0" rIns="0" tIns="0" bIns="0">
            <a:noAutofit/>
          </a:bodyPr>
          <a:lstStyle/>
          <a:p>
            <a:pPr algn="l">
              <a:lnSpc>
                <a:spcPct val="115000"/>
              </a:lnSpc>
            </a:pPr>
            <a:r>
              <a:rPr sz="1400" b="0" i="0">
                <a:solidFill>
                  <a:srgbClr val="0D2A50"/>
                </a:solidFill>
                <a:latin typeface="Nunito Sans"/>
              </a:rPr>
              <a:t>Krap maar veilig</a:t>
            </a:r>
          </a:p>
        </p:txBody>
      </p:sp>
      <p:sp>
        <p:nvSpPr>
          <p:cNvPr id="19" name="TextBox 18"/>
          <p:cNvSpPr txBox="1"/>
          <p:nvPr/>
        </p:nvSpPr>
        <p:spPr>
          <a:xfrm>
            <a:off x="5715000" y="3073400"/>
            <a:ext cx="2413000" cy="952500"/>
          </a:xfrm>
          <a:prstGeom prst="rect">
            <a:avLst/>
          </a:prstGeom>
          <a:noFill/>
        </p:spPr>
        <p:txBody>
          <a:bodyPr wrap="square" anchor="ctr" lIns="0" rIns="0" tIns="0" bIns="0">
            <a:noAutofit/>
          </a:bodyPr>
          <a:lstStyle/>
          <a:p>
            <a:pPr algn="l">
              <a:lnSpc>
                <a:spcPct val="115000"/>
              </a:lnSpc>
            </a:pPr>
            <a:r>
              <a:rPr sz="1400" b="0" i="0">
                <a:solidFill>
                  <a:srgbClr val="45658F"/>
                </a:solidFill>
                <a:latin typeface="Nunito Sans"/>
              </a:rPr>
              <a:t>Eind van de maand</a:t>
            </a:r>
          </a:p>
        </p:txBody>
      </p:sp>
      <p:sp>
        <p:nvSpPr>
          <p:cNvPr id="20" name="TextBox 19"/>
          <p:cNvSpPr txBox="1"/>
          <p:nvPr/>
        </p:nvSpPr>
        <p:spPr>
          <a:xfrm>
            <a:off x="8280400" y="3073400"/>
            <a:ext cx="3098800" cy="952500"/>
          </a:xfrm>
          <a:prstGeom prst="rect">
            <a:avLst/>
          </a:prstGeom>
          <a:noFill/>
        </p:spPr>
        <p:txBody>
          <a:bodyPr wrap="square" anchor="ctr" lIns="0" rIns="0" tIns="0" bIns="0">
            <a:noAutofit/>
          </a:bodyPr>
          <a:lstStyle/>
          <a:p>
            <a:pPr algn="l">
              <a:lnSpc>
                <a:spcPct val="115000"/>
              </a:lnSpc>
            </a:pPr>
            <a:r>
              <a:rPr sz="1400" b="0" i="0">
                <a:solidFill>
                  <a:srgbClr val="0D2A50"/>
                </a:solidFill>
                <a:latin typeface="Nunito Sans"/>
              </a:rPr>
              <a:t>Niets: stilte is ook advies</a:t>
            </a:r>
          </a:p>
        </p:txBody>
      </p:sp>
      <p:sp>
        <p:nvSpPr>
          <p:cNvPr id="21" name="Rectangle 20"/>
          <p:cNvSpPr/>
          <p:nvPr/>
        </p:nvSpPr>
        <p:spPr>
          <a:xfrm>
            <a:off x="812800" y="4076700"/>
            <a:ext cx="10566400" cy="12700"/>
          </a:xfrm>
          <a:prstGeom prst="rect">
            <a:avLst/>
          </a:prstGeom>
          <a:solidFill>
            <a:srgbClr val="BFD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regen_l.gif"/>
          <p:cNvPicPr>
            <a:picLocks noChangeAspect="1"/>
          </p:cNvPicPr>
          <p:nvPr/>
        </p:nvPicPr>
        <p:blipFill>
          <a:blip r:embed="rId5"/>
          <a:stretch>
            <a:fillRect/>
          </a:stretch>
        </p:blipFill>
        <p:spPr>
          <a:xfrm>
            <a:off x="876433" y="4127500"/>
            <a:ext cx="761733" cy="850900"/>
          </a:xfrm>
          <a:prstGeom prst="rect">
            <a:avLst/>
          </a:prstGeom>
        </p:spPr>
      </p:pic>
      <p:sp>
        <p:nvSpPr>
          <p:cNvPr id="23" name="TextBox 22"/>
          <p:cNvSpPr txBox="1"/>
          <p:nvPr/>
        </p:nvSpPr>
        <p:spPr>
          <a:xfrm>
            <a:off x="1854200" y="4076700"/>
            <a:ext cx="1397000" cy="952500"/>
          </a:xfrm>
          <a:prstGeom prst="rect">
            <a:avLst/>
          </a:prstGeom>
          <a:noFill/>
        </p:spPr>
        <p:txBody>
          <a:bodyPr wrap="square" anchor="ctr" lIns="0" rIns="0" tIns="0" bIns="0">
            <a:noAutofit/>
          </a:bodyPr>
          <a:lstStyle/>
          <a:p>
            <a:pPr algn="l">
              <a:lnSpc>
                <a:spcPct val="125000"/>
              </a:lnSpc>
            </a:pPr>
            <a:r>
              <a:rPr sz="1800" b="1" i="0">
                <a:solidFill>
                  <a:srgbClr val="0D2A50"/>
                </a:solidFill>
                <a:latin typeface="Nunito Sans"/>
              </a:rPr>
              <a:t>Regen</a:t>
            </a:r>
          </a:p>
        </p:txBody>
      </p:sp>
      <p:sp>
        <p:nvSpPr>
          <p:cNvPr id="24" name="TextBox 23"/>
          <p:cNvSpPr txBox="1"/>
          <p:nvPr/>
        </p:nvSpPr>
        <p:spPr>
          <a:xfrm>
            <a:off x="3403600" y="4076700"/>
            <a:ext cx="2159000" cy="952500"/>
          </a:xfrm>
          <a:prstGeom prst="rect">
            <a:avLst/>
          </a:prstGeom>
          <a:noFill/>
        </p:spPr>
        <p:txBody>
          <a:bodyPr wrap="square" anchor="ctr" lIns="0" rIns="0" tIns="0" bIns="0">
            <a:noAutofit/>
          </a:bodyPr>
          <a:lstStyle/>
          <a:p>
            <a:pPr algn="l">
              <a:lnSpc>
                <a:spcPct val="115000"/>
              </a:lnSpc>
            </a:pPr>
            <a:r>
              <a:rPr sz="1400" b="0" i="0">
                <a:solidFill>
                  <a:srgbClr val="0D2A50"/>
                </a:solidFill>
                <a:latin typeface="Nunito Sans"/>
              </a:rPr>
              <a:t>Grote geplande uitgave</a:t>
            </a:r>
          </a:p>
        </p:txBody>
      </p:sp>
      <p:sp>
        <p:nvSpPr>
          <p:cNvPr id="25" name="TextBox 24"/>
          <p:cNvSpPr txBox="1"/>
          <p:nvPr/>
        </p:nvSpPr>
        <p:spPr>
          <a:xfrm>
            <a:off x="5715000" y="4076700"/>
            <a:ext cx="2413000" cy="952500"/>
          </a:xfrm>
          <a:prstGeom prst="rect">
            <a:avLst/>
          </a:prstGeom>
          <a:noFill/>
        </p:spPr>
        <p:txBody>
          <a:bodyPr wrap="square" anchor="ctr" lIns="0" rIns="0" tIns="0" bIns="0">
            <a:noAutofit/>
          </a:bodyPr>
          <a:lstStyle/>
          <a:p>
            <a:pPr algn="l">
              <a:lnSpc>
                <a:spcPct val="115000"/>
              </a:lnSpc>
            </a:pPr>
            <a:r>
              <a:rPr sz="1400" b="0" i="0">
                <a:solidFill>
                  <a:srgbClr val="45658F"/>
                </a:solidFill>
                <a:latin typeface="Nunito Sans"/>
              </a:rPr>
              <a:t>Autoverzekering, schoolrekening</a:t>
            </a:r>
          </a:p>
        </p:txBody>
      </p:sp>
      <p:sp>
        <p:nvSpPr>
          <p:cNvPr id="26" name="TextBox 25"/>
          <p:cNvSpPr txBox="1"/>
          <p:nvPr/>
        </p:nvSpPr>
        <p:spPr>
          <a:xfrm>
            <a:off x="8280400" y="4076700"/>
            <a:ext cx="3098800" cy="952500"/>
          </a:xfrm>
          <a:prstGeom prst="rect">
            <a:avLst/>
          </a:prstGeom>
          <a:noFill/>
        </p:spPr>
        <p:txBody>
          <a:bodyPr wrap="square" anchor="ctr" lIns="0" rIns="0" tIns="0" bIns="0">
            <a:noAutofit/>
          </a:bodyPr>
          <a:lstStyle/>
          <a:p>
            <a:pPr algn="l">
              <a:lnSpc>
                <a:spcPct val="115000"/>
              </a:lnSpc>
            </a:pPr>
            <a:r>
              <a:rPr sz="1400" b="0" i="0">
                <a:solidFill>
                  <a:srgbClr val="0D2A50"/>
                </a:solidFill>
                <a:latin typeface="Nunito Sans"/>
              </a:rPr>
              <a:t>Toont hoe snel het weer opklaart</a:t>
            </a:r>
          </a:p>
        </p:txBody>
      </p:sp>
      <p:sp>
        <p:nvSpPr>
          <p:cNvPr id="27" name="Rectangle 26"/>
          <p:cNvSpPr/>
          <p:nvPr/>
        </p:nvSpPr>
        <p:spPr>
          <a:xfrm>
            <a:off x="812800" y="5080000"/>
            <a:ext cx="10566400" cy="12700"/>
          </a:xfrm>
          <a:prstGeom prst="rect">
            <a:avLst/>
          </a:prstGeom>
          <a:solidFill>
            <a:srgbClr val="BFD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donder_l.gif"/>
          <p:cNvPicPr>
            <a:picLocks noChangeAspect="1"/>
          </p:cNvPicPr>
          <p:nvPr/>
        </p:nvPicPr>
        <p:blipFill>
          <a:blip r:embed="rId6"/>
          <a:stretch>
            <a:fillRect/>
          </a:stretch>
        </p:blipFill>
        <p:spPr>
          <a:xfrm>
            <a:off x="831850" y="5130800"/>
            <a:ext cx="850900" cy="850900"/>
          </a:xfrm>
          <a:prstGeom prst="rect">
            <a:avLst/>
          </a:prstGeom>
        </p:spPr>
      </p:pic>
      <p:sp>
        <p:nvSpPr>
          <p:cNvPr id="29" name="TextBox 28"/>
          <p:cNvSpPr txBox="1"/>
          <p:nvPr/>
        </p:nvSpPr>
        <p:spPr>
          <a:xfrm>
            <a:off x="1854200" y="5080000"/>
            <a:ext cx="1397000" cy="952500"/>
          </a:xfrm>
          <a:prstGeom prst="rect">
            <a:avLst/>
          </a:prstGeom>
          <a:noFill/>
        </p:spPr>
        <p:txBody>
          <a:bodyPr wrap="square" anchor="ctr" lIns="0" rIns="0" tIns="0" bIns="0">
            <a:noAutofit/>
          </a:bodyPr>
          <a:lstStyle/>
          <a:p>
            <a:pPr algn="l">
              <a:lnSpc>
                <a:spcPct val="125000"/>
              </a:lnSpc>
            </a:pPr>
            <a:r>
              <a:rPr sz="1800" b="1" i="0">
                <a:solidFill>
                  <a:srgbClr val="0D2A50"/>
                </a:solidFill>
                <a:latin typeface="Nunito Sans"/>
              </a:rPr>
              <a:t>Donder</a:t>
            </a:r>
          </a:p>
        </p:txBody>
      </p:sp>
      <p:sp>
        <p:nvSpPr>
          <p:cNvPr id="30" name="TextBox 29"/>
          <p:cNvSpPr txBox="1"/>
          <p:nvPr/>
        </p:nvSpPr>
        <p:spPr>
          <a:xfrm>
            <a:off x="3403600" y="5080000"/>
            <a:ext cx="2159000" cy="952500"/>
          </a:xfrm>
          <a:prstGeom prst="rect">
            <a:avLst/>
          </a:prstGeom>
          <a:noFill/>
        </p:spPr>
        <p:txBody>
          <a:bodyPr wrap="square" anchor="ctr" lIns="0" rIns="0" tIns="0" bIns="0">
            <a:noAutofit/>
          </a:bodyPr>
          <a:lstStyle/>
          <a:p>
            <a:pPr algn="l">
              <a:lnSpc>
                <a:spcPct val="115000"/>
              </a:lnSpc>
            </a:pPr>
            <a:r>
              <a:rPr sz="1400" b="0" i="0">
                <a:solidFill>
                  <a:srgbClr val="0D2A50"/>
                </a:solidFill>
                <a:latin typeface="Nunito Sans"/>
              </a:rPr>
              <a:t>Piek van impulsuitgaven</a:t>
            </a:r>
          </a:p>
        </p:txBody>
      </p:sp>
      <p:sp>
        <p:nvSpPr>
          <p:cNvPr id="31" name="TextBox 30"/>
          <p:cNvSpPr txBox="1"/>
          <p:nvPr/>
        </p:nvSpPr>
        <p:spPr>
          <a:xfrm>
            <a:off x="5715000" y="5080000"/>
            <a:ext cx="2413000" cy="952500"/>
          </a:xfrm>
          <a:prstGeom prst="rect">
            <a:avLst/>
          </a:prstGeom>
          <a:noFill/>
        </p:spPr>
        <p:txBody>
          <a:bodyPr wrap="square" anchor="ctr" lIns="0" rIns="0" tIns="0" bIns="0">
            <a:noAutofit/>
          </a:bodyPr>
          <a:lstStyle/>
          <a:p>
            <a:pPr algn="l">
              <a:lnSpc>
                <a:spcPct val="115000"/>
              </a:lnSpc>
            </a:pPr>
            <a:r>
              <a:rPr sz="1400" b="0" i="0">
                <a:solidFill>
                  <a:srgbClr val="45658F"/>
                </a:solidFill>
                <a:latin typeface="Nunito Sans"/>
              </a:rPr>
              <a:t>Vrijdagavond uitgaan</a:t>
            </a:r>
          </a:p>
        </p:txBody>
      </p:sp>
      <p:sp>
        <p:nvSpPr>
          <p:cNvPr id="32" name="TextBox 31"/>
          <p:cNvSpPr txBox="1"/>
          <p:nvPr/>
        </p:nvSpPr>
        <p:spPr>
          <a:xfrm>
            <a:off x="8280400" y="5080000"/>
            <a:ext cx="3098800" cy="952500"/>
          </a:xfrm>
          <a:prstGeom prst="rect">
            <a:avLst/>
          </a:prstGeom>
          <a:noFill/>
        </p:spPr>
        <p:txBody>
          <a:bodyPr wrap="square" anchor="ctr" lIns="0" rIns="0" tIns="0" bIns="0">
            <a:noAutofit/>
          </a:bodyPr>
          <a:lstStyle/>
          <a:p>
            <a:pPr algn="l">
              <a:lnSpc>
                <a:spcPct val="115000"/>
              </a:lnSpc>
            </a:pPr>
            <a:r>
              <a:rPr sz="1400" b="0" i="0">
                <a:solidFill>
                  <a:srgbClr val="0D2A50"/>
                </a:solidFill>
                <a:latin typeface="Nunito Sans"/>
              </a:rPr>
              <a:t>Herschikt de dagen erna, zonder oordeel</a:t>
            </a:r>
          </a:p>
        </p:txBody>
      </p:sp>
      <p:sp>
        <p:nvSpPr>
          <p:cNvPr id="33" name="TextBox 32"/>
          <p:cNvSpPr txBox="1"/>
          <p:nvPr/>
        </p:nvSpPr>
        <p:spPr>
          <a:xfrm>
            <a:off x="812800" y="6350000"/>
            <a:ext cx="8890000" cy="215900"/>
          </a:xfrm>
          <a:prstGeom prst="rect">
            <a:avLst/>
          </a:prstGeom>
          <a:noFill/>
        </p:spPr>
        <p:txBody>
          <a:bodyPr wrap="square" anchor="t" lIns="0" rIns="0" tIns="0" bIns="0">
            <a:noAutofit/>
          </a:bodyPr>
          <a:lstStyle/>
          <a:p>
            <a:pPr algn="l">
              <a:lnSpc>
                <a:spcPct val="125000"/>
              </a:lnSpc>
            </a:pPr>
            <a:r>
              <a:rPr sz="1100" b="0" i="0">
                <a:solidFill>
                  <a:srgbClr val="45658F"/>
                </a:solidFill>
                <a:latin typeface="Nunito Sans"/>
              </a:rPr>
              <a:t>KBC Weerbericht · Jij kiest het weer · Team Trojan Horse</a:t>
            </a:r>
          </a:p>
        </p:txBody>
      </p:sp>
      <p:sp>
        <p:nvSpPr>
          <p:cNvPr id="34" name="TextBox 33"/>
          <p:cNvSpPr txBox="1"/>
          <p:nvPr/>
        </p:nvSpPr>
        <p:spPr>
          <a:xfrm>
            <a:off x="10109200" y="6350000"/>
            <a:ext cx="1270000" cy="215900"/>
          </a:xfrm>
          <a:prstGeom prst="rect">
            <a:avLst/>
          </a:prstGeom>
          <a:noFill/>
        </p:spPr>
        <p:txBody>
          <a:bodyPr wrap="square" anchor="t" lIns="0" rIns="0" tIns="0" bIns="0">
            <a:noAutofit/>
          </a:bodyPr>
          <a:lstStyle/>
          <a:p>
            <a:pPr algn="r">
              <a:lnSpc>
                <a:spcPct val="125000"/>
              </a:lnSpc>
            </a:pPr>
            <a:r>
              <a:rPr sz="1100" b="0" i="0">
                <a:solidFill>
                  <a:srgbClr val="45658F"/>
                </a:solidFill>
                <a:latin typeface="Nunito Sans"/>
              </a:rPr>
              <a:t>6 / 23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4" fill="hold">
                            <p:stCondLst>
                              <p:cond delay="0"/>
                            </p:stCondLst>
                            <p:childTnLst>
                              <p:par>
                                <p:cTn id="4" presetID="42"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ppt_y+.08"/>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p:cTn id="12" dur="500" fill="hold"/>
                                        <p:tgtEl>
                                          <p:spTgt spid="3"/>
                                        </p:tgtEl>
                                        <p:attrNameLst>
                                          <p:attrName>ppt_x</p:attrName>
                                        </p:attrNameLst>
                                      </p:cBhvr>
                                      <p:tavLst>
                                        <p:tav tm="0">
                                          <p:val>
                                            <p:strVal val="#ppt_x"/>
                                          </p:val>
                                        </p:tav>
                                        <p:tav tm="100000">
                                          <p:val>
                                            <p:strVal val="#ppt_x"/>
                                          </p:val>
                                        </p:tav>
                                      </p:tavLst>
                                    </p:anim>
                                    <p:anim calcmode="lin" valueType="num">
                                      <p:cBhvr>
                                        <p:cTn id="13" dur="500" fill="hold"/>
                                        <p:tgtEl>
                                          <p:spTgt spid="3"/>
                                        </p:tgtEl>
                                        <p:attrNameLst>
                                          <p:attrName>ppt_y</p:attrName>
                                        </p:attrNameLst>
                                      </p:cBhvr>
                                      <p:tavLst>
                                        <p:tav tm="0">
                                          <p:val>
                                            <p:strVal val="#ppt_y+.08"/>
                                          </p:val>
                                        </p:tav>
                                        <p:tav tm="100000">
                                          <p:val>
                                            <p:strVal val="#ppt_y"/>
                                          </p:val>
                                        </p:tav>
                                      </p:tavLst>
                                    </p:anim>
                                  </p:childTnLst>
                                </p:cTn>
                              </p:par>
                            </p:childTnLst>
                          </p:cTn>
                        </p:par>
                        <p:par>
                          <p:cTn id="30" fill="hold">
                            <p:stCondLst>
                              <p:cond delay="350"/>
                            </p:stCondLst>
                            <p:childTnLst>
                              <p:par>
                                <p:cTn id="15" presetID="10" presetClass="entr" presetSubtype="0"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300"/>
                                        <p:tgtEl>
                                          <p:spTgt spid="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300"/>
                                        <p:tgtEl>
                                          <p:spTgt spid="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300"/>
                                        <p:tgtEl>
                                          <p:spTgt spid="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300"/>
                                        <p:tgtEl>
                                          <p:spTgt spid="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300"/>
                                        <p:tgtEl>
                                          <p:spTgt spid="8"/>
                                        </p:tgtEl>
                                      </p:cBhvr>
                                    </p:animEffect>
                                  </p:childTnLst>
                                </p:cTn>
                              </p:par>
                            </p:childTnLst>
                          </p:cTn>
                        </p:par>
                        <p:par>
                          <p:cTn id="61" fill="hold">
                            <p:stCondLst>
                              <p:cond delay="560"/>
                            </p:stCondLst>
                            <p:childTnLst>
                              <p:par>
                                <p:cTn id="31" presetID="42" presetClass="entr" presetSubtype="0" fill="hold" grpId="0" nodeType="after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450"/>
                                        <p:tgtEl>
                                          <p:spTgt spid="9"/>
                                        </p:tgtEl>
                                      </p:cBhvr>
                                    </p:animEffect>
                                    <p:anim calcmode="lin" valueType="num">
                                      <p:cBhvr>
                                        <p:cTn id="34" dur="450" fill="hold"/>
                                        <p:tgtEl>
                                          <p:spTgt spid="9"/>
                                        </p:tgtEl>
                                        <p:attrNameLst>
                                          <p:attrName>ppt_x</p:attrName>
                                        </p:attrNameLst>
                                      </p:cBhvr>
                                      <p:tavLst>
                                        <p:tav tm="0">
                                          <p:val>
                                            <p:strVal val="#ppt_x"/>
                                          </p:val>
                                        </p:tav>
                                        <p:tav tm="100000">
                                          <p:val>
                                            <p:strVal val="#ppt_x"/>
                                          </p:val>
                                        </p:tav>
                                      </p:tavLst>
                                    </p:anim>
                                    <p:anim calcmode="lin" valueType="num">
                                      <p:cBhvr>
                                        <p:cTn id="35" dur="450" fill="hold"/>
                                        <p:tgtEl>
                                          <p:spTgt spid="9"/>
                                        </p:tgtEl>
                                        <p:attrNameLst>
                                          <p:attrName>ppt_y</p:attrName>
                                        </p:attrNameLst>
                                      </p:cBhvr>
                                      <p:tavLst>
                                        <p:tav tm="0">
                                          <p:val>
                                            <p:strVal val="#ppt_y+.08"/>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450"/>
                                        <p:tgtEl>
                                          <p:spTgt spid="10"/>
                                        </p:tgtEl>
                                      </p:cBhvr>
                                    </p:animEffect>
                                    <p:anim calcmode="lin" valueType="num">
                                      <p:cBhvr>
                                        <p:cTn id="39" dur="450" fill="hold"/>
                                        <p:tgtEl>
                                          <p:spTgt spid="10"/>
                                        </p:tgtEl>
                                        <p:attrNameLst>
                                          <p:attrName>ppt_x</p:attrName>
                                        </p:attrNameLst>
                                      </p:cBhvr>
                                      <p:tavLst>
                                        <p:tav tm="0">
                                          <p:val>
                                            <p:strVal val="#ppt_x"/>
                                          </p:val>
                                        </p:tav>
                                        <p:tav tm="100000">
                                          <p:val>
                                            <p:strVal val="#ppt_x"/>
                                          </p:val>
                                        </p:tav>
                                      </p:tavLst>
                                    </p:anim>
                                    <p:anim calcmode="lin" valueType="num">
                                      <p:cBhvr>
                                        <p:cTn id="40" dur="450" fill="hold"/>
                                        <p:tgtEl>
                                          <p:spTgt spid="10"/>
                                        </p:tgtEl>
                                        <p:attrNameLst>
                                          <p:attrName>ppt_y</p:attrName>
                                        </p:attrNameLst>
                                      </p:cBhvr>
                                      <p:tavLst>
                                        <p:tav tm="0">
                                          <p:val>
                                            <p:strVal val="#ppt_y+.08"/>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450"/>
                                        <p:tgtEl>
                                          <p:spTgt spid="11"/>
                                        </p:tgtEl>
                                      </p:cBhvr>
                                    </p:animEffect>
                                    <p:anim calcmode="lin" valueType="num">
                                      <p:cBhvr>
                                        <p:cTn id="44" dur="450" fill="hold"/>
                                        <p:tgtEl>
                                          <p:spTgt spid="11"/>
                                        </p:tgtEl>
                                        <p:attrNameLst>
                                          <p:attrName>ppt_x</p:attrName>
                                        </p:attrNameLst>
                                      </p:cBhvr>
                                      <p:tavLst>
                                        <p:tav tm="0">
                                          <p:val>
                                            <p:strVal val="#ppt_x"/>
                                          </p:val>
                                        </p:tav>
                                        <p:tav tm="100000">
                                          <p:val>
                                            <p:strVal val="#ppt_x"/>
                                          </p:val>
                                        </p:tav>
                                      </p:tavLst>
                                    </p:anim>
                                    <p:anim calcmode="lin" valueType="num">
                                      <p:cBhvr>
                                        <p:cTn id="45" dur="450" fill="hold"/>
                                        <p:tgtEl>
                                          <p:spTgt spid="11"/>
                                        </p:tgtEl>
                                        <p:attrNameLst>
                                          <p:attrName>ppt_y</p:attrName>
                                        </p:attrNameLst>
                                      </p:cBhvr>
                                      <p:tavLst>
                                        <p:tav tm="0">
                                          <p:val>
                                            <p:strVal val="#ppt_y+.08"/>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450"/>
                                        <p:tgtEl>
                                          <p:spTgt spid="12"/>
                                        </p:tgtEl>
                                      </p:cBhvr>
                                    </p:animEffect>
                                    <p:anim calcmode="lin" valueType="num">
                                      <p:cBhvr>
                                        <p:cTn id="49" dur="450" fill="hold"/>
                                        <p:tgtEl>
                                          <p:spTgt spid="12"/>
                                        </p:tgtEl>
                                        <p:attrNameLst>
                                          <p:attrName>ppt_x</p:attrName>
                                        </p:attrNameLst>
                                      </p:cBhvr>
                                      <p:tavLst>
                                        <p:tav tm="0">
                                          <p:val>
                                            <p:strVal val="#ppt_x"/>
                                          </p:val>
                                        </p:tav>
                                        <p:tav tm="100000">
                                          <p:val>
                                            <p:strVal val="#ppt_x"/>
                                          </p:val>
                                        </p:tav>
                                      </p:tavLst>
                                    </p:anim>
                                    <p:anim calcmode="lin" valueType="num">
                                      <p:cBhvr>
                                        <p:cTn id="50" dur="450" fill="hold"/>
                                        <p:tgtEl>
                                          <p:spTgt spid="12"/>
                                        </p:tgtEl>
                                        <p:attrNameLst>
                                          <p:attrName>ppt_y</p:attrName>
                                        </p:attrNameLst>
                                      </p:cBhvr>
                                      <p:tavLst>
                                        <p:tav tm="0">
                                          <p:val>
                                            <p:strVal val="#ppt_y+.08"/>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450"/>
                                        <p:tgtEl>
                                          <p:spTgt spid="13"/>
                                        </p:tgtEl>
                                      </p:cBhvr>
                                    </p:animEffect>
                                    <p:anim calcmode="lin" valueType="num">
                                      <p:cBhvr>
                                        <p:cTn id="54" dur="450" fill="hold"/>
                                        <p:tgtEl>
                                          <p:spTgt spid="13"/>
                                        </p:tgtEl>
                                        <p:attrNameLst>
                                          <p:attrName>ppt_x</p:attrName>
                                        </p:attrNameLst>
                                      </p:cBhvr>
                                      <p:tavLst>
                                        <p:tav tm="0">
                                          <p:val>
                                            <p:strVal val="#ppt_x"/>
                                          </p:val>
                                        </p:tav>
                                        <p:tav tm="100000">
                                          <p:val>
                                            <p:strVal val="#ppt_x"/>
                                          </p:val>
                                        </p:tav>
                                      </p:tavLst>
                                    </p:anim>
                                    <p:anim calcmode="lin" valueType="num">
                                      <p:cBhvr>
                                        <p:cTn id="55" dur="450" fill="hold"/>
                                        <p:tgtEl>
                                          <p:spTgt spid="13"/>
                                        </p:tgtEl>
                                        <p:attrNameLst>
                                          <p:attrName>ppt_y</p:attrName>
                                        </p:attrNameLst>
                                      </p:cBhvr>
                                      <p:tavLst>
                                        <p:tav tm="0">
                                          <p:val>
                                            <p:strVal val="#ppt_y+.08"/>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450"/>
                                        <p:tgtEl>
                                          <p:spTgt spid="14"/>
                                        </p:tgtEl>
                                      </p:cBhvr>
                                    </p:animEffect>
                                    <p:anim calcmode="lin" valueType="num">
                                      <p:cBhvr>
                                        <p:cTn id="59" dur="450" fill="hold"/>
                                        <p:tgtEl>
                                          <p:spTgt spid="14"/>
                                        </p:tgtEl>
                                        <p:attrNameLst>
                                          <p:attrName>ppt_x</p:attrName>
                                        </p:attrNameLst>
                                      </p:cBhvr>
                                      <p:tavLst>
                                        <p:tav tm="0">
                                          <p:val>
                                            <p:strVal val="#ppt_x"/>
                                          </p:val>
                                        </p:tav>
                                        <p:tav tm="100000">
                                          <p:val>
                                            <p:strVal val="#ppt_x"/>
                                          </p:val>
                                        </p:tav>
                                      </p:tavLst>
                                    </p:anim>
                                    <p:anim calcmode="lin" valueType="num">
                                      <p:cBhvr>
                                        <p:cTn id="60" dur="450" fill="hold"/>
                                        <p:tgtEl>
                                          <p:spTgt spid="14"/>
                                        </p:tgtEl>
                                        <p:attrNameLst>
                                          <p:attrName>ppt_y</p:attrName>
                                        </p:attrNameLst>
                                      </p:cBhvr>
                                      <p:tavLst>
                                        <p:tav tm="0">
                                          <p:val>
                                            <p:strVal val="#ppt_y+.08"/>
                                          </p:val>
                                        </p:tav>
                                        <p:tav tm="100000">
                                          <p:val>
                                            <p:strVal val="#ppt_y"/>
                                          </p:val>
                                        </p:tav>
                                      </p:tavLst>
                                    </p:anim>
                                  </p:childTnLst>
                                </p:cTn>
                              </p:par>
                            </p:childTnLst>
                          </p:cTn>
                        </p:par>
                        <p:par>
                          <p:cTn id="92" fill="hold">
                            <p:stCondLst>
                              <p:cond delay="875"/>
                            </p:stCondLst>
                            <p:childTnLst>
                              <p:par>
                                <p:cTn id="62" presetID="42" presetClass="entr" presetSubtype="0" fill="hold" grpId="0"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450"/>
                                        <p:tgtEl>
                                          <p:spTgt spid="15"/>
                                        </p:tgtEl>
                                      </p:cBhvr>
                                    </p:animEffect>
                                    <p:anim calcmode="lin" valueType="num">
                                      <p:cBhvr>
                                        <p:cTn id="65" dur="450" fill="hold"/>
                                        <p:tgtEl>
                                          <p:spTgt spid="15"/>
                                        </p:tgtEl>
                                        <p:attrNameLst>
                                          <p:attrName>ppt_x</p:attrName>
                                        </p:attrNameLst>
                                      </p:cBhvr>
                                      <p:tavLst>
                                        <p:tav tm="0">
                                          <p:val>
                                            <p:strVal val="#ppt_x"/>
                                          </p:val>
                                        </p:tav>
                                        <p:tav tm="100000">
                                          <p:val>
                                            <p:strVal val="#ppt_x"/>
                                          </p:val>
                                        </p:tav>
                                      </p:tavLst>
                                    </p:anim>
                                    <p:anim calcmode="lin" valueType="num">
                                      <p:cBhvr>
                                        <p:cTn id="66" dur="450" fill="hold"/>
                                        <p:tgtEl>
                                          <p:spTgt spid="15"/>
                                        </p:tgtEl>
                                        <p:attrNameLst>
                                          <p:attrName>ppt_y</p:attrName>
                                        </p:attrNameLst>
                                      </p:cBhvr>
                                      <p:tavLst>
                                        <p:tav tm="0">
                                          <p:val>
                                            <p:strVal val="#ppt_y+.08"/>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450"/>
                                        <p:tgtEl>
                                          <p:spTgt spid="16"/>
                                        </p:tgtEl>
                                      </p:cBhvr>
                                    </p:animEffect>
                                    <p:anim calcmode="lin" valueType="num">
                                      <p:cBhvr>
                                        <p:cTn id="70" dur="450" fill="hold"/>
                                        <p:tgtEl>
                                          <p:spTgt spid="16"/>
                                        </p:tgtEl>
                                        <p:attrNameLst>
                                          <p:attrName>ppt_x</p:attrName>
                                        </p:attrNameLst>
                                      </p:cBhvr>
                                      <p:tavLst>
                                        <p:tav tm="0">
                                          <p:val>
                                            <p:strVal val="#ppt_x"/>
                                          </p:val>
                                        </p:tav>
                                        <p:tav tm="100000">
                                          <p:val>
                                            <p:strVal val="#ppt_x"/>
                                          </p:val>
                                        </p:tav>
                                      </p:tavLst>
                                    </p:anim>
                                    <p:anim calcmode="lin" valueType="num">
                                      <p:cBhvr>
                                        <p:cTn id="71" dur="450" fill="hold"/>
                                        <p:tgtEl>
                                          <p:spTgt spid="16"/>
                                        </p:tgtEl>
                                        <p:attrNameLst>
                                          <p:attrName>ppt_y</p:attrName>
                                        </p:attrNameLst>
                                      </p:cBhvr>
                                      <p:tavLst>
                                        <p:tav tm="0">
                                          <p:val>
                                            <p:strVal val="#ppt_y+.08"/>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7"/>
                                        </p:tgtEl>
                                        <p:attrNameLst>
                                          <p:attrName>style.visibility</p:attrName>
                                        </p:attrNameLst>
                                      </p:cBhvr>
                                      <p:to>
                                        <p:strVal val="visible"/>
                                      </p:to>
                                    </p:set>
                                    <p:animEffect transition="in" filter="fade">
                                      <p:cBhvr>
                                        <p:cTn id="74" dur="450"/>
                                        <p:tgtEl>
                                          <p:spTgt spid="17"/>
                                        </p:tgtEl>
                                      </p:cBhvr>
                                    </p:animEffect>
                                    <p:anim calcmode="lin" valueType="num">
                                      <p:cBhvr>
                                        <p:cTn id="75" dur="450" fill="hold"/>
                                        <p:tgtEl>
                                          <p:spTgt spid="17"/>
                                        </p:tgtEl>
                                        <p:attrNameLst>
                                          <p:attrName>ppt_x</p:attrName>
                                        </p:attrNameLst>
                                      </p:cBhvr>
                                      <p:tavLst>
                                        <p:tav tm="0">
                                          <p:val>
                                            <p:strVal val="#ppt_x"/>
                                          </p:val>
                                        </p:tav>
                                        <p:tav tm="100000">
                                          <p:val>
                                            <p:strVal val="#ppt_x"/>
                                          </p:val>
                                        </p:tav>
                                      </p:tavLst>
                                    </p:anim>
                                    <p:anim calcmode="lin" valueType="num">
                                      <p:cBhvr>
                                        <p:cTn id="76" dur="450" fill="hold"/>
                                        <p:tgtEl>
                                          <p:spTgt spid="17"/>
                                        </p:tgtEl>
                                        <p:attrNameLst>
                                          <p:attrName>ppt_y</p:attrName>
                                        </p:attrNameLst>
                                      </p:cBhvr>
                                      <p:tavLst>
                                        <p:tav tm="0">
                                          <p:val>
                                            <p:strVal val="#ppt_y+.08"/>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fade">
                                      <p:cBhvr>
                                        <p:cTn id="79" dur="450"/>
                                        <p:tgtEl>
                                          <p:spTgt spid="18"/>
                                        </p:tgtEl>
                                      </p:cBhvr>
                                    </p:animEffect>
                                    <p:anim calcmode="lin" valueType="num">
                                      <p:cBhvr>
                                        <p:cTn id="80" dur="450" fill="hold"/>
                                        <p:tgtEl>
                                          <p:spTgt spid="18"/>
                                        </p:tgtEl>
                                        <p:attrNameLst>
                                          <p:attrName>ppt_x</p:attrName>
                                        </p:attrNameLst>
                                      </p:cBhvr>
                                      <p:tavLst>
                                        <p:tav tm="0">
                                          <p:val>
                                            <p:strVal val="#ppt_x"/>
                                          </p:val>
                                        </p:tav>
                                        <p:tav tm="100000">
                                          <p:val>
                                            <p:strVal val="#ppt_x"/>
                                          </p:val>
                                        </p:tav>
                                      </p:tavLst>
                                    </p:anim>
                                    <p:anim calcmode="lin" valueType="num">
                                      <p:cBhvr>
                                        <p:cTn id="81" dur="450" fill="hold"/>
                                        <p:tgtEl>
                                          <p:spTgt spid="18"/>
                                        </p:tgtEl>
                                        <p:attrNameLst>
                                          <p:attrName>ppt_y</p:attrName>
                                        </p:attrNameLst>
                                      </p:cBhvr>
                                      <p:tavLst>
                                        <p:tav tm="0">
                                          <p:val>
                                            <p:strVal val="#ppt_y+.08"/>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450"/>
                                        <p:tgtEl>
                                          <p:spTgt spid="19"/>
                                        </p:tgtEl>
                                      </p:cBhvr>
                                    </p:animEffect>
                                    <p:anim calcmode="lin" valueType="num">
                                      <p:cBhvr>
                                        <p:cTn id="85" dur="450" fill="hold"/>
                                        <p:tgtEl>
                                          <p:spTgt spid="19"/>
                                        </p:tgtEl>
                                        <p:attrNameLst>
                                          <p:attrName>ppt_x</p:attrName>
                                        </p:attrNameLst>
                                      </p:cBhvr>
                                      <p:tavLst>
                                        <p:tav tm="0">
                                          <p:val>
                                            <p:strVal val="#ppt_x"/>
                                          </p:val>
                                        </p:tav>
                                        <p:tav tm="100000">
                                          <p:val>
                                            <p:strVal val="#ppt_x"/>
                                          </p:val>
                                        </p:tav>
                                      </p:tavLst>
                                    </p:anim>
                                    <p:anim calcmode="lin" valueType="num">
                                      <p:cBhvr>
                                        <p:cTn id="86" dur="450" fill="hold"/>
                                        <p:tgtEl>
                                          <p:spTgt spid="19"/>
                                        </p:tgtEl>
                                        <p:attrNameLst>
                                          <p:attrName>ppt_y</p:attrName>
                                        </p:attrNameLst>
                                      </p:cBhvr>
                                      <p:tavLst>
                                        <p:tav tm="0">
                                          <p:val>
                                            <p:strVal val="#ppt_y+.08"/>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20"/>
                                        </p:tgtEl>
                                        <p:attrNameLst>
                                          <p:attrName>style.visibility</p:attrName>
                                        </p:attrNameLst>
                                      </p:cBhvr>
                                      <p:to>
                                        <p:strVal val="visible"/>
                                      </p:to>
                                    </p:set>
                                    <p:animEffect transition="in" filter="fade">
                                      <p:cBhvr>
                                        <p:cTn id="89" dur="450"/>
                                        <p:tgtEl>
                                          <p:spTgt spid="20"/>
                                        </p:tgtEl>
                                      </p:cBhvr>
                                    </p:animEffect>
                                    <p:anim calcmode="lin" valueType="num">
                                      <p:cBhvr>
                                        <p:cTn id="90" dur="450" fill="hold"/>
                                        <p:tgtEl>
                                          <p:spTgt spid="20"/>
                                        </p:tgtEl>
                                        <p:attrNameLst>
                                          <p:attrName>ppt_x</p:attrName>
                                        </p:attrNameLst>
                                      </p:cBhvr>
                                      <p:tavLst>
                                        <p:tav tm="0">
                                          <p:val>
                                            <p:strVal val="#ppt_x"/>
                                          </p:val>
                                        </p:tav>
                                        <p:tav tm="100000">
                                          <p:val>
                                            <p:strVal val="#ppt_x"/>
                                          </p:val>
                                        </p:tav>
                                      </p:tavLst>
                                    </p:anim>
                                    <p:anim calcmode="lin" valueType="num">
                                      <p:cBhvr>
                                        <p:cTn id="91" dur="450" fill="hold"/>
                                        <p:tgtEl>
                                          <p:spTgt spid="20"/>
                                        </p:tgtEl>
                                        <p:attrNameLst>
                                          <p:attrName>ppt_y</p:attrName>
                                        </p:attrNameLst>
                                      </p:cBhvr>
                                      <p:tavLst>
                                        <p:tav tm="0">
                                          <p:val>
                                            <p:strVal val="#ppt_y+.08"/>
                                          </p:val>
                                        </p:tav>
                                        <p:tav tm="100000">
                                          <p:val>
                                            <p:strVal val="#ppt_y"/>
                                          </p:val>
                                        </p:tav>
                                      </p:tavLst>
                                    </p:anim>
                                  </p:childTnLst>
                                </p:cTn>
                              </p:par>
                            </p:childTnLst>
                          </p:cTn>
                        </p:par>
                        <p:par>
                          <p:cTn id="123" fill="hold">
                            <p:stCondLst>
                              <p:cond delay="1190"/>
                            </p:stCondLst>
                            <p:childTnLst>
                              <p:par>
                                <p:cTn id="93" presetID="42" presetClass="entr" presetSubtype="0" fill="hold" grpId="0" nodeType="afterEffect">
                                  <p:stCondLst>
                                    <p:cond delay="0"/>
                                  </p:stCondLst>
                                  <p:childTnLst>
                                    <p:set>
                                      <p:cBhvr>
                                        <p:cTn id="94" dur="1" fill="hold">
                                          <p:stCondLst>
                                            <p:cond delay="0"/>
                                          </p:stCondLst>
                                        </p:cTn>
                                        <p:tgtEl>
                                          <p:spTgt spid="21"/>
                                        </p:tgtEl>
                                        <p:attrNameLst>
                                          <p:attrName>style.visibility</p:attrName>
                                        </p:attrNameLst>
                                      </p:cBhvr>
                                      <p:to>
                                        <p:strVal val="visible"/>
                                      </p:to>
                                    </p:set>
                                    <p:animEffect transition="in" filter="fade">
                                      <p:cBhvr>
                                        <p:cTn id="95" dur="450"/>
                                        <p:tgtEl>
                                          <p:spTgt spid="21"/>
                                        </p:tgtEl>
                                      </p:cBhvr>
                                    </p:animEffect>
                                    <p:anim calcmode="lin" valueType="num">
                                      <p:cBhvr>
                                        <p:cTn id="96" dur="450" fill="hold"/>
                                        <p:tgtEl>
                                          <p:spTgt spid="21"/>
                                        </p:tgtEl>
                                        <p:attrNameLst>
                                          <p:attrName>ppt_x</p:attrName>
                                        </p:attrNameLst>
                                      </p:cBhvr>
                                      <p:tavLst>
                                        <p:tav tm="0">
                                          <p:val>
                                            <p:strVal val="#ppt_x"/>
                                          </p:val>
                                        </p:tav>
                                        <p:tav tm="100000">
                                          <p:val>
                                            <p:strVal val="#ppt_x"/>
                                          </p:val>
                                        </p:tav>
                                      </p:tavLst>
                                    </p:anim>
                                    <p:anim calcmode="lin" valueType="num">
                                      <p:cBhvr>
                                        <p:cTn id="97" dur="450" fill="hold"/>
                                        <p:tgtEl>
                                          <p:spTgt spid="21"/>
                                        </p:tgtEl>
                                        <p:attrNameLst>
                                          <p:attrName>ppt_y</p:attrName>
                                        </p:attrNameLst>
                                      </p:cBhvr>
                                      <p:tavLst>
                                        <p:tav tm="0">
                                          <p:val>
                                            <p:strVal val="#ppt_y+.08"/>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22"/>
                                        </p:tgtEl>
                                        <p:attrNameLst>
                                          <p:attrName>style.visibility</p:attrName>
                                        </p:attrNameLst>
                                      </p:cBhvr>
                                      <p:to>
                                        <p:strVal val="visible"/>
                                      </p:to>
                                    </p:set>
                                    <p:animEffect transition="in" filter="fade">
                                      <p:cBhvr>
                                        <p:cTn id="100" dur="450"/>
                                        <p:tgtEl>
                                          <p:spTgt spid="22"/>
                                        </p:tgtEl>
                                      </p:cBhvr>
                                    </p:animEffect>
                                    <p:anim calcmode="lin" valueType="num">
                                      <p:cBhvr>
                                        <p:cTn id="101" dur="450" fill="hold"/>
                                        <p:tgtEl>
                                          <p:spTgt spid="22"/>
                                        </p:tgtEl>
                                        <p:attrNameLst>
                                          <p:attrName>ppt_x</p:attrName>
                                        </p:attrNameLst>
                                      </p:cBhvr>
                                      <p:tavLst>
                                        <p:tav tm="0">
                                          <p:val>
                                            <p:strVal val="#ppt_x"/>
                                          </p:val>
                                        </p:tav>
                                        <p:tav tm="100000">
                                          <p:val>
                                            <p:strVal val="#ppt_x"/>
                                          </p:val>
                                        </p:tav>
                                      </p:tavLst>
                                    </p:anim>
                                    <p:anim calcmode="lin" valueType="num">
                                      <p:cBhvr>
                                        <p:cTn id="102" dur="450" fill="hold"/>
                                        <p:tgtEl>
                                          <p:spTgt spid="22"/>
                                        </p:tgtEl>
                                        <p:attrNameLst>
                                          <p:attrName>ppt_y</p:attrName>
                                        </p:attrNameLst>
                                      </p:cBhvr>
                                      <p:tavLst>
                                        <p:tav tm="0">
                                          <p:val>
                                            <p:strVal val="#ppt_y+.08"/>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23"/>
                                        </p:tgtEl>
                                        <p:attrNameLst>
                                          <p:attrName>style.visibility</p:attrName>
                                        </p:attrNameLst>
                                      </p:cBhvr>
                                      <p:to>
                                        <p:strVal val="visible"/>
                                      </p:to>
                                    </p:set>
                                    <p:animEffect transition="in" filter="fade">
                                      <p:cBhvr>
                                        <p:cTn id="105" dur="450"/>
                                        <p:tgtEl>
                                          <p:spTgt spid="23"/>
                                        </p:tgtEl>
                                      </p:cBhvr>
                                    </p:animEffect>
                                    <p:anim calcmode="lin" valueType="num">
                                      <p:cBhvr>
                                        <p:cTn id="106" dur="450" fill="hold"/>
                                        <p:tgtEl>
                                          <p:spTgt spid="23"/>
                                        </p:tgtEl>
                                        <p:attrNameLst>
                                          <p:attrName>ppt_x</p:attrName>
                                        </p:attrNameLst>
                                      </p:cBhvr>
                                      <p:tavLst>
                                        <p:tav tm="0">
                                          <p:val>
                                            <p:strVal val="#ppt_x"/>
                                          </p:val>
                                        </p:tav>
                                        <p:tav tm="100000">
                                          <p:val>
                                            <p:strVal val="#ppt_x"/>
                                          </p:val>
                                        </p:tav>
                                      </p:tavLst>
                                    </p:anim>
                                    <p:anim calcmode="lin" valueType="num">
                                      <p:cBhvr>
                                        <p:cTn id="107" dur="450" fill="hold"/>
                                        <p:tgtEl>
                                          <p:spTgt spid="23"/>
                                        </p:tgtEl>
                                        <p:attrNameLst>
                                          <p:attrName>ppt_y</p:attrName>
                                        </p:attrNameLst>
                                      </p:cBhvr>
                                      <p:tavLst>
                                        <p:tav tm="0">
                                          <p:val>
                                            <p:strVal val="#ppt_y+.08"/>
                                          </p:val>
                                        </p:tav>
                                        <p:tav tm="100000">
                                          <p:val>
                                            <p:strVal val="#ppt_y"/>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24"/>
                                        </p:tgtEl>
                                        <p:attrNameLst>
                                          <p:attrName>style.visibility</p:attrName>
                                        </p:attrNameLst>
                                      </p:cBhvr>
                                      <p:to>
                                        <p:strVal val="visible"/>
                                      </p:to>
                                    </p:set>
                                    <p:animEffect transition="in" filter="fade">
                                      <p:cBhvr>
                                        <p:cTn id="110" dur="450"/>
                                        <p:tgtEl>
                                          <p:spTgt spid="24"/>
                                        </p:tgtEl>
                                      </p:cBhvr>
                                    </p:animEffect>
                                    <p:anim calcmode="lin" valueType="num">
                                      <p:cBhvr>
                                        <p:cTn id="111" dur="450" fill="hold"/>
                                        <p:tgtEl>
                                          <p:spTgt spid="24"/>
                                        </p:tgtEl>
                                        <p:attrNameLst>
                                          <p:attrName>ppt_x</p:attrName>
                                        </p:attrNameLst>
                                      </p:cBhvr>
                                      <p:tavLst>
                                        <p:tav tm="0">
                                          <p:val>
                                            <p:strVal val="#ppt_x"/>
                                          </p:val>
                                        </p:tav>
                                        <p:tav tm="100000">
                                          <p:val>
                                            <p:strVal val="#ppt_x"/>
                                          </p:val>
                                        </p:tav>
                                      </p:tavLst>
                                    </p:anim>
                                    <p:anim calcmode="lin" valueType="num">
                                      <p:cBhvr>
                                        <p:cTn id="112" dur="450" fill="hold"/>
                                        <p:tgtEl>
                                          <p:spTgt spid="24"/>
                                        </p:tgtEl>
                                        <p:attrNameLst>
                                          <p:attrName>ppt_y</p:attrName>
                                        </p:attrNameLst>
                                      </p:cBhvr>
                                      <p:tavLst>
                                        <p:tav tm="0">
                                          <p:val>
                                            <p:strVal val="#ppt_y+.08"/>
                                          </p:val>
                                        </p:tav>
                                        <p:tav tm="100000">
                                          <p:val>
                                            <p:strVal val="#ppt_y"/>
                                          </p:val>
                                        </p:tav>
                                      </p:tavLst>
                                    </p:anim>
                                  </p:childTnLst>
                                </p:cTn>
                              </p:par>
                              <p:par>
                                <p:cTn id="113" presetID="42" presetClass="entr" presetSubtype="0" fill="hold" grpId="0" nodeType="withEffect">
                                  <p:stCondLst>
                                    <p:cond delay="0"/>
                                  </p:stCondLst>
                                  <p:childTnLst>
                                    <p:set>
                                      <p:cBhvr>
                                        <p:cTn id="114" dur="1" fill="hold">
                                          <p:stCondLst>
                                            <p:cond delay="0"/>
                                          </p:stCondLst>
                                        </p:cTn>
                                        <p:tgtEl>
                                          <p:spTgt spid="25"/>
                                        </p:tgtEl>
                                        <p:attrNameLst>
                                          <p:attrName>style.visibility</p:attrName>
                                        </p:attrNameLst>
                                      </p:cBhvr>
                                      <p:to>
                                        <p:strVal val="visible"/>
                                      </p:to>
                                    </p:set>
                                    <p:animEffect transition="in" filter="fade">
                                      <p:cBhvr>
                                        <p:cTn id="115" dur="450"/>
                                        <p:tgtEl>
                                          <p:spTgt spid="25"/>
                                        </p:tgtEl>
                                      </p:cBhvr>
                                    </p:animEffect>
                                    <p:anim calcmode="lin" valueType="num">
                                      <p:cBhvr>
                                        <p:cTn id="116" dur="450" fill="hold"/>
                                        <p:tgtEl>
                                          <p:spTgt spid="25"/>
                                        </p:tgtEl>
                                        <p:attrNameLst>
                                          <p:attrName>ppt_x</p:attrName>
                                        </p:attrNameLst>
                                      </p:cBhvr>
                                      <p:tavLst>
                                        <p:tav tm="0">
                                          <p:val>
                                            <p:strVal val="#ppt_x"/>
                                          </p:val>
                                        </p:tav>
                                        <p:tav tm="100000">
                                          <p:val>
                                            <p:strVal val="#ppt_x"/>
                                          </p:val>
                                        </p:tav>
                                      </p:tavLst>
                                    </p:anim>
                                    <p:anim calcmode="lin" valueType="num">
                                      <p:cBhvr>
                                        <p:cTn id="117" dur="450" fill="hold"/>
                                        <p:tgtEl>
                                          <p:spTgt spid="25"/>
                                        </p:tgtEl>
                                        <p:attrNameLst>
                                          <p:attrName>ppt_y</p:attrName>
                                        </p:attrNameLst>
                                      </p:cBhvr>
                                      <p:tavLst>
                                        <p:tav tm="0">
                                          <p:val>
                                            <p:strVal val="#ppt_y+.08"/>
                                          </p:val>
                                        </p:tav>
                                        <p:tav tm="100000">
                                          <p:val>
                                            <p:strVal val="#ppt_y"/>
                                          </p:val>
                                        </p:tav>
                                      </p:tavLst>
                                    </p:anim>
                                  </p:childTnLst>
                                </p:cTn>
                              </p:par>
                              <p:par>
                                <p:cTn id="118" presetID="42" presetClass="entr" presetSubtype="0" fill="hold" grpId="0" nodeType="withEffect">
                                  <p:stCondLst>
                                    <p:cond delay="0"/>
                                  </p:stCondLst>
                                  <p:childTnLst>
                                    <p:set>
                                      <p:cBhvr>
                                        <p:cTn id="119" dur="1" fill="hold">
                                          <p:stCondLst>
                                            <p:cond delay="0"/>
                                          </p:stCondLst>
                                        </p:cTn>
                                        <p:tgtEl>
                                          <p:spTgt spid="26"/>
                                        </p:tgtEl>
                                        <p:attrNameLst>
                                          <p:attrName>style.visibility</p:attrName>
                                        </p:attrNameLst>
                                      </p:cBhvr>
                                      <p:to>
                                        <p:strVal val="visible"/>
                                      </p:to>
                                    </p:set>
                                    <p:animEffect transition="in" filter="fade">
                                      <p:cBhvr>
                                        <p:cTn id="120" dur="450"/>
                                        <p:tgtEl>
                                          <p:spTgt spid="26"/>
                                        </p:tgtEl>
                                      </p:cBhvr>
                                    </p:animEffect>
                                    <p:anim calcmode="lin" valueType="num">
                                      <p:cBhvr>
                                        <p:cTn id="121" dur="450" fill="hold"/>
                                        <p:tgtEl>
                                          <p:spTgt spid="26"/>
                                        </p:tgtEl>
                                        <p:attrNameLst>
                                          <p:attrName>ppt_x</p:attrName>
                                        </p:attrNameLst>
                                      </p:cBhvr>
                                      <p:tavLst>
                                        <p:tav tm="0">
                                          <p:val>
                                            <p:strVal val="#ppt_x"/>
                                          </p:val>
                                        </p:tav>
                                        <p:tav tm="100000">
                                          <p:val>
                                            <p:strVal val="#ppt_x"/>
                                          </p:val>
                                        </p:tav>
                                      </p:tavLst>
                                    </p:anim>
                                    <p:anim calcmode="lin" valueType="num">
                                      <p:cBhvr>
                                        <p:cTn id="122" dur="450" fill="hold"/>
                                        <p:tgtEl>
                                          <p:spTgt spid="26"/>
                                        </p:tgtEl>
                                        <p:attrNameLst>
                                          <p:attrName>ppt_y</p:attrName>
                                        </p:attrNameLst>
                                      </p:cBhvr>
                                      <p:tavLst>
                                        <p:tav tm="0">
                                          <p:val>
                                            <p:strVal val="#ppt_y+.08"/>
                                          </p:val>
                                        </p:tav>
                                        <p:tav tm="100000">
                                          <p:val>
                                            <p:strVal val="#ppt_y"/>
                                          </p:val>
                                        </p:tav>
                                      </p:tavLst>
                                    </p:anim>
                                  </p:childTnLst>
                                </p:cTn>
                              </p:par>
                            </p:childTnLst>
                          </p:cTn>
                        </p:par>
                        <p:par>
                          <p:cTn id="154" fill="hold">
                            <p:stCondLst>
                              <p:cond delay="1505"/>
                            </p:stCondLst>
                            <p:childTnLst>
                              <p:par>
                                <p:cTn id="124" presetID="42" presetClass="entr" presetSubtype="0" fill="hold" grpId="0" nodeType="afterEffect">
                                  <p:stCondLst>
                                    <p:cond delay="0"/>
                                  </p:stCondLst>
                                  <p:childTnLst>
                                    <p:set>
                                      <p:cBhvr>
                                        <p:cTn id="125" dur="1" fill="hold">
                                          <p:stCondLst>
                                            <p:cond delay="0"/>
                                          </p:stCondLst>
                                        </p:cTn>
                                        <p:tgtEl>
                                          <p:spTgt spid="27"/>
                                        </p:tgtEl>
                                        <p:attrNameLst>
                                          <p:attrName>style.visibility</p:attrName>
                                        </p:attrNameLst>
                                      </p:cBhvr>
                                      <p:to>
                                        <p:strVal val="visible"/>
                                      </p:to>
                                    </p:set>
                                    <p:animEffect transition="in" filter="fade">
                                      <p:cBhvr>
                                        <p:cTn id="126" dur="450"/>
                                        <p:tgtEl>
                                          <p:spTgt spid="27"/>
                                        </p:tgtEl>
                                      </p:cBhvr>
                                    </p:animEffect>
                                    <p:anim calcmode="lin" valueType="num">
                                      <p:cBhvr>
                                        <p:cTn id="127" dur="450" fill="hold"/>
                                        <p:tgtEl>
                                          <p:spTgt spid="27"/>
                                        </p:tgtEl>
                                        <p:attrNameLst>
                                          <p:attrName>ppt_x</p:attrName>
                                        </p:attrNameLst>
                                      </p:cBhvr>
                                      <p:tavLst>
                                        <p:tav tm="0">
                                          <p:val>
                                            <p:strVal val="#ppt_x"/>
                                          </p:val>
                                        </p:tav>
                                        <p:tav tm="100000">
                                          <p:val>
                                            <p:strVal val="#ppt_x"/>
                                          </p:val>
                                        </p:tav>
                                      </p:tavLst>
                                    </p:anim>
                                    <p:anim calcmode="lin" valueType="num">
                                      <p:cBhvr>
                                        <p:cTn id="128" dur="450" fill="hold"/>
                                        <p:tgtEl>
                                          <p:spTgt spid="27"/>
                                        </p:tgtEl>
                                        <p:attrNameLst>
                                          <p:attrName>ppt_y</p:attrName>
                                        </p:attrNameLst>
                                      </p:cBhvr>
                                      <p:tavLst>
                                        <p:tav tm="0">
                                          <p:val>
                                            <p:strVal val="#ppt_y+.08"/>
                                          </p:val>
                                        </p:tav>
                                        <p:tav tm="100000">
                                          <p:val>
                                            <p:strVal val="#ppt_y"/>
                                          </p:val>
                                        </p:tav>
                                      </p:tavLst>
                                    </p:anim>
                                  </p:childTnLst>
                                </p:cTn>
                              </p:par>
                              <p:par>
                                <p:cTn id="129" presetID="42" presetClass="entr" presetSubtype="0" fill="hold" grpId="0" nodeType="withEffect">
                                  <p:stCondLst>
                                    <p:cond delay="0"/>
                                  </p:stCondLst>
                                  <p:childTnLst>
                                    <p:set>
                                      <p:cBhvr>
                                        <p:cTn id="130" dur="1" fill="hold">
                                          <p:stCondLst>
                                            <p:cond delay="0"/>
                                          </p:stCondLst>
                                        </p:cTn>
                                        <p:tgtEl>
                                          <p:spTgt spid="28"/>
                                        </p:tgtEl>
                                        <p:attrNameLst>
                                          <p:attrName>style.visibility</p:attrName>
                                        </p:attrNameLst>
                                      </p:cBhvr>
                                      <p:to>
                                        <p:strVal val="visible"/>
                                      </p:to>
                                    </p:set>
                                    <p:animEffect transition="in" filter="fade">
                                      <p:cBhvr>
                                        <p:cTn id="131" dur="450"/>
                                        <p:tgtEl>
                                          <p:spTgt spid="28"/>
                                        </p:tgtEl>
                                      </p:cBhvr>
                                    </p:animEffect>
                                    <p:anim calcmode="lin" valueType="num">
                                      <p:cBhvr>
                                        <p:cTn id="132" dur="450" fill="hold"/>
                                        <p:tgtEl>
                                          <p:spTgt spid="28"/>
                                        </p:tgtEl>
                                        <p:attrNameLst>
                                          <p:attrName>ppt_x</p:attrName>
                                        </p:attrNameLst>
                                      </p:cBhvr>
                                      <p:tavLst>
                                        <p:tav tm="0">
                                          <p:val>
                                            <p:strVal val="#ppt_x"/>
                                          </p:val>
                                        </p:tav>
                                        <p:tav tm="100000">
                                          <p:val>
                                            <p:strVal val="#ppt_x"/>
                                          </p:val>
                                        </p:tav>
                                      </p:tavLst>
                                    </p:anim>
                                    <p:anim calcmode="lin" valueType="num">
                                      <p:cBhvr>
                                        <p:cTn id="133" dur="450" fill="hold"/>
                                        <p:tgtEl>
                                          <p:spTgt spid="28"/>
                                        </p:tgtEl>
                                        <p:attrNameLst>
                                          <p:attrName>ppt_y</p:attrName>
                                        </p:attrNameLst>
                                      </p:cBhvr>
                                      <p:tavLst>
                                        <p:tav tm="0">
                                          <p:val>
                                            <p:strVal val="#ppt_y+.08"/>
                                          </p:val>
                                        </p:tav>
                                        <p:tav tm="100000">
                                          <p:val>
                                            <p:strVal val="#ppt_y"/>
                                          </p:val>
                                        </p:tav>
                                      </p:tavLst>
                                    </p:anim>
                                  </p:childTnLst>
                                </p:cTn>
                              </p:par>
                              <p:par>
                                <p:cTn id="134" presetID="42" presetClass="entr" presetSubtype="0" fill="hold" grpId="0" nodeType="withEffect">
                                  <p:stCondLst>
                                    <p:cond delay="0"/>
                                  </p:stCondLst>
                                  <p:childTnLst>
                                    <p:set>
                                      <p:cBhvr>
                                        <p:cTn id="135" dur="1" fill="hold">
                                          <p:stCondLst>
                                            <p:cond delay="0"/>
                                          </p:stCondLst>
                                        </p:cTn>
                                        <p:tgtEl>
                                          <p:spTgt spid="29"/>
                                        </p:tgtEl>
                                        <p:attrNameLst>
                                          <p:attrName>style.visibility</p:attrName>
                                        </p:attrNameLst>
                                      </p:cBhvr>
                                      <p:to>
                                        <p:strVal val="visible"/>
                                      </p:to>
                                    </p:set>
                                    <p:animEffect transition="in" filter="fade">
                                      <p:cBhvr>
                                        <p:cTn id="136" dur="450"/>
                                        <p:tgtEl>
                                          <p:spTgt spid="29"/>
                                        </p:tgtEl>
                                      </p:cBhvr>
                                    </p:animEffect>
                                    <p:anim calcmode="lin" valueType="num">
                                      <p:cBhvr>
                                        <p:cTn id="137" dur="450" fill="hold"/>
                                        <p:tgtEl>
                                          <p:spTgt spid="29"/>
                                        </p:tgtEl>
                                        <p:attrNameLst>
                                          <p:attrName>ppt_x</p:attrName>
                                        </p:attrNameLst>
                                      </p:cBhvr>
                                      <p:tavLst>
                                        <p:tav tm="0">
                                          <p:val>
                                            <p:strVal val="#ppt_x"/>
                                          </p:val>
                                        </p:tav>
                                        <p:tav tm="100000">
                                          <p:val>
                                            <p:strVal val="#ppt_x"/>
                                          </p:val>
                                        </p:tav>
                                      </p:tavLst>
                                    </p:anim>
                                    <p:anim calcmode="lin" valueType="num">
                                      <p:cBhvr>
                                        <p:cTn id="138" dur="450" fill="hold"/>
                                        <p:tgtEl>
                                          <p:spTgt spid="29"/>
                                        </p:tgtEl>
                                        <p:attrNameLst>
                                          <p:attrName>ppt_y</p:attrName>
                                        </p:attrNameLst>
                                      </p:cBhvr>
                                      <p:tavLst>
                                        <p:tav tm="0">
                                          <p:val>
                                            <p:strVal val="#ppt_y+.08"/>
                                          </p:val>
                                        </p:tav>
                                        <p:tav tm="100000">
                                          <p:val>
                                            <p:strVal val="#ppt_y"/>
                                          </p:val>
                                        </p:tav>
                                      </p:tavLst>
                                    </p:anim>
                                  </p:childTnLst>
                                </p:cTn>
                              </p:par>
                              <p:par>
                                <p:cTn id="139" presetID="42" presetClass="entr" presetSubtype="0" fill="hold" grpId="0" nodeType="withEffect">
                                  <p:stCondLst>
                                    <p:cond delay="0"/>
                                  </p:stCondLst>
                                  <p:childTnLst>
                                    <p:set>
                                      <p:cBhvr>
                                        <p:cTn id="140" dur="1" fill="hold">
                                          <p:stCondLst>
                                            <p:cond delay="0"/>
                                          </p:stCondLst>
                                        </p:cTn>
                                        <p:tgtEl>
                                          <p:spTgt spid="30"/>
                                        </p:tgtEl>
                                        <p:attrNameLst>
                                          <p:attrName>style.visibility</p:attrName>
                                        </p:attrNameLst>
                                      </p:cBhvr>
                                      <p:to>
                                        <p:strVal val="visible"/>
                                      </p:to>
                                    </p:set>
                                    <p:animEffect transition="in" filter="fade">
                                      <p:cBhvr>
                                        <p:cTn id="141" dur="450"/>
                                        <p:tgtEl>
                                          <p:spTgt spid="30"/>
                                        </p:tgtEl>
                                      </p:cBhvr>
                                    </p:animEffect>
                                    <p:anim calcmode="lin" valueType="num">
                                      <p:cBhvr>
                                        <p:cTn id="142" dur="450" fill="hold"/>
                                        <p:tgtEl>
                                          <p:spTgt spid="30"/>
                                        </p:tgtEl>
                                        <p:attrNameLst>
                                          <p:attrName>ppt_x</p:attrName>
                                        </p:attrNameLst>
                                      </p:cBhvr>
                                      <p:tavLst>
                                        <p:tav tm="0">
                                          <p:val>
                                            <p:strVal val="#ppt_x"/>
                                          </p:val>
                                        </p:tav>
                                        <p:tav tm="100000">
                                          <p:val>
                                            <p:strVal val="#ppt_x"/>
                                          </p:val>
                                        </p:tav>
                                      </p:tavLst>
                                    </p:anim>
                                    <p:anim calcmode="lin" valueType="num">
                                      <p:cBhvr>
                                        <p:cTn id="143" dur="450" fill="hold"/>
                                        <p:tgtEl>
                                          <p:spTgt spid="30"/>
                                        </p:tgtEl>
                                        <p:attrNameLst>
                                          <p:attrName>ppt_y</p:attrName>
                                        </p:attrNameLst>
                                      </p:cBhvr>
                                      <p:tavLst>
                                        <p:tav tm="0">
                                          <p:val>
                                            <p:strVal val="#ppt_y+.08"/>
                                          </p:val>
                                        </p:tav>
                                        <p:tav tm="100000">
                                          <p:val>
                                            <p:strVal val="#ppt_y"/>
                                          </p:val>
                                        </p:tav>
                                      </p:tavLst>
                                    </p:anim>
                                  </p:childTnLst>
                                </p:cTn>
                              </p:par>
                              <p:par>
                                <p:cTn id="144" presetID="42" presetClass="entr" presetSubtype="0" fill="hold" grpId="0" nodeType="withEffect">
                                  <p:stCondLst>
                                    <p:cond delay="0"/>
                                  </p:stCondLst>
                                  <p:childTnLst>
                                    <p:set>
                                      <p:cBhvr>
                                        <p:cTn id="145" dur="1" fill="hold">
                                          <p:stCondLst>
                                            <p:cond delay="0"/>
                                          </p:stCondLst>
                                        </p:cTn>
                                        <p:tgtEl>
                                          <p:spTgt spid="31"/>
                                        </p:tgtEl>
                                        <p:attrNameLst>
                                          <p:attrName>style.visibility</p:attrName>
                                        </p:attrNameLst>
                                      </p:cBhvr>
                                      <p:to>
                                        <p:strVal val="visible"/>
                                      </p:to>
                                    </p:set>
                                    <p:animEffect transition="in" filter="fade">
                                      <p:cBhvr>
                                        <p:cTn id="146" dur="450"/>
                                        <p:tgtEl>
                                          <p:spTgt spid="31"/>
                                        </p:tgtEl>
                                      </p:cBhvr>
                                    </p:animEffect>
                                    <p:anim calcmode="lin" valueType="num">
                                      <p:cBhvr>
                                        <p:cTn id="147" dur="450" fill="hold"/>
                                        <p:tgtEl>
                                          <p:spTgt spid="31"/>
                                        </p:tgtEl>
                                        <p:attrNameLst>
                                          <p:attrName>ppt_x</p:attrName>
                                        </p:attrNameLst>
                                      </p:cBhvr>
                                      <p:tavLst>
                                        <p:tav tm="0">
                                          <p:val>
                                            <p:strVal val="#ppt_x"/>
                                          </p:val>
                                        </p:tav>
                                        <p:tav tm="100000">
                                          <p:val>
                                            <p:strVal val="#ppt_x"/>
                                          </p:val>
                                        </p:tav>
                                      </p:tavLst>
                                    </p:anim>
                                    <p:anim calcmode="lin" valueType="num">
                                      <p:cBhvr>
                                        <p:cTn id="148" dur="450" fill="hold"/>
                                        <p:tgtEl>
                                          <p:spTgt spid="31"/>
                                        </p:tgtEl>
                                        <p:attrNameLst>
                                          <p:attrName>ppt_y</p:attrName>
                                        </p:attrNameLst>
                                      </p:cBhvr>
                                      <p:tavLst>
                                        <p:tav tm="0">
                                          <p:val>
                                            <p:strVal val="#ppt_y+.08"/>
                                          </p:val>
                                        </p:tav>
                                        <p:tav tm="100000">
                                          <p:val>
                                            <p:strVal val="#ppt_y"/>
                                          </p:val>
                                        </p:tav>
                                      </p:tavLst>
                                    </p:anim>
                                  </p:childTnLst>
                                </p:cTn>
                              </p:par>
                              <p:par>
                                <p:cTn id="149" presetID="42" presetClass="entr" presetSubtype="0" fill="hold" grpId="0" nodeType="withEffect">
                                  <p:stCondLst>
                                    <p:cond delay="0"/>
                                  </p:stCondLst>
                                  <p:childTnLst>
                                    <p:set>
                                      <p:cBhvr>
                                        <p:cTn id="150" dur="1" fill="hold">
                                          <p:stCondLst>
                                            <p:cond delay="0"/>
                                          </p:stCondLst>
                                        </p:cTn>
                                        <p:tgtEl>
                                          <p:spTgt spid="32"/>
                                        </p:tgtEl>
                                        <p:attrNameLst>
                                          <p:attrName>style.visibility</p:attrName>
                                        </p:attrNameLst>
                                      </p:cBhvr>
                                      <p:to>
                                        <p:strVal val="visible"/>
                                      </p:to>
                                    </p:set>
                                    <p:animEffect transition="in" filter="fade">
                                      <p:cBhvr>
                                        <p:cTn id="151" dur="450"/>
                                        <p:tgtEl>
                                          <p:spTgt spid="32"/>
                                        </p:tgtEl>
                                      </p:cBhvr>
                                    </p:animEffect>
                                    <p:anim calcmode="lin" valueType="num">
                                      <p:cBhvr>
                                        <p:cTn id="152" dur="450" fill="hold"/>
                                        <p:tgtEl>
                                          <p:spTgt spid="32"/>
                                        </p:tgtEl>
                                        <p:attrNameLst>
                                          <p:attrName>ppt_x</p:attrName>
                                        </p:attrNameLst>
                                      </p:cBhvr>
                                      <p:tavLst>
                                        <p:tav tm="0">
                                          <p:val>
                                            <p:strVal val="#ppt_x"/>
                                          </p:val>
                                        </p:tav>
                                        <p:tav tm="100000">
                                          <p:val>
                                            <p:strVal val="#ppt_x"/>
                                          </p:val>
                                        </p:tav>
                                      </p:tavLst>
                                    </p:anim>
                                    <p:anim calcmode="lin" valueType="num">
                                      <p:cBhvr>
                                        <p:cTn id="153" dur="450" fill="hold"/>
                                        <p:tgtEl>
                                          <p:spTgt spid="32"/>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FF6FF"/>
        </a:solidFill>
        <a:effectLst/>
      </p:bgPr>
    </p:bg>
    <p:spTree>
      <p:nvGrpSpPr>
        <p:cNvPr id="1" name=""/>
        <p:cNvGrpSpPr/>
        <p:nvPr/>
      </p:nvGrpSpPr>
      <p:grpSpPr/>
      <p:sp>
        <p:nvSpPr>
          <p:cNvPr id="2" name="TextBox 1"/>
          <p:cNvSpPr txBox="1"/>
          <p:nvPr/>
        </p:nvSpPr>
        <p:spPr>
          <a:xfrm>
            <a:off x="812800" y="711200"/>
            <a:ext cx="10566400" cy="228600"/>
          </a:xfrm>
          <a:prstGeom prst="rect">
            <a:avLst/>
          </a:prstGeom>
          <a:noFill/>
        </p:spPr>
        <p:txBody>
          <a:bodyPr wrap="square" anchor="t" lIns="0" rIns="0" tIns="0" bIns="0">
            <a:noAutofit/>
          </a:bodyPr>
          <a:lstStyle/>
          <a:p>
            <a:pPr algn="l">
              <a:lnSpc>
                <a:spcPct val="125000"/>
              </a:lnSpc>
            </a:pPr>
            <a:r>
              <a:rPr sz="1200" b="1" i="0" cap="all" spc="300">
                <a:solidFill>
                  <a:srgbClr val="007AB1"/>
                </a:solidFill>
                <a:latin typeface="Nunito Sans"/>
              </a:rPr>
              <a:t>Het weerlexicon · 2/2</a:t>
            </a:r>
          </a:p>
        </p:txBody>
      </p:sp>
      <p:sp>
        <p:nvSpPr>
          <p:cNvPr id="3" name="TextBox 2"/>
          <p:cNvSpPr txBox="1"/>
          <p:nvPr/>
        </p:nvSpPr>
        <p:spPr>
          <a:xfrm>
            <a:off x="812800" y="990600"/>
            <a:ext cx="10566400" cy="508000"/>
          </a:xfrm>
          <a:prstGeom prst="rect">
            <a:avLst/>
          </a:prstGeom>
          <a:noFill/>
        </p:spPr>
        <p:txBody>
          <a:bodyPr wrap="square" anchor="t" lIns="0" rIns="0" tIns="0" bIns="0">
            <a:noAutofit/>
          </a:bodyPr>
          <a:lstStyle/>
          <a:p>
            <a:pPr algn="l">
              <a:lnSpc>
                <a:spcPct val="105000"/>
              </a:lnSpc>
            </a:pPr>
            <a:r>
              <a:rPr sz="3600" b="1" i="0">
                <a:solidFill>
                  <a:srgbClr val="0D2A50"/>
                </a:solidFill>
                <a:latin typeface="Nunito Sans"/>
              </a:rPr>
              <a:t>Extreem weer, seizoen en klimaat</a:t>
            </a:r>
          </a:p>
        </p:txBody>
      </p:sp>
      <p:sp>
        <p:nvSpPr>
          <p:cNvPr id="4" name="TextBox 3"/>
          <p:cNvSpPr txBox="1"/>
          <p:nvPr/>
        </p:nvSpPr>
        <p:spPr>
          <a:xfrm>
            <a:off x="812800" y="1765300"/>
            <a:ext cx="889000" cy="215900"/>
          </a:xfrm>
          <a:prstGeom prst="rect">
            <a:avLst/>
          </a:prstGeom>
          <a:noFill/>
        </p:spPr>
        <p:txBody>
          <a:bodyPr wrap="square" anchor="t" lIns="0" rIns="0" tIns="0" bIns="0">
            <a:noAutofit/>
          </a:bodyPr>
          <a:lstStyle/>
          <a:p>
            <a:pPr algn="l">
              <a:lnSpc>
                <a:spcPct val="125000"/>
              </a:lnSpc>
            </a:pPr>
            <a:r>
              <a:rPr sz="1100" b="1" i="0" cap="all" spc="300">
                <a:solidFill>
                  <a:srgbClr val="007AB1"/>
                </a:solidFill>
                <a:latin typeface="Nunito Sans"/>
              </a:rPr>
              <a:t>Weer</a:t>
            </a:r>
          </a:p>
        </p:txBody>
      </p:sp>
      <p:sp>
        <p:nvSpPr>
          <p:cNvPr id="5" name="TextBox 4"/>
          <p:cNvSpPr txBox="1"/>
          <p:nvPr/>
        </p:nvSpPr>
        <p:spPr>
          <a:xfrm>
            <a:off x="1854200" y="1765300"/>
            <a:ext cx="1397000" cy="215900"/>
          </a:xfrm>
          <a:prstGeom prst="rect">
            <a:avLst/>
          </a:prstGeom>
          <a:noFill/>
        </p:spPr>
        <p:txBody>
          <a:bodyPr wrap="square" anchor="t" lIns="0" rIns="0" tIns="0" bIns="0">
            <a:noAutofit/>
          </a:bodyPr>
          <a:lstStyle/>
          <a:p>
            <a:pPr algn="l">
              <a:lnSpc>
                <a:spcPct val="125000"/>
              </a:lnSpc>
            </a:pPr>
          </a:p>
        </p:txBody>
      </p:sp>
      <p:sp>
        <p:nvSpPr>
          <p:cNvPr id="6" name="TextBox 5"/>
          <p:cNvSpPr txBox="1"/>
          <p:nvPr/>
        </p:nvSpPr>
        <p:spPr>
          <a:xfrm>
            <a:off x="3403600" y="1765300"/>
            <a:ext cx="2159000" cy="215900"/>
          </a:xfrm>
          <a:prstGeom prst="rect">
            <a:avLst/>
          </a:prstGeom>
          <a:noFill/>
        </p:spPr>
        <p:txBody>
          <a:bodyPr wrap="square" anchor="t" lIns="0" rIns="0" tIns="0" bIns="0">
            <a:noAutofit/>
          </a:bodyPr>
          <a:lstStyle/>
          <a:p>
            <a:pPr algn="l">
              <a:lnSpc>
                <a:spcPct val="125000"/>
              </a:lnSpc>
            </a:pPr>
            <a:r>
              <a:rPr sz="1100" b="1" i="0" cap="all" spc="300">
                <a:solidFill>
                  <a:srgbClr val="007AB1"/>
                </a:solidFill>
                <a:latin typeface="Nunito Sans"/>
              </a:rPr>
              <a:t>Betekenis</a:t>
            </a:r>
          </a:p>
        </p:txBody>
      </p:sp>
      <p:sp>
        <p:nvSpPr>
          <p:cNvPr id="7" name="TextBox 6"/>
          <p:cNvSpPr txBox="1"/>
          <p:nvPr/>
        </p:nvSpPr>
        <p:spPr>
          <a:xfrm>
            <a:off x="5715000" y="1765300"/>
            <a:ext cx="2413000" cy="215900"/>
          </a:xfrm>
          <a:prstGeom prst="rect">
            <a:avLst/>
          </a:prstGeom>
          <a:noFill/>
        </p:spPr>
        <p:txBody>
          <a:bodyPr wrap="square" anchor="t" lIns="0" rIns="0" tIns="0" bIns="0">
            <a:noAutofit/>
          </a:bodyPr>
          <a:lstStyle/>
          <a:p>
            <a:pPr algn="l">
              <a:lnSpc>
                <a:spcPct val="125000"/>
              </a:lnSpc>
            </a:pPr>
            <a:r>
              <a:rPr sz="1100" b="1" i="0" cap="all" spc="300">
                <a:solidFill>
                  <a:srgbClr val="007AB1"/>
                </a:solidFill>
                <a:latin typeface="Nunito Sans"/>
              </a:rPr>
              <a:t>Voorbeeld</a:t>
            </a:r>
          </a:p>
        </p:txBody>
      </p:sp>
      <p:sp>
        <p:nvSpPr>
          <p:cNvPr id="8" name="TextBox 7"/>
          <p:cNvSpPr txBox="1"/>
          <p:nvPr/>
        </p:nvSpPr>
        <p:spPr>
          <a:xfrm>
            <a:off x="8280400" y="1765300"/>
            <a:ext cx="3098800" cy="215900"/>
          </a:xfrm>
          <a:prstGeom prst="rect">
            <a:avLst/>
          </a:prstGeom>
          <a:noFill/>
        </p:spPr>
        <p:txBody>
          <a:bodyPr wrap="square" anchor="t" lIns="0" rIns="0" tIns="0" bIns="0">
            <a:noAutofit/>
          </a:bodyPr>
          <a:lstStyle/>
          <a:p>
            <a:pPr algn="l">
              <a:lnSpc>
                <a:spcPct val="125000"/>
              </a:lnSpc>
            </a:pPr>
            <a:r>
              <a:rPr sz="1100" b="1" i="0" cap="all" spc="300">
                <a:solidFill>
                  <a:srgbClr val="007AB1"/>
                </a:solidFill>
                <a:latin typeface="Nunito Sans"/>
              </a:rPr>
              <a:t>Wat Kate doet</a:t>
            </a:r>
          </a:p>
        </p:txBody>
      </p:sp>
      <p:sp>
        <p:nvSpPr>
          <p:cNvPr id="9" name="Rectangle 8"/>
          <p:cNvSpPr/>
          <p:nvPr/>
        </p:nvSpPr>
        <p:spPr>
          <a:xfrm>
            <a:off x="812800" y="2044700"/>
            <a:ext cx="10566400" cy="12700"/>
          </a:xfrm>
          <a:prstGeom prst="rect">
            <a:avLst/>
          </a:prstGeom>
          <a:solidFill>
            <a:srgbClr val="BFD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torm_l.gif"/>
          <p:cNvPicPr>
            <a:picLocks noChangeAspect="1"/>
          </p:cNvPicPr>
          <p:nvPr/>
        </p:nvPicPr>
        <p:blipFill>
          <a:blip r:embed="rId3"/>
          <a:stretch>
            <a:fillRect/>
          </a:stretch>
        </p:blipFill>
        <p:spPr>
          <a:xfrm>
            <a:off x="965623" y="2095500"/>
            <a:ext cx="583353" cy="673100"/>
          </a:xfrm>
          <a:prstGeom prst="rect">
            <a:avLst/>
          </a:prstGeom>
        </p:spPr>
      </p:pic>
      <p:sp>
        <p:nvSpPr>
          <p:cNvPr id="11" name="TextBox 10"/>
          <p:cNvSpPr txBox="1"/>
          <p:nvPr/>
        </p:nvSpPr>
        <p:spPr>
          <a:xfrm>
            <a:off x="1854200" y="2044700"/>
            <a:ext cx="1397000" cy="774700"/>
          </a:xfrm>
          <a:prstGeom prst="rect">
            <a:avLst/>
          </a:prstGeom>
          <a:noFill/>
        </p:spPr>
        <p:txBody>
          <a:bodyPr wrap="square" anchor="ctr" lIns="0" rIns="0" tIns="0" bIns="0">
            <a:noAutofit/>
          </a:bodyPr>
          <a:lstStyle/>
          <a:p>
            <a:pPr algn="l">
              <a:lnSpc>
                <a:spcPct val="125000"/>
              </a:lnSpc>
            </a:pPr>
            <a:r>
              <a:rPr sz="1800" b="1" i="0">
                <a:solidFill>
                  <a:srgbClr val="0D2A50"/>
                </a:solidFill>
                <a:latin typeface="Nunito Sans"/>
              </a:rPr>
              <a:t>Storm</a:t>
            </a:r>
          </a:p>
        </p:txBody>
      </p:sp>
      <p:sp>
        <p:nvSpPr>
          <p:cNvPr id="12" name="TextBox 11"/>
          <p:cNvSpPr txBox="1"/>
          <p:nvPr/>
        </p:nvSpPr>
        <p:spPr>
          <a:xfrm>
            <a:off x="3403600" y="2044700"/>
            <a:ext cx="2159000" cy="774700"/>
          </a:xfrm>
          <a:prstGeom prst="rect">
            <a:avLst/>
          </a:prstGeom>
          <a:noFill/>
        </p:spPr>
        <p:txBody>
          <a:bodyPr wrap="square" anchor="ctr" lIns="0" rIns="0" tIns="0" bIns="0">
            <a:noAutofit/>
          </a:bodyPr>
          <a:lstStyle/>
          <a:p>
            <a:pPr algn="l">
              <a:lnSpc>
                <a:spcPct val="115000"/>
              </a:lnSpc>
            </a:pPr>
            <a:r>
              <a:rPr sz="1400" b="0" i="0">
                <a:solidFill>
                  <a:srgbClr val="0D2A50"/>
                </a:solidFill>
                <a:latin typeface="Nunito Sans"/>
              </a:rPr>
              <a:t>Meerdere lasten tegelijk</a:t>
            </a:r>
          </a:p>
        </p:txBody>
      </p:sp>
      <p:sp>
        <p:nvSpPr>
          <p:cNvPr id="13" name="TextBox 12"/>
          <p:cNvSpPr txBox="1"/>
          <p:nvPr/>
        </p:nvSpPr>
        <p:spPr>
          <a:xfrm>
            <a:off x="5715000" y="2044700"/>
            <a:ext cx="2413000" cy="774700"/>
          </a:xfrm>
          <a:prstGeom prst="rect">
            <a:avLst/>
          </a:prstGeom>
          <a:noFill/>
        </p:spPr>
        <p:txBody>
          <a:bodyPr wrap="square" anchor="ctr" lIns="0" rIns="0" tIns="0" bIns="0">
            <a:noAutofit/>
          </a:bodyPr>
          <a:lstStyle/>
          <a:p>
            <a:pPr algn="l">
              <a:lnSpc>
                <a:spcPct val="115000"/>
              </a:lnSpc>
            </a:pPr>
            <a:r>
              <a:rPr sz="1400" b="0" i="0">
                <a:solidFill>
                  <a:srgbClr val="45658F"/>
                </a:solidFill>
                <a:latin typeface="Nunito Sans"/>
              </a:rPr>
              <a:t>Huur, kotwaarborg en verjaardag in één week</a:t>
            </a:r>
          </a:p>
        </p:txBody>
      </p:sp>
      <p:sp>
        <p:nvSpPr>
          <p:cNvPr id="14" name="TextBox 13"/>
          <p:cNvSpPr txBox="1"/>
          <p:nvPr/>
        </p:nvSpPr>
        <p:spPr>
          <a:xfrm>
            <a:off x="8280400" y="2044700"/>
            <a:ext cx="3098800" cy="774700"/>
          </a:xfrm>
          <a:prstGeom prst="rect">
            <a:avLst/>
          </a:prstGeom>
          <a:noFill/>
        </p:spPr>
        <p:txBody>
          <a:bodyPr wrap="square" anchor="ctr" lIns="0" rIns="0" tIns="0" bIns="0">
            <a:noAutofit/>
          </a:bodyPr>
          <a:lstStyle/>
          <a:p>
            <a:pPr algn="l">
              <a:lnSpc>
                <a:spcPct val="115000"/>
              </a:lnSpc>
            </a:pPr>
            <a:r>
              <a:rPr sz="1400" b="0" i="0">
                <a:solidFill>
                  <a:srgbClr val="0D2A50"/>
                </a:solidFill>
                <a:latin typeface="Nunito Sans"/>
              </a:rPr>
              <a:t>Waarschuwt vooraf, biedt een renteloze buffer van enkele dagen</a:t>
            </a:r>
          </a:p>
        </p:txBody>
      </p:sp>
      <p:sp>
        <p:nvSpPr>
          <p:cNvPr id="15" name="Rectangle 14"/>
          <p:cNvSpPr/>
          <p:nvPr/>
        </p:nvSpPr>
        <p:spPr>
          <a:xfrm>
            <a:off x="812800" y="2857500"/>
            <a:ext cx="10566400" cy="12700"/>
          </a:xfrm>
          <a:prstGeom prst="rect">
            <a:avLst/>
          </a:prstGeom>
          <a:solidFill>
            <a:srgbClr val="BFD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mist_l.gif"/>
          <p:cNvPicPr>
            <a:picLocks noChangeAspect="1"/>
          </p:cNvPicPr>
          <p:nvPr/>
        </p:nvPicPr>
        <p:blipFill>
          <a:blip r:embed="rId4"/>
          <a:stretch>
            <a:fillRect/>
          </a:stretch>
        </p:blipFill>
        <p:spPr>
          <a:xfrm>
            <a:off x="857575" y="2908300"/>
            <a:ext cx="799449" cy="673100"/>
          </a:xfrm>
          <a:prstGeom prst="rect">
            <a:avLst/>
          </a:prstGeom>
        </p:spPr>
      </p:pic>
      <p:sp>
        <p:nvSpPr>
          <p:cNvPr id="17" name="TextBox 16"/>
          <p:cNvSpPr txBox="1"/>
          <p:nvPr/>
        </p:nvSpPr>
        <p:spPr>
          <a:xfrm>
            <a:off x="1854200" y="2857500"/>
            <a:ext cx="1397000" cy="774700"/>
          </a:xfrm>
          <a:prstGeom prst="rect">
            <a:avLst/>
          </a:prstGeom>
          <a:noFill/>
        </p:spPr>
        <p:txBody>
          <a:bodyPr wrap="square" anchor="ctr" lIns="0" rIns="0" tIns="0" bIns="0">
            <a:noAutofit/>
          </a:bodyPr>
          <a:lstStyle/>
          <a:p>
            <a:pPr algn="l">
              <a:lnSpc>
                <a:spcPct val="125000"/>
              </a:lnSpc>
            </a:pPr>
            <a:r>
              <a:rPr sz="1800" b="1" i="0">
                <a:solidFill>
                  <a:srgbClr val="0D2A50"/>
                </a:solidFill>
                <a:latin typeface="Nunito Sans"/>
              </a:rPr>
              <a:t>Mist</a:t>
            </a:r>
          </a:p>
        </p:txBody>
      </p:sp>
      <p:sp>
        <p:nvSpPr>
          <p:cNvPr id="18" name="TextBox 17"/>
          <p:cNvSpPr txBox="1"/>
          <p:nvPr/>
        </p:nvSpPr>
        <p:spPr>
          <a:xfrm>
            <a:off x="3403600" y="2857500"/>
            <a:ext cx="2159000" cy="774700"/>
          </a:xfrm>
          <a:prstGeom prst="rect">
            <a:avLst/>
          </a:prstGeom>
          <a:noFill/>
        </p:spPr>
        <p:txBody>
          <a:bodyPr wrap="square" anchor="ctr" lIns="0" rIns="0" tIns="0" bIns="0">
            <a:noAutofit/>
          </a:bodyPr>
          <a:lstStyle/>
          <a:p>
            <a:pPr algn="l">
              <a:lnSpc>
                <a:spcPct val="115000"/>
              </a:lnSpc>
            </a:pPr>
            <a:r>
              <a:rPr sz="1400" b="0" i="0">
                <a:solidFill>
                  <a:srgbClr val="0D2A50"/>
                </a:solidFill>
                <a:latin typeface="Nunito Sans"/>
              </a:rPr>
              <a:t>Onzeker inkomen</a:t>
            </a:r>
          </a:p>
        </p:txBody>
      </p:sp>
      <p:sp>
        <p:nvSpPr>
          <p:cNvPr id="19" name="TextBox 18"/>
          <p:cNvSpPr txBox="1"/>
          <p:nvPr/>
        </p:nvSpPr>
        <p:spPr>
          <a:xfrm>
            <a:off x="5715000" y="2857500"/>
            <a:ext cx="2413000" cy="774700"/>
          </a:xfrm>
          <a:prstGeom prst="rect">
            <a:avLst/>
          </a:prstGeom>
          <a:noFill/>
        </p:spPr>
        <p:txBody>
          <a:bodyPr wrap="square" anchor="ctr" lIns="0" rIns="0" tIns="0" bIns="0">
            <a:noAutofit/>
          </a:bodyPr>
          <a:lstStyle/>
          <a:p>
            <a:pPr algn="l">
              <a:lnSpc>
                <a:spcPct val="115000"/>
              </a:lnSpc>
            </a:pPr>
            <a:r>
              <a:rPr sz="1400" b="0" i="0">
                <a:solidFill>
                  <a:srgbClr val="45658F"/>
                </a:solidFill>
                <a:latin typeface="Nunito Sans"/>
              </a:rPr>
              <a:t>Freelancer, interim, seizoenswerk</a:t>
            </a:r>
          </a:p>
        </p:txBody>
      </p:sp>
      <p:sp>
        <p:nvSpPr>
          <p:cNvPr id="20" name="TextBox 19"/>
          <p:cNvSpPr txBox="1"/>
          <p:nvPr/>
        </p:nvSpPr>
        <p:spPr>
          <a:xfrm>
            <a:off x="8280400" y="2857500"/>
            <a:ext cx="3098800" cy="774700"/>
          </a:xfrm>
          <a:prstGeom prst="rect">
            <a:avLst/>
          </a:prstGeom>
          <a:noFill/>
        </p:spPr>
        <p:txBody>
          <a:bodyPr wrap="square" anchor="ctr" lIns="0" rIns="0" tIns="0" bIns="0">
            <a:noAutofit/>
          </a:bodyPr>
          <a:lstStyle/>
          <a:p>
            <a:pPr algn="l">
              <a:lnSpc>
                <a:spcPct val="115000"/>
              </a:lnSpc>
            </a:pPr>
            <a:r>
              <a:rPr sz="1400" b="0" i="0">
                <a:solidFill>
                  <a:srgbClr val="0D2A50"/>
                </a:solidFill>
                <a:latin typeface="Nunito Sans"/>
              </a:rPr>
              <a:t>Rekent met een bandbreedte in plaats van één getal</a:t>
            </a:r>
          </a:p>
        </p:txBody>
      </p:sp>
      <p:sp>
        <p:nvSpPr>
          <p:cNvPr id="21" name="Rectangle 20"/>
          <p:cNvSpPr/>
          <p:nvPr/>
        </p:nvSpPr>
        <p:spPr>
          <a:xfrm>
            <a:off x="812800" y="3670300"/>
            <a:ext cx="10566400" cy="12700"/>
          </a:xfrm>
          <a:prstGeom prst="rect">
            <a:avLst/>
          </a:prstGeom>
          <a:solidFill>
            <a:srgbClr val="BFD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regenboog_l.gif"/>
          <p:cNvPicPr>
            <a:picLocks noChangeAspect="1"/>
          </p:cNvPicPr>
          <p:nvPr/>
        </p:nvPicPr>
        <p:blipFill>
          <a:blip r:embed="rId5"/>
          <a:stretch>
            <a:fillRect/>
          </a:stretch>
        </p:blipFill>
        <p:spPr>
          <a:xfrm>
            <a:off x="812800" y="3816879"/>
            <a:ext cx="889000" cy="481541"/>
          </a:xfrm>
          <a:prstGeom prst="rect">
            <a:avLst/>
          </a:prstGeom>
        </p:spPr>
      </p:pic>
      <p:sp>
        <p:nvSpPr>
          <p:cNvPr id="23" name="TextBox 22"/>
          <p:cNvSpPr txBox="1"/>
          <p:nvPr/>
        </p:nvSpPr>
        <p:spPr>
          <a:xfrm>
            <a:off x="1854200" y="3670300"/>
            <a:ext cx="1397000" cy="774700"/>
          </a:xfrm>
          <a:prstGeom prst="rect">
            <a:avLst/>
          </a:prstGeom>
          <a:noFill/>
        </p:spPr>
        <p:txBody>
          <a:bodyPr wrap="square" anchor="ctr" lIns="0" rIns="0" tIns="0" bIns="0">
            <a:noAutofit/>
          </a:bodyPr>
          <a:lstStyle/>
          <a:p>
            <a:pPr algn="l">
              <a:lnSpc>
                <a:spcPct val="125000"/>
              </a:lnSpc>
            </a:pPr>
            <a:r>
              <a:rPr sz="1800" b="1" i="0">
                <a:solidFill>
                  <a:srgbClr val="0D2A50"/>
                </a:solidFill>
                <a:latin typeface="Nunito Sans"/>
              </a:rPr>
              <a:t>Regenboog</a:t>
            </a:r>
          </a:p>
        </p:txBody>
      </p:sp>
      <p:sp>
        <p:nvSpPr>
          <p:cNvPr id="24" name="TextBox 23"/>
          <p:cNvSpPr txBox="1"/>
          <p:nvPr/>
        </p:nvSpPr>
        <p:spPr>
          <a:xfrm>
            <a:off x="3403600" y="3670300"/>
            <a:ext cx="2159000" cy="774700"/>
          </a:xfrm>
          <a:prstGeom prst="rect">
            <a:avLst/>
          </a:prstGeom>
          <a:noFill/>
        </p:spPr>
        <p:txBody>
          <a:bodyPr wrap="square" anchor="ctr" lIns="0" rIns="0" tIns="0" bIns="0">
            <a:noAutofit/>
          </a:bodyPr>
          <a:lstStyle/>
          <a:p>
            <a:pPr algn="l">
              <a:lnSpc>
                <a:spcPct val="115000"/>
              </a:lnSpc>
            </a:pPr>
            <a:r>
              <a:rPr sz="1400" b="0" i="0">
                <a:solidFill>
                  <a:srgbClr val="0D2A50"/>
                </a:solidFill>
                <a:latin typeface="Nunito Sans"/>
              </a:rPr>
              <a:t>Herstel na een zware periode</a:t>
            </a:r>
          </a:p>
        </p:txBody>
      </p:sp>
      <p:sp>
        <p:nvSpPr>
          <p:cNvPr id="25" name="TextBox 24"/>
          <p:cNvSpPr txBox="1"/>
          <p:nvPr/>
        </p:nvSpPr>
        <p:spPr>
          <a:xfrm>
            <a:off x="5715000" y="3670300"/>
            <a:ext cx="2413000" cy="774700"/>
          </a:xfrm>
          <a:prstGeom prst="rect">
            <a:avLst/>
          </a:prstGeom>
          <a:noFill/>
        </p:spPr>
        <p:txBody>
          <a:bodyPr wrap="square" anchor="ctr" lIns="0" rIns="0" tIns="0" bIns="0">
            <a:noAutofit/>
          </a:bodyPr>
          <a:lstStyle/>
          <a:p>
            <a:pPr algn="l">
              <a:lnSpc>
                <a:spcPct val="115000"/>
              </a:lnSpc>
            </a:pPr>
            <a:r>
              <a:rPr sz="1400" b="0" i="0">
                <a:solidFill>
                  <a:srgbClr val="45658F"/>
                </a:solidFill>
                <a:latin typeface="Nunito Sans"/>
              </a:rPr>
              <a:t>Eerste maand zonder rood staan</a:t>
            </a:r>
          </a:p>
        </p:txBody>
      </p:sp>
      <p:sp>
        <p:nvSpPr>
          <p:cNvPr id="26" name="TextBox 25"/>
          <p:cNvSpPr txBox="1"/>
          <p:nvPr/>
        </p:nvSpPr>
        <p:spPr>
          <a:xfrm>
            <a:off x="8280400" y="3670300"/>
            <a:ext cx="3098800" cy="774700"/>
          </a:xfrm>
          <a:prstGeom prst="rect">
            <a:avLst/>
          </a:prstGeom>
          <a:noFill/>
        </p:spPr>
        <p:txBody>
          <a:bodyPr wrap="square" anchor="ctr" lIns="0" rIns="0" tIns="0" bIns="0">
            <a:noAutofit/>
          </a:bodyPr>
          <a:lstStyle/>
          <a:p>
            <a:pPr algn="l">
              <a:lnSpc>
                <a:spcPct val="115000"/>
              </a:lnSpc>
            </a:pPr>
            <a:r>
              <a:rPr sz="1400" b="0" i="0">
                <a:solidFill>
                  <a:srgbClr val="0D2A50"/>
                </a:solidFill>
                <a:latin typeface="Nunito Sans"/>
              </a:rPr>
              <a:t>Viert het en stelt een volgende stap voor</a:t>
            </a:r>
          </a:p>
        </p:txBody>
      </p:sp>
      <p:sp>
        <p:nvSpPr>
          <p:cNvPr id="27" name="Rectangle 26"/>
          <p:cNvSpPr/>
          <p:nvPr/>
        </p:nvSpPr>
        <p:spPr>
          <a:xfrm>
            <a:off x="812800" y="4483100"/>
            <a:ext cx="10566400" cy="12700"/>
          </a:xfrm>
          <a:prstGeom prst="rect">
            <a:avLst/>
          </a:prstGeom>
          <a:solidFill>
            <a:srgbClr val="BFD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lock Arc 27"/>
          <p:cNvSpPr/>
          <p:nvPr/>
        </p:nvSpPr>
        <p:spPr>
          <a:xfrm>
            <a:off x="1003300" y="4616450"/>
            <a:ext cx="508000" cy="508000"/>
          </a:xfrm>
          <a:prstGeom prst="blockArc">
            <a:avLst/>
          </a:prstGeom>
          <a:solidFill>
            <a:srgbClr val="0097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854200" y="4483100"/>
            <a:ext cx="1397000" cy="774700"/>
          </a:xfrm>
          <a:prstGeom prst="rect">
            <a:avLst/>
          </a:prstGeom>
          <a:noFill/>
        </p:spPr>
        <p:txBody>
          <a:bodyPr wrap="square" anchor="ctr" lIns="0" rIns="0" tIns="0" bIns="0">
            <a:noAutofit/>
          </a:bodyPr>
          <a:lstStyle/>
          <a:p>
            <a:pPr algn="l">
              <a:lnSpc>
                <a:spcPct val="125000"/>
              </a:lnSpc>
            </a:pPr>
            <a:r>
              <a:rPr sz="1800" b="1" i="0">
                <a:solidFill>
                  <a:srgbClr val="0D2A50"/>
                </a:solidFill>
                <a:latin typeface="Nunito Sans"/>
              </a:rPr>
              <a:t>Seizoen</a:t>
            </a:r>
          </a:p>
        </p:txBody>
      </p:sp>
      <p:sp>
        <p:nvSpPr>
          <p:cNvPr id="30" name="TextBox 29"/>
          <p:cNvSpPr txBox="1"/>
          <p:nvPr/>
        </p:nvSpPr>
        <p:spPr>
          <a:xfrm>
            <a:off x="3403600" y="4483100"/>
            <a:ext cx="2159000" cy="774700"/>
          </a:xfrm>
          <a:prstGeom prst="rect">
            <a:avLst/>
          </a:prstGeom>
          <a:noFill/>
        </p:spPr>
        <p:txBody>
          <a:bodyPr wrap="square" anchor="ctr" lIns="0" rIns="0" tIns="0" bIns="0">
            <a:noAutofit/>
          </a:bodyPr>
          <a:lstStyle/>
          <a:p>
            <a:pPr algn="l">
              <a:lnSpc>
                <a:spcPct val="115000"/>
              </a:lnSpc>
            </a:pPr>
            <a:r>
              <a:rPr sz="1400" b="0" i="0">
                <a:solidFill>
                  <a:srgbClr val="0D2A50"/>
                </a:solidFill>
                <a:latin typeface="Nunito Sans"/>
              </a:rPr>
              <a:t>Een levensfase</a:t>
            </a:r>
          </a:p>
        </p:txBody>
      </p:sp>
      <p:sp>
        <p:nvSpPr>
          <p:cNvPr id="31" name="TextBox 30"/>
          <p:cNvSpPr txBox="1"/>
          <p:nvPr/>
        </p:nvSpPr>
        <p:spPr>
          <a:xfrm>
            <a:off x="5715000" y="4483100"/>
            <a:ext cx="2413000" cy="774700"/>
          </a:xfrm>
          <a:prstGeom prst="rect">
            <a:avLst/>
          </a:prstGeom>
          <a:noFill/>
        </p:spPr>
        <p:txBody>
          <a:bodyPr wrap="square" anchor="ctr" lIns="0" rIns="0" tIns="0" bIns="0">
            <a:noAutofit/>
          </a:bodyPr>
          <a:lstStyle/>
          <a:p>
            <a:pPr algn="l">
              <a:lnSpc>
                <a:spcPct val="115000"/>
              </a:lnSpc>
            </a:pPr>
            <a:r>
              <a:rPr sz="1400" b="0" i="0">
                <a:solidFill>
                  <a:srgbClr val="45658F"/>
                </a:solidFill>
                <a:latin typeface="Nunito Sans"/>
              </a:rPr>
              <a:t>Jong gezin, kind op kot, pensioen</a:t>
            </a:r>
          </a:p>
        </p:txBody>
      </p:sp>
      <p:sp>
        <p:nvSpPr>
          <p:cNvPr id="32" name="TextBox 31"/>
          <p:cNvSpPr txBox="1"/>
          <p:nvPr/>
        </p:nvSpPr>
        <p:spPr>
          <a:xfrm>
            <a:off x="8280400" y="4483100"/>
            <a:ext cx="3098800" cy="774700"/>
          </a:xfrm>
          <a:prstGeom prst="rect">
            <a:avLst/>
          </a:prstGeom>
          <a:noFill/>
        </p:spPr>
        <p:txBody>
          <a:bodyPr wrap="square" anchor="ctr" lIns="0" rIns="0" tIns="0" bIns="0">
            <a:noAutofit/>
          </a:bodyPr>
          <a:lstStyle/>
          <a:p>
            <a:pPr algn="l">
              <a:lnSpc>
                <a:spcPct val="115000"/>
              </a:lnSpc>
            </a:pPr>
            <a:r>
              <a:rPr sz="1400" b="0" i="0">
                <a:solidFill>
                  <a:srgbClr val="0D2A50"/>
                </a:solidFill>
                <a:latin typeface="Nunito Sans"/>
              </a:rPr>
              <a:t>Wisselt de hele voorspelling en alle playbooks</a:t>
            </a:r>
          </a:p>
        </p:txBody>
      </p:sp>
      <p:sp>
        <p:nvSpPr>
          <p:cNvPr id="33" name="Rectangle 32"/>
          <p:cNvSpPr/>
          <p:nvPr/>
        </p:nvSpPr>
        <p:spPr>
          <a:xfrm>
            <a:off x="812800" y="5295900"/>
            <a:ext cx="10566400" cy="12700"/>
          </a:xfrm>
          <a:prstGeom prst="rect">
            <a:avLst/>
          </a:prstGeom>
          <a:solidFill>
            <a:srgbClr val="BFD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Donut 33"/>
          <p:cNvSpPr/>
          <p:nvPr/>
        </p:nvSpPr>
        <p:spPr>
          <a:xfrm>
            <a:off x="1003300" y="5429250"/>
            <a:ext cx="508000" cy="508000"/>
          </a:xfrm>
          <a:prstGeom prst="donut">
            <a:avLst/>
          </a:prstGeom>
          <a:solidFill>
            <a:srgbClr val="0097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54200" y="5295900"/>
            <a:ext cx="1397000" cy="774700"/>
          </a:xfrm>
          <a:prstGeom prst="rect">
            <a:avLst/>
          </a:prstGeom>
          <a:noFill/>
        </p:spPr>
        <p:txBody>
          <a:bodyPr wrap="square" anchor="ctr" lIns="0" rIns="0" tIns="0" bIns="0">
            <a:noAutofit/>
          </a:bodyPr>
          <a:lstStyle/>
          <a:p>
            <a:pPr algn="l">
              <a:lnSpc>
                <a:spcPct val="125000"/>
              </a:lnSpc>
            </a:pPr>
            <a:r>
              <a:rPr sz="1800" b="1" i="0">
                <a:solidFill>
                  <a:srgbClr val="0D2A50"/>
                </a:solidFill>
                <a:latin typeface="Nunito Sans"/>
              </a:rPr>
              <a:t>Klimaat</a:t>
            </a:r>
          </a:p>
        </p:txBody>
      </p:sp>
      <p:sp>
        <p:nvSpPr>
          <p:cNvPr id="36" name="TextBox 35"/>
          <p:cNvSpPr txBox="1"/>
          <p:nvPr/>
        </p:nvSpPr>
        <p:spPr>
          <a:xfrm>
            <a:off x="3403600" y="5295900"/>
            <a:ext cx="2159000" cy="774700"/>
          </a:xfrm>
          <a:prstGeom prst="rect">
            <a:avLst/>
          </a:prstGeom>
          <a:noFill/>
        </p:spPr>
        <p:txBody>
          <a:bodyPr wrap="square" anchor="ctr" lIns="0" rIns="0" tIns="0" bIns="0">
            <a:noAutofit/>
          </a:bodyPr>
          <a:lstStyle/>
          <a:p>
            <a:pPr algn="l">
              <a:lnSpc>
                <a:spcPct val="115000"/>
              </a:lnSpc>
            </a:pPr>
            <a:r>
              <a:rPr sz="1400" b="0" i="0">
                <a:solidFill>
                  <a:srgbClr val="0D2A50"/>
                </a:solidFill>
                <a:latin typeface="Nunito Sans"/>
              </a:rPr>
              <a:t>Je lange termijn</a:t>
            </a:r>
          </a:p>
        </p:txBody>
      </p:sp>
      <p:sp>
        <p:nvSpPr>
          <p:cNvPr id="37" name="TextBox 36"/>
          <p:cNvSpPr txBox="1"/>
          <p:nvPr/>
        </p:nvSpPr>
        <p:spPr>
          <a:xfrm>
            <a:off x="5715000" y="5295900"/>
            <a:ext cx="2413000" cy="774700"/>
          </a:xfrm>
          <a:prstGeom prst="rect">
            <a:avLst/>
          </a:prstGeom>
          <a:noFill/>
        </p:spPr>
        <p:txBody>
          <a:bodyPr wrap="square" anchor="ctr" lIns="0" rIns="0" tIns="0" bIns="0">
            <a:noAutofit/>
          </a:bodyPr>
          <a:lstStyle/>
          <a:p>
            <a:pPr algn="l">
              <a:lnSpc>
                <a:spcPct val="115000"/>
              </a:lnSpc>
            </a:pPr>
            <a:r>
              <a:rPr sz="1400" b="0" i="0">
                <a:solidFill>
                  <a:srgbClr val="45658F"/>
                </a:solidFill>
                <a:latin typeface="Nunito Sans"/>
              </a:rPr>
              <a:t>Pensioen, huis, beleggen</a:t>
            </a:r>
          </a:p>
        </p:txBody>
      </p:sp>
      <p:sp>
        <p:nvSpPr>
          <p:cNvPr id="38" name="TextBox 37"/>
          <p:cNvSpPr txBox="1"/>
          <p:nvPr/>
        </p:nvSpPr>
        <p:spPr>
          <a:xfrm>
            <a:off x="8280400" y="5295900"/>
            <a:ext cx="3098800" cy="774700"/>
          </a:xfrm>
          <a:prstGeom prst="rect">
            <a:avLst/>
          </a:prstGeom>
          <a:noFill/>
        </p:spPr>
        <p:txBody>
          <a:bodyPr wrap="square" anchor="ctr" lIns="0" rIns="0" tIns="0" bIns="0">
            <a:noAutofit/>
          </a:bodyPr>
          <a:lstStyle/>
          <a:p>
            <a:pPr algn="l">
              <a:lnSpc>
                <a:spcPct val="115000"/>
              </a:lnSpc>
            </a:pPr>
            <a:r>
              <a:rPr sz="1400" b="0" i="0">
                <a:solidFill>
                  <a:srgbClr val="0D2A50"/>
                </a:solidFill>
                <a:latin typeface="Nunito Sans"/>
              </a:rPr>
              <a:t>Toont je toekomst-jij</a:t>
            </a:r>
          </a:p>
        </p:txBody>
      </p:sp>
      <p:sp>
        <p:nvSpPr>
          <p:cNvPr id="39" name="TextBox 38"/>
          <p:cNvSpPr txBox="1"/>
          <p:nvPr/>
        </p:nvSpPr>
        <p:spPr>
          <a:xfrm>
            <a:off x="812800" y="6350000"/>
            <a:ext cx="8890000" cy="215900"/>
          </a:xfrm>
          <a:prstGeom prst="rect">
            <a:avLst/>
          </a:prstGeom>
          <a:noFill/>
        </p:spPr>
        <p:txBody>
          <a:bodyPr wrap="square" anchor="t" lIns="0" rIns="0" tIns="0" bIns="0">
            <a:noAutofit/>
          </a:bodyPr>
          <a:lstStyle/>
          <a:p>
            <a:pPr algn="l">
              <a:lnSpc>
                <a:spcPct val="125000"/>
              </a:lnSpc>
            </a:pPr>
            <a:r>
              <a:rPr sz="1100" b="0" i="0">
                <a:solidFill>
                  <a:srgbClr val="45658F"/>
                </a:solidFill>
                <a:latin typeface="Nunito Sans"/>
              </a:rPr>
              <a:t>KBC Weerbericht · Jij kiest het weer · Team Trojan Horse</a:t>
            </a:r>
          </a:p>
        </p:txBody>
      </p:sp>
      <p:sp>
        <p:nvSpPr>
          <p:cNvPr id="40" name="TextBox 39"/>
          <p:cNvSpPr txBox="1"/>
          <p:nvPr/>
        </p:nvSpPr>
        <p:spPr>
          <a:xfrm>
            <a:off x="10109200" y="6350000"/>
            <a:ext cx="1270000" cy="215900"/>
          </a:xfrm>
          <a:prstGeom prst="rect">
            <a:avLst/>
          </a:prstGeom>
          <a:noFill/>
        </p:spPr>
        <p:txBody>
          <a:bodyPr wrap="square" anchor="t" lIns="0" rIns="0" tIns="0" bIns="0">
            <a:noAutofit/>
          </a:bodyPr>
          <a:lstStyle/>
          <a:p>
            <a:pPr algn="r">
              <a:lnSpc>
                <a:spcPct val="125000"/>
              </a:lnSpc>
            </a:pPr>
            <a:r>
              <a:rPr sz="1100" b="0" i="0">
                <a:solidFill>
                  <a:srgbClr val="45658F"/>
                </a:solidFill>
                <a:latin typeface="Nunito Sans"/>
              </a:rPr>
              <a:t>7 / 23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4" fill="hold">
                            <p:stCondLst>
                              <p:cond delay="0"/>
                            </p:stCondLst>
                            <p:childTnLst>
                              <p:par>
                                <p:cTn id="4" presetID="42"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ppt_y+.08"/>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p:cTn id="12" dur="500" fill="hold"/>
                                        <p:tgtEl>
                                          <p:spTgt spid="3"/>
                                        </p:tgtEl>
                                        <p:attrNameLst>
                                          <p:attrName>ppt_x</p:attrName>
                                        </p:attrNameLst>
                                      </p:cBhvr>
                                      <p:tavLst>
                                        <p:tav tm="0">
                                          <p:val>
                                            <p:strVal val="#ppt_x"/>
                                          </p:val>
                                        </p:tav>
                                        <p:tav tm="100000">
                                          <p:val>
                                            <p:strVal val="#ppt_x"/>
                                          </p:val>
                                        </p:tav>
                                      </p:tavLst>
                                    </p:anim>
                                    <p:anim calcmode="lin" valueType="num">
                                      <p:cBhvr>
                                        <p:cTn id="13" dur="500" fill="hold"/>
                                        <p:tgtEl>
                                          <p:spTgt spid="3"/>
                                        </p:tgtEl>
                                        <p:attrNameLst>
                                          <p:attrName>ppt_y</p:attrName>
                                        </p:attrNameLst>
                                      </p:cBhvr>
                                      <p:tavLst>
                                        <p:tav tm="0">
                                          <p:val>
                                            <p:strVal val="#ppt_y+.08"/>
                                          </p:val>
                                        </p:tav>
                                        <p:tav tm="100000">
                                          <p:val>
                                            <p:strVal val="#ppt_y"/>
                                          </p:val>
                                        </p:tav>
                                      </p:tavLst>
                                    </p:anim>
                                  </p:childTnLst>
                                </p:cTn>
                              </p:par>
                            </p:childTnLst>
                          </p:cTn>
                        </p:par>
                        <p:par>
                          <p:cTn id="30" fill="hold">
                            <p:stCondLst>
                              <p:cond delay="350"/>
                            </p:stCondLst>
                            <p:childTnLst>
                              <p:par>
                                <p:cTn id="15" presetID="10" presetClass="entr" presetSubtype="0"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300"/>
                                        <p:tgtEl>
                                          <p:spTgt spid="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300"/>
                                        <p:tgtEl>
                                          <p:spTgt spid="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300"/>
                                        <p:tgtEl>
                                          <p:spTgt spid="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300"/>
                                        <p:tgtEl>
                                          <p:spTgt spid="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300"/>
                                        <p:tgtEl>
                                          <p:spTgt spid="8"/>
                                        </p:tgtEl>
                                      </p:cBhvr>
                                    </p:animEffect>
                                  </p:childTnLst>
                                </p:cTn>
                              </p:par>
                            </p:childTnLst>
                          </p:cTn>
                        </p:par>
                        <p:par>
                          <p:cTn id="61" fill="hold">
                            <p:stCondLst>
                              <p:cond delay="560"/>
                            </p:stCondLst>
                            <p:childTnLst>
                              <p:par>
                                <p:cTn id="31" presetID="42" presetClass="entr" presetSubtype="0" fill="hold" grpId="0" nodeType="after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450"/>
                                        <p:tgtEl>
                                          <p:spTgt spid="9"/>
                                        </p:tgtEl>
                                      </p:cBhvr>
                                    </p:animEffect>
                                    <p:anim calcmode="lin" valueType="num">
                                      <p:cBhvr>
                                        <p:cTn id="34" dur="450" fill="hold"/>
                                        <p:tgtEl>
                                          <p:spTgt spid="9"/>
                                        </p:tgtEl>
                                        <p:attrNameLst>
                                          <p:attrName>ppt_x</p:attrName>
                                        </p:attrNameLst>
                                      </p:cBhvr>
                                      <p:tavLst>
                                        <p:tav tm="0">
                                          <p:val>
                                            <p:strVal val="#ppt_x"/>
                                          </p:val>
                                        </p:tav>
                                        <p:tav tm="100000">
                                          <p:val>
                                            <p:strVal val="#ppt_x"/>
                                          </p:val>
                                        </p:tav>
                                      </p:tavLst>
                                    </p:anim>
                                    <p:anim calcmode="lin" valueType="num">
                                      <p:cBhvr>
                                        <p:cTn id="35" dur="450" fill="hold"/>
                                        <p:tgtEl>
                                          <p:spTgt spid="9"/>
                                        </p:tgtEl>
                                        <p:attrNameLst>
                                          <p:attrName>ppt_y</p:attrName>
                                        </p:attrNameLst>
                                      </p:cBhvr>
                                      <p:tavLst>
                                        <p:tav tm="0">
                                          <p:val>
                                            <p:strVal val="#ppt_y+.08"/>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450"/>
                                        <p:tgtEl>
                                          <p:spTgt spid="10"/>
                                        </p:tgtEl>
                                      </p:cBhvr>
                                    </p:animEffect>
                                    <p:anim calcmode="lin" valueType="num">
                                      <p:cBhvr>
                                        <p:cTn id="39" dur="450" fill="hold"/>
                                        <p:tgtEl>
                                          <p:spTgt spid="10"/>
                                        </p:tgtEl>
                                        <p:attrNameLst>
                                          <p:attrName>ppt_x</p:attrName>
                                        </p:attrNameLst>
                                      </p:cBhvr>
                                      <p:tavLst>
                                        <p:tav tm="0">
                                          <p:val>
                                            <p:strVal val="#ppt_x"/>
                                          </p:val>
                                        </p:tav>
                                        <p:tav tm="100000">
                                          <p:val>
                                            <p:strVal val="#ppt_x"/>
                                          </p:val>
                                        </p:tav>
                                      </p:tavLst>
                                    </p:anim>
                                    <p:anim calcmode="lin" valueType="num">
                                      <p:cBhvr>
                                        <p:cTn id="40" dur="450" fill="hold"/>
                                        <p:tgtEl>
                                          <p:spTgt spid="10"/>
                                        </p:tgtEl>
                                        <p:attrNameLst>
                                          <p:attrName>ppt_y</p:attrName>
                                        </p:attrNameLst>
                                      </p:cBhvr>
                                      <p:tavLst>
                                        <p:tav tm="0">
                                          <p:val>
                                            <p:strVal val="#ppt_y+.08"/>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450"/>
                                        <p:tgtEl>
                                          <p:spTgt spid="11"/>
                                        </p:tgtEl>
                                      </p:cBhvr>
                                    </p:animEffect>
                                    <p:anim calcmode="lin" valueType="num">
                                      <p:cBhvr>
                                        <p:cTn id="44" dur="450" fill="hold"/>
                                        <p:tgtEl>
                                          <p:spTgt spid="11"/>
                                        </p:tgtEl>
                                        <p:attrNameLst>
                                          <p:attrName>ppt_x</p:attrName>
                                        </p:attrNameLst>
                                      </p:cBhvr>
                                      <p:tavLst>
                                        <p:tav tm="0">
                                          <p:val>
                                            <p:strVal val="#ppt_x"/>
                                          </p:val>
                                        </p:tav>
                                        <p:tav tm="100000">
                                          <p:val>
                                            <p:strVal val="#ppt_x"/>
                                          </p:val>
                                        </p:tav>
                                      </p:tavLst>
                                    </p:anim>
                                    <p:anim calcmode="lin" valueType="num">
                                      <p:cBhvr>
                                        <p:cTn id="45" dur="450" fill="hold"/>
                                        <p:tgtEl>
                                          <p:spTgt spid="11"/>
                                        </p:tgtEl>
                                        <p:attrNameLst>
                                          <p:attrName>ppt_y</p:attrName>
                                        </p:attrNameLst>
                                      </p:cBhvr>
                                      <p:tavLst>
                                        <p:tav tm="0">
                                          <p:val>
                                            <p:strVal val="#ppt_y+.08"/>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450"/>
                                        <p:tgtEl>
                                          <p:spTgt spid="12"/>
                                        </p:tgtEl>
                                      </p:cBhvr>
                                    </p:animEffect>
                                    <p:anim calcmode="lin" valueType="num">
                                      <p:cBhvr>
                                        <p:cTn id="49" dur="450" fill="hold"/>
                                        <p:tgtEl>
                                          <p:spTgt spid="12"/>
                                        </p:tgtEl>
                                        <p:attrNameLst>
                                          <p:attrName>ppt_x</p:attrName>
                                        </p:attrNameLst>
                                      </p:cBhvr>
                                      <p:tavLst>
                                        <p:tav tm="0">
                                          <p:val>
                                            <p:strVal val="#ppt_x"/>
                                          </p:val>
                                        </p:tav>
                                        <p:tav tm="100000">
                                          <p:val>
                                            <p:strVal val="#ppt_x"/>
                                          </p:val>
                                        </p:tav>
                                      </p:tavLst>
                                    </p:anim>
                                    <p:anim calcmode="lin" valueType="num">
                                      <p:cBhvr>
                                        <p:cTn id="50" dur="450" fill="hold"/>
                                        <p:tgtEl>
                                          <p:spTgt spid="12"/>
                                        </p:tgtEl>
                                        <p:attrNameLst>
                                          <p:attrName>ppt_y</p:attrName>
                                        </p:attrNameLst>
                                      </p:cBhvr>
                                      <p:tavLst>
                                        <p:tav tm="0">
                                          <p:val>
                                            <p:strVal val="#ppt_y+.08"/>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450"/>
                                        <p:tgtEl>
                                          <p:spTgt spid="13"/>
                                        </p:tgtEl>
                                      </p:cBhvr>
                                    </p:animEffect>
                                    <p:anim calcmode="lin" valueType="num">
                                      <p:cBhvr>
                                        <p:cTn id="54" dur="450" fill="hold"/>
                                        <p:tgtEl>
                                          <p:spTgt spid="13"/>
                                        </p:tgtEl>
                                        <p:attrNameLst>
                                          <p:attrName>ppt_x</p:attrName>
                                        </p:attrNameLst>
                                      </p:cBhvr>
                                      <p:tavLst>
                                        <p:tav tm="0">
                                          <p:val>
                                            <p:strVal val="#ppt_x"/>
                                          </p:val>
                                        </p:tav>
                                        <p:tav tm="100000">
                                          <p:val>
                                            <p:strVal val="#ppt_x"/>
                                          </p:val>
                                        </p:tav>
                                      </p:tavLst>
                                    </p:anim>
                                    <p:anim calcmode="lin" valueType="num">
                                      <p:cBhvr>
                                        <p:cTn id="55" dur="450" fill="hold"/>
                                        <p:tgtEl>
                                          <p:spTgt spid="13"/>
                                        </p:tgtEl>
                                        <p:attrNameLst>
                                          <p:attrName>ppt_y</p:attrName>
                                        </p:attrNameLst>
                                      </p:cBhvr>
                                      <p:tavLst>
                                        <p:tav tm="0">
                                          <p:val>
                                            <p:strVal val="#ppt_y+.08"/>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450"/>
                                        <p:tgtEl>
                                          <p:spTgt spid="14"/>
                                        </p:tgtEl>
                                      </p:cBhvr>
                                    </p:animEffect>
                                    <p:anim calcmode="lin" valueType="num">
                                      <p:cBhvr>
                                        <p:cTn id="59" dur="450" fill="hold"/>
                                        <p:tgtEl>
                                          <p:spTgt spid="14"/>
                                        </p:tgtEl>
                                        <p:attrNameLst>
                                          <p:attrName>ppt_x</p:attrName>
                                        </p:attrNameLst>
                                      </p:cBhvr>
                                      <p:tavLst>
                                        <p:tav tm="0">
                                          <p:val>
                                            <p:strVal val="#ppt_x"/>
                                          </p:val>
                                        </p:tav>
                                        <p:tav tm="100000">
                                          <p:val>
                                            <p:strVal val="#ppt_x"/>
                                          </p:val>
                                        </p:tav>
                                      </p:tavLst>
                                    </p:anim>
                                    <p:anim calcmode="lin" valueType="num">
                                      <p:cBhvr>
                                        <p:cTn id="60" dur="450" fill="hold"/>
                                        <p:tgtEl>
                                          <p:spTgt spid="14"/>
                                        </p:tgtEl>
                                        <p:attrNameLst>
                                          <p:attrName>ppt_y</p:attrName>
                                        </p:attrNameLst>
                                      </p:cBhvr>
                                      <p:tavLst>
                                        <p:tav tm="0">
                                          <p:val>
                                            <p:strVal val="#ppt_y+.08"/>
                                          </p:val>
                                        </p:tav>
                                        <p:tav tm="100000">
                                          <p:val>
                                            <p:strVal val="#ppt_y"/>
                                          </p:val>
                                        </p:tav>
                                      </p:tavLst>
                                    </p:anim>
                                  </p:childTnLst>
                                </p:cTn>
                              </p:par>
                            </p:childTnLst>
                          </p:cTn>
                        </p:par>
                        <p:par>
                          <p:cTn id="92" fill="hold">
                            <p:stCondLst>
                              <p:cond delay="875"/>
                            </p:stCondLst>
                            <p:childTnLst>
                              <p:par>
                                <p:cTn id="62" presetID="42" presetClass="entr" presetSubtype="0" fill="hold" grpId="0"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450"/>
                                        <p:tgtEl>
                                          <p:spTgt spid="15"/>
                                        </p:tgtEl>
                                      </p:cBhvr>
                                    </p:animEffect>
                                    <p:anim calcmode="lin" valueType="num">
                                      <p:cBhvr>
                                        <p:cTn id="65" dur="450" fill="hold"/>
                                        <p:tgtEl>
                                          <p:spTgt spid="15"/>
                                        </p:tgtEl>
                                        <p:attrNameLst>
                                          <p:attrName>ppt_x</p:attrName>
                                        </p:attrNameLst>
                                      </p:cBhvr>
                                      <p:tavLst>
                                        <p:tav tm="0">
                                          <p:val>
                                            <p:strVal val="#ppt_x"/>
                                          </p:val>
                                        </p:tav>
                                        <p:tav tm="100000">
                                          <p:val>
                                            <p:strVal val="#ppt_x"/>
                                          </p:val>
                                        </p:tav>
                                      </p:tavLst>
                                    </p:anim>
                                    <p:anim calcmode="lin" valueType="num">
                                      <p:cBhvr>
                                        <p:cTn id="66" dur="450" fill="hold"/>
                                        <p:tgtEl>
                                          <p:spTgt spid="15"/>
                                        </p:tgtEl>
                                        <p:attrNameLst>
                                          <p:attrName>ppt_y</p:attrName>
                                        </p:attrNameLst>
                                      </p:cBhvr>
                                      <p:tavLst>
                                        <p:tav tm="0">
                                          <p:val>
                                            <p:strVal val="#ppt_y+.08"/>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450"/>
                                        <p:tgtEl>
                                          <p:spTgt spid="16"/>
                                        </p:tgtEl>
                                      </p:cBhvr>
                                    </p:animEffect>
                                    <p:anim calcmode="lin" valueType="num">
                                      <p:cBhvr>
                                        <p:cTn id="70" dur="450" fill="hold"/>
                                        <p:tgtEl>
                                          <p:spTgt spid="16"/>
                                        </p:tgtEl>
                                        <p:attrNameLst>
                                          <p:attrName>ppt_x</p:attrName>
                                        </p:attrNameLst>
                                      </p:cBhvr>
                                      <p:tavLst>
                                        <p:tav tm="0">
                                          <p:val>
                                            <p:strVal val="#ppt_x"/>
                                          </p:val>
                                        </p:tav>
                                        <p:tav tm="100000">
                                          <p:val>
                                            <p:strVal val="#ppt_x"/>
                                          </p:val>
                                        </p:tav>
                                      </p:tavLst>
                                    </p:anim>
                                    <p:anim calcmode="lin" valueType="num">
                                      <p:cBhvr>
                                        <p:cTn id="71" dur="450" fill="hold"/>
                                        <p:tgtEl>
                                          <p:spTgt spid="16"/>
                                        </p:tgtEl>
                                        <p:attrNameLst>
                                          <p:attrName>ppt_y</p:attrName>
                                        </p:attrNameLst>
                                      </p:cBhvr>
                                      <p:tavLst>
                                        <p:tav tm="0">
                                          <p:val>
                                            <p:strVal val="#ppt_y+.08"/>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7"/>
                                        </p:tgtEl>
                                        <p:attrNameLst>
                                          <p:attrName>style.visibility</p:attrName>
                                        </p:attrNameLst>
                                      </p:cBhvr>
                                      <p:to>
                                        <p:strVal val="visible"/>
                                      </p:to>
                                    </p:set>
                                    <p:animEffect transition="in" filter="fade">
                                      <p:cBhvr>
                                        <p:cTn id="74" dur="450"/>
                                        <p:tgtEl>
                                          <p:spTgt spid="17"/>
                                        </p:tgtEl>
                                      </p:cBhvr>
                                    </p:animEffect>
                                    <p:anim calcmode="lin" valueType="num">
                                      <p:cBhvr>
                                        <p:cTn id="75" dur="450" fill="hold"/>
                                        <p:tgtEl>
                                          <p:spTgt spid="17"/>
                                        </p:tgtEl>
                                        <p:attrNameLst>
                                          <p:attrName>ppt_x</p:attrName>
                                        </p:attrNameLst>
                                      </p:cBhvr>
                                      <p:tavLst>
                                        <p:tav tm="0">
                                          <p:val>
                                            <p:strVal val="#ppt_x"/>
                                          </p:val>
                                        </p:tav>
                                        <p:tav tm="100000">
                                          <p:val>
                                            <p:strVal val="#ppt_x"/>
                                          </p:val>
                                        </p:tav>
                                      </p:tavLst>
                                    </p:anim>
                                    <p:anim calcmode="lin" valueType="num">
                                      <p:cBhvr>
                                        <p:cTn id="76" dur="450" fill="hold"/>
                                        <p:tgtEl>
                                          <p:spTgt spid="17"/>
                                        </p:tgtEl>
                                        <p:attrNameLst>
                                          <p:attrName>ppt_y</p:attrName>
                                        </p:attrNameLst>
                                      </p:cBhvr>
                                      <p:tavLst>
                                        <p:tav tm="0">
                                          <p:val>
                                            <p:strVal val="#ppt_y+.08"/>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fade">
                                      <p:cBhvr>
                                        <p:cTn id="79" dur="450"/>
                                        <p:tgtEl>
                                          <p:spTgt spid="18"/>
                                        </p:tgtEl>
                                      </p:cBhvr>
                                    </p:animEffect>
                                    <p:anim calcmode="lin" valueType="num">
                                      <p:cBhvr>
                                        <p:cTn id="80" dur="450" fill="hold"/>
                                        <p:tgtEl>
                                          <p:spTgt spid="18"/>
                                        </p:tgtEl>
                                        <p:attrNameLst>
                                          <p:attrName>ppt_x</p:attrName>
                                        </p:attrNameLst>
                                      </p:cBhvr>
                                      <p:tavLst>
                                        <p:tav tm="0">
                                          <p:val>
                                            <p:strVal val="#ppt_x"/>
                                          </p:val>
                                        </p:tav>
                                        <p:tav tm="100000">
                                          <p:val>
                                            <p:strVal val="#ppt_x"/>
                                          </p:val>
                                        </p:tav>
                                      </p:tavLst>
                                    </p:anim>
                                    <p:anim calcmode="lin" valueType="num">
                                      <p:cBhvr>
                                        <p:cTn id="81" dur="450" fill="hold"/>
                                        <p:tgtEl>
                                          <p:spTgt spid="18"/>
                                        </p:tgtEl>
                                        <p:attrNameLst>
                                          <p:attrName>ppt_y</p:attrName>
                                        </p:attrNameLst>
                                      </p:cBhvr>
                                      <p:tavLst>
                                        <p:tav tm="0">
                                          <p:val>
                                            <p:strVal val="#ppt_y+.08"/>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450"/>
                                        <p:tgtEl>
                                          <p:spTgt spid="19"/>
                                        </p:tgtEl>
                                      </p:cBhvr>
                                    </p:animEffect>
                                    <p:anim calcmode="lin" valueType="num">
                                      <p:cBhvr>
                                        <p:cTn id="85" dur="450" fill="hold"/>
                                        <p:tgtEl>
                                          <p:spTgt spid="19"/>
                                        </p:tgtEl>
                                        <p:attrNameLst>
                                          <p:attrName>ppt_x</p:attrName>
                                        </p:attrNameLst>
                                      </p:cBhvr>
                                      <p:tavLst>
                                        <p:tav tm="0">
                                          <p:val>
                                            <p:strVal val="#ppt_x"/>
                                          </p:val>
                                        </p:tav>
                                        <p:tav tm="100000">
                                          <p:val>
                                            <p:strVal val="#ppt_x"/>
                                          </p:val>
                                        </p:tav>
                                      </p:tavLst>
                                    </p:anim>
                                    <p:anim calcmode="lin" valueType="num">
                                      <p:cBhvr>
                                        <p:cTn id="86" dur="450" fill="hold"/>
                                        <p:tgtEl>
                                          <p:spTgt spid="19"/>
                                        </p:tgtEl>
                                        <p:attrNameLst>
                                          <p:attrName>ppt_y</p:attrName>
                                        </p:attrNameLst>
                                      </p:cBhvr>
                                      <p:tavLst>
                                        <p:tav tm="0">
                                          <p:val>
                                            <p:strVal val="#ppt_y+.08"/>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20"/>
                                        </p:tgtEl>
                                        <p:attrNameLst>
                                          <p:attrName>style.visibility</p:attrName>
                                        </p:attrNameLst>
                                      </p:cBhvr>
                                      <p:to>
                                        <p:strVal val="visible"/>
                                      </p:to>
                                    </p:set>
                                    <p:animEffect transition="in" filter="fade">
                                      <p:cBhvr>
                                        <p:cTn id="89" dur="450"/>
                                        <p:tgtEl>
                                          <p:spTgt spid="20"/>
                                        </p:tgtEl>
                                      </p:cBhvr>
                                    </p:animEffect>
                                    <p:anim calcmode="lin" valueType="num">
                                      <p:cBhvr>
                                        <p:cTn id="90" dur="450" fill="hold"/>
                                        <p:tgtEl>
                                          <p:spTgt spid="20"/>
                                        </p:tgtEl>
                                        <p:attrNameLst>
                                          <p:attrName>ppt_x</p:attrName>
                                        </p:attrNameLst>
                                      </p:cBhvr>
                                      <p:tavLst>
                                        <p:tav tm="0">
                                          <p:val>
                                            <p:strVal val="#ppt_x"/>
                                          </p:val>
                                        </p:tav>
                                        <p:tav tm="100000">
                                          <p:val>
                                            <p:strVal val="#ppt_x"/>
                                          </p:val>
                                        </p:tav>
                                      </p:tavLst>
                                    </p:anim>
                                    <p:anim calcmode="lin" valueType="num">
                                      <p:cBhvr>
                                        <p:cTn id="91" dur="450" fill="hold"/>
                                        <p:tgtEl>
                                          <p:spTgt spid="20"/>
                                        </p:tgtEl>
                                        <p:attrNameLst>
                                          <p:attrName>ppt_y</p:attrName>
                                        </p:attrNameLst>
                                      </p:cBhvr>
                                      <p:tavLst>
                                        <p:tav tm="0">
                                          <p:val>
                                            <p:strVal val="#ppt_y+.08"/>
                                          </p:val>
                                        </p:tav>
                                        <p:tav tm="100000">
                                          <p:val>
                                            <p:strVal val="#ppt_y"/>
                                          </p:val>
                                        </p:tav>
                                      </p:tavLst>
                                    </p:anim>
                                  </p:childTnLst>
                                </p:cTn>
                              </p:par>
                            </p:childTnLst>
                          </p:cTn>
                        </p:par>
                        <p:par>
                          <p:cTn id="123" fill="hold">
                            <p:stCondLst>
                              <p:cond delay="1190"/>
                            </p:stCondLst>
                            <p:childTnLst>
                              <p:par>
                                <p:cTn id="93" presetID="42" presetClass="entr" presetSubtype="0" fill="hold" grpId="0" nodeType="afterEffect">
                                  <p:stCondLst>
                                    <p:cond delay="0"/>
                                  </p:stCondLst>
                                  <p:childTnLst>
                                    <p:set>
                                      <p:cBhvr>
                                        <p:cTn id="94" dur="1" fill="hold">
                                          <p:stCondLst>
                                            <p:cond delay="0"/>
                                          </p:stCondLst>
                                        </p:cTn>
                                        <p:tgtEl>
                                          <p:spTgt spid="21"/>
                                        </p:tgtEl>
                                        <p:attrNameLst>
                                          <p:attrName>style.visibility</p:attrName>
                                        </p:attrNameLst>
                                      </p:cBhvr>
                                      <p:to>
                                        <p:strVal val="visible"/>
                                      </p:to>
                                    </p:set>
                                    <p:animEffect transition="in" filter="fade">
                                      <p:cBhvr>
                                        <p:cTn id="95" dur="450"/>
                                        <p:tgtEl>
                                          <p:spTgt spid="21"/>
                                        </p:tgtEl>
                                      </p:cBhvr>
                                    </p:animEffect>
                                    <p:anim calcmode="lin" valueType="num">
                                      <p:cBhvr>
                                        <p:cTn id="96" dur="450" fill="hold"/>
                                        <p:tgtEl>
                                          <p:spTgt spid="21"/>
                                        </p:tgtEl>
                                        <p:attrNameLst>
                                          <p:attrName>ppt_x</p:attrName>
                                        </p:attrNameLst>
                                      </p:cBhvr>
                                      <p:tavLst>
                                        <p:tav tm="0">
                                          <p:val>
                                            <p:strVal val="#ppt_x"/>
                                          </p:val>
                                        </p:tav>
                                        <p:tav tm="100000">
                                          <p:val>
                                            <p:strVal val="#ppt_x"/>
                                          </p:val>
                                        </p:tav>
                                      </p:tavLst>
                                    </p:anim>
                                    <p:anim calcmode="lin" valueType="num">
                                      <p:cBhvr>
                                        <p:cTn id="97" dur="450" fill="hold"/>
                                        <p:tgtEl>
                                          <p:spTgt spid="21"/>
                                        </p:tgtEl>
                                        <p:attrNameLst>
                                          <p:attrName>ppt_y</p:attrName>
                                        </p:attrNameLst>
                                      </p:cBhvr>
                                      <p:tavLst>
                                        <p:tav tm="0">
                                          <p:val>
                                            <p:strVal val="#ppt_y+.08"/>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22"/>
                                        </p:tgtEl>
                                        <p:attrNameLst>
                                          <p:attrName>style.visibility</p:attrName>
                                        </p:attrNameLst>
                                      </p:cBhvr>
                                      <p:to>
                                        <p:strVal val="visible"/>
                                      </p:to>
                                    </p:set>
                                    <p:animEffect transition="in" filter="fade">
                                      <p:cBhvr>
                                        <p:cTn id="100" dur="450"/>
                                        <p:tgtEl>
                                          <p:spTgt spid="22"/>
                                        </p:tgtEl>
                                      </p:cBhvr>
                                    </p:animEffect>
                                    <p:anim calcmode="lin" valueType="num">
                                      <p:cBhvr>
                                        <p:cTn id="101" dur="450" fill="hold"/>
                                        <p:tgtEl>
                                          <p:spTgt spid="22"/>
                                        </p:tgtEl>
                                        <p:attrNameLst>
                                          <p:attrName>ppt_x</p:attrName>
                                        </p:attrNameLst>
                                      </p:cBhvr>
                                      <p:tavLst>
                                        <p:tav tm="0">
                                          <p:val>
                                            <p:strVal val="#ppt_x"/>
                                          </p:val>
                                        </p:tav>
                                        <p:tav tm="100000">
                                          <p:val>
                                            <p:strVal val="#ppt_x"/>
                                          </p:val>
                                        </p:tav>
                                      </p:tavLst>
                                    </p:anim>
                                    <p:anim calcmode="lin" valueType="num">
                                      <p:cBhvr>
                                        <p:cTn id="102" dur="450" fill="hold"/>
                                        <p:tgtEl>
                                          <p:spTgt spid="22"/>
                                        </p:tgtEl>
                                        <p:attrNameLst>
                                          <p:attrName>ppt_y</p:attrName>
                                        </p:attrNameLst>
                                      </p:cBhvr>
                                      <p:tavLst>
                                        <p:tav tm="0">
                                          <p:val>
                                            <p:strVal val="#ppt_y+.08"/>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23"/>
                                        </p:tgtEl>
                                        <p:attrNameLst>
                                          <p:attrName>style.visibility</p:attrName>
                                        </p:attrNameLst>
                                      </p:cBhvr>
                                      <p:to>
                                        <p:strVal val="visible"/>
                                      </p:to>
                                    </p:set>
                                    <p:animEffect transition="in" filter="fade">
                                      <p:cBhvr>
                                        <p:cTn id="105" dur="450"/>
                                        <p:tgtEl>
                                          <p:spTgt spid="23"/>
                                        </p:tgtEl>
                                      </p:cBhvr>
                                    </p:animEffect>
                                    <p:anim calcmode="lin" valueType="num">
                                      <p:cBhvr>
                                        <p:cTn id="106" dur="450" fill="hold"/>
                                        <p:tgtEl>
                                          <p:spTgt spid="23"/>
                                        </p:tgtEl>
                                        <p:attrNameLst>
                                          <p:attrName>ppt_x</p:attrName>
                                        </p:attrNameLst>
                                      </p:cBhvr>
                                      <p:tavLst>
                                        <p:tav tm="0">
                                          <p:val>
                                            <p:strVal val="#ppt_x"/>
                                          </p:val>
                                        </p:tav>
                                        <p:tav tm="100000">
                                          <p:val>
                                            <p:strVal val="#ppt_x"/>
                                          </p:val>
                                        </p:tav>
                                      </p:tavLst>
                                    </p:anim>
                                    <p:anim calcmode="lin" valueType="num">
                                      <p:cBhvr>
                                        <p:cTn id="107" dur="450" fill="hold"/>
                                        <p:tgtEl>
                                          <p:spTgt spid="23"/>
                                        </p:tgtEl>
                                        <p:attrNameLst>
                                          <p:attrName>ppt_y</p:attrName>
                                        </p:attrNameLst>
                                      </p:cBhvr>
                                      <p:tavLst>
                                        <p:tav tm="0">
                                          <p:val>
                                            <p:strVal val="#ppt_y+.08"/>
                                          </p:val>
                                        </p:tav>
                                        <p:tav tm="100000">
                                          <p:val>
                                            <p:strVal val="#ppt_y"/>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24"/>
                                        </p:tgtEl>
                                        <p:attrNameLst>
                                          <p:attrName>style.visibility</p:attrName>
                                        </p:attrNameLst>
                                      </p:cBhvr>
                                      <p:to>
                                        <p:strVal val="visible"/>
                                      </p:to>
                                    </p:set>
                                    <p:animEffect transition="in" filter="fade">
                                      <p:cBhvr>
                                        <p:cTn id="110" dur="450"/>
                                        <p:tgtEl>
                                          <p:spTgt spid="24"/>
                                        </p:tgtEl>
                                      </p:cBhvr>
                                    </p:animEffect>
                                    <p:anim calcmode="lin" valueType="num">
                                      <p:cBhvr>
                                        <p:cTn id="111" dur="450" fill="hold"/>
                                        <p:tgtEl>
                                          <p:spTgt spid="24"/>
                                        </p:tgtEl>
                                        <p:attrNameLst>
                                          <p:attrName>ppt_x</p:attrName>
                                        </p:attrNameLst>
                                      </p:cBhvr>
                                      <p:tavLst>
                                        <p:tav tm="0">
                                          <p:val>
                                            <p:strVal val="#ppt_x"/>
                                          </p:val>
                                        </p:tav>
                                        <p:tav tm="100000">
                                          <p:val>
                                            <p:strVal val="#ppt_x"/>
                                          </p:val>
                                        </p:tav>
                                      </p:tavLst>
                                    </p:anim>
                                    <p:anim calcmode="lin" valueType="num">
                                      <p:cBhvr>
                                        <p:cTn id="112" dur="450" fill="hold"/>
                                        <p:tgtEl>
                                          <p:spTgt spid="24"/>
                                        </p:tgtEl>
                                        <p:attrNameLst>
                                          <p:attrName>ppt_y</p:attrName>
                                        </p:attrNameLst>
                                      </p:cBhvr>
                                      <p:tavLst>
                                        <p:tav tm="0">
                                          <p:val>
                                            <p:strVal val="#ppt_y+.08"/>
                                          </p:val>
                                        </p:tav>
                                        <p:tav tm="100000">
                                          <p:val>
                                            <p:strVal val="#ppt_y"/>
                                          </p:val>
                                        </p:tav>
                                      </p:tavLst>
                                    </p:anim>
                                  </p:childTnLst>
                                </p:cTn>
                              </p:par>
                              <p:par>
                                <p:cTn id="113" presetID="42" presetClass="entr" presetSubtype="0" fill="hold" grpId="0" nodeType="withEffect">
                                  <p:stCondLst>
                                    <p:cond delay="0"/>
                                  </p:stCondLst>
                                  <p:childTnLst>
                                    <p:set>
                                      <p:cBhvr>
                                        <p:cTn id="114" dur="1" fill="hold">
                                          <p:stCondLst>
                                            <p:cond delay="0"/>
                                          </p:stCondLst>
                                        </p:cTn>
                                        <p:tgtEl>
                                          <p:spTgt spid="25"/>
                                        </p:tgtEl>
                                        <p:attrNameLst>
                                          <p:attrName>style.visibility</p:attrName>
                                        </p:attrNameLst>
                                      </p:cBhvr>
                                      <p:to>
                                        <p:strVal val="visible"/>
                                      </p:to>
                                    </p:set>
                                    <p:animEffect transition="in" filter="fade">
                                      <p:cBhvr>
                                        <p:cTn id="115" dur="450"/>
                                        <p:tgtEl>
                                          <p:spTgt spid="25"/>
                                        </p:tgtEl>
                                      </p:cBhvr>
                                    </p:animEffect>
                                    <p:anim calcmode="lin" valueType="num">
                                      <p:cBhvr>
                                        <p:cTn id="116" dur="450" fill="hold"/>
                                        <p:tgtEl>
                                          <p:spTgt spid="25"/>
                                        </p:tgtEl>
                                        <p:attrNameLst>
                                          <p:attrName>ppt_x</p:attrName>
                                        </p:attrNameLst>
                                      </p:cBhvr>
                                      <p:tavLst>
                                        <p:tav tm="0">
                                          <p:val>
                                            <p:strVal val="#ppt_x"/>
                                          </p:val>
                                        </p:tav>
                                        <p:tav tm="100000">
                                          <p:val>
                                            <p:strVal val="#ppt_x"/>
                                          </p:val>
                                        </p:tav>
                                      </p:tavLst>
                                    </p:anim>
                                    <p:anim calcmode="lin" valueType="num">
                                      <p:cBhvr>
                                        <p:cTn id="117" dur="450" fill="hold"/>
                                        <p:tgtEl>
                                          <p:spTgt spid="25"/>
                                        </p:tgtEl>
                                        <p:attrNameLst>
                                          <p:attrName>ppt_y</p:attrName>
                                        </p:attrNameLst>
                                      </p:cBhvr>
                                      <p:tavLst>
                                        <p:tav tm="0">
                                          <p:val>
                                            <p:strVal val="#ppt_y+.08"/>
                                          </p:val>
                                        </p:tav>
                                        <p:tav tm="100000">
                                          <p:val>
                                            <p:strVal val="#ppt_y"/>
                                          </p:val>
                                        </p:tav>
                                      </p:tavLst>
                                    </p:anim>
                                  </p:childTnLst>
                                </p:cTn>
                              </p:par>
                              <p:par>
                                <p:cTn id="118" presetID="42" presetClass="entr" presetSubtype="0" fill="hold" grpId="0" nodeType="withEffect">
                                  <p:stCondLst>
                                    <p:cond delay="0"/>
                                  </p:stCondLst>
                                  <p:childTnLst>
                                    <p:set>
                                      <p:cBhvr>
                                        <p:cTn id="119" dur="1" fill="hold">
                                          <p:stCondLst>
                                            <p:cond delay="0"/>
                                          </p:stCondLst>
                                        </p:cTn>
                                        <p:tgtEl>
                                          <p:spTgt spid="26"/>
                                        </p:tgtEl>
                                        <p:attrNameLst>
                                          <p:attrName>style.visibility</p:attrName>
                                        </p:attrNameLst>
                                      </p:cBhvr>
                                      <p:to>
                                        <p:strVal val="visible"/>
                                      </p:to>
                                    </p:set>
                                    <p:animEffect transition="in" filter="fade">
                                      <p:cBhvr>
                                        <p:cTn id="120" dur="450"/>
                                        <p:tgtEl>
                                          <p:spTgt spid="26"/>
                                        </p:tgtEl>
                                      </p:cBhvr>
                                    </p:animEffect>
                                    <p:anim calcmode="lin" valueType="num">
                                      <p:cBhvr>
                                        <p:cTn id="121" dur="450" fill="hold"/>
                                        <p:tgtEl>
                                          <p:spTgt spid="26"/>
                                        </p:tgtEl>
                                        <p:attrNameLst>
                                          <p:attrName>ppt_x</p:attrName>
                                        </p:attrNameLst>
                                      </p:cBhvr>
                                      <p:tavLst>
                                        <p:tav tm="0">
                                          <p:val>
                                            <p:strVal val="#ppt_x"/>
                                          </p:val>
                                        </p:tav>
                                        <p:tav tm="100000">
                                          <p:val>
                                            <p:strVal val="#ppt_x"/>
                                          </p:val>
                                        </p:tav>
                                      </p:tavLst>
                                    </p:anim>
                                    <p:anim calcmode="lin" valueType="num">
                                      <p:cBhvr>
                                        <p:cTn id="122" dur="450" fill="hold"/>
                                        <p:tgtEl>
                                          <p:spTgt spid="26"/>
                                        </p:tgtEl>
                                        <p:attrNameLst>
                                          <p:attrName>ppt_y</p:attrName>
                                        </p:attrNameLst>
                                      </p:cBhvr>
                                      <p:tavLst>
                                        <p:tav tm="0">
                                          <p:val>
                                            <p:strVal val="#ppt_y+.08"/>
                                          </p:val>
                                        </p:tav>
                                        <p:tav tm="100000">
                                          <p:val>
                                            <p:strVal val="#ppt_y"/>
                                          </p:val>
                                        </p:tav>
                                      </p:tavLst>
                                    </p:anim>
                                  </p:childTnLst>
                                </p:cTn>
                              </p:par>
                            </p:childTnLst>
                          </p:cTn>
                        </p:par>
                        <p:par>
                          <p:cTn id="154" fill="hold">
                            <p:stCondLst>
                              <p:cond delay="1505"/>
                            </p:stCondLst>
                            <p:childTnLst>
                              <p:par>
                                <p:cTn id="124" presetID="42" presetClass="entr" presetSubtype="0" fill="hold" grpId="0" nodeType="afterEffect">
                                  <p:stCondLst>
                                    <p:cond delay="0"/>
                                  </p:stCondLst>
                                  <p:childTnLst>
                                    <p:set>
                                      <p:cBhvr>
                                        <p:cTn id="125" dur="1" fill="hold">
                                          <p:stCondLst>
                                            <p:cond delay="0"/>
                                          </p:stCondLst>
                                        </p:cTn>
                                        <p:tgtEl>
                                          <p:spTgt spid="27"/>
                                        </p:tgtEl>
                                        <p:attrNameLst>
                                          <p:attrName>style.visibility</p:attrName>
                                        </p:attrNameLst>
                                      </p:cBhvr>
                                      <p:to>
                                        <p:strVal val="visible"/>
                                      </p:to>
                                    </p:set>
                                    <p:animEffect transition="in" filter="fade">
                                      <p:cBhvr>
                                        <p:cTn id="126" dur="450"/>
                                        <p:tgtEl>
                                          <p:spTgt spid="27"/>
                                        </p:tgtEl>
                                      </p:cBhvr>
                                    </p:animEffect>
                                    <p:anim calcmode="lin" valueType="num">
                                      <p:cBhvr>
                                        <p:cTn id="127" dur="450" fill="hold"/>
                                        <p:tgtEl>
                                          <p:spTgt spid="27"/>
                                        </p:tgtEl>
                                        <p:attrNameLst>
                                          <p:attrName>ppt_x</p:attrName>
                                        </p:attrNameLst>
                                      </p:cBhvr>
                                      <p:tavLst>
                                        <p:tav tm="0">
                                          <p:val>
                                            <p:strVal val="#ppt_x"/>
                                          </p:val>
                                        </p:tav>
                                        <p:tav tm="100000">
                                          <p:val>
                                            <p:strVal val="#ppt_x"/>
                                          </p:val>
                                        </p:tav>
                                      </p:tavLst>
                                    </p:anim>
                                    <p:anim calcmode="lin" valueType="num">
                                      <p:cBhvr>
                                        <p:cTn id="128" dur="450" fill="hold"/>
                                        <p:tgtEl>
                                          <p:spTgt spid="27"/>
                                        </p:tgtEl>
                                        <p:attrNameLst>
                                          <p:attrName>ppt_y</p:attrName>
                                        </p:attrNameLst>
                                      </p:cBhvr>
                                      <p:tavLst>
                                        <p:tav tm="0">
                                          <p:val>
                                            <p:strVal val="#ppt_y+.08"/>
                                          </p:val>
                                        </p:tav>
                                        <p:tav tm="100000">
                                          <p:val>
                                            <p:strVal val="#ppt_y"/>
                                          </p:val>
                                        </p:tav>
                                      </p:tavLst>
                                    </p:anim>
                                  </p:childTnLst>
                                </p:cTn>
                              </p:par>
                              <p:par>
                                <p:cTn id="129" presetID="42" presetClass="entr" presetSubtype="0" fill="hold" grpId="0" nodeType="withEffect">
                                  <p:stCondLst>
                                    <p:cond delay="0"/>
                                  </p:stCondLst>
                                  <p:childTnLst>
                                    <p:set>
                                      <p:cBhvr>
                                        <p:cTn id="130" dur="1" fill="hold">
                                          <p:stCondLst>
                                            <p:cond delay="0"/>
                                          </p:stCondLst>
                                        </p:cTn>
                                        <p:tgtEl>
                                          <p:spTgt spid="28"/>
                                        </p:tgtEl>
                                        <p:attrNameLst>
                                          <p:attrName>style.visibility</p:attrName>
                                        </p:attrNameLst>
                                      </p:cBhvr>
                                      <p:to>
                                        <p:strVal val="visible"/>
                                      </p:to>
                                    </p:set>
                                    <p:animEffect transition="in" filter="fade">
                                      <p:cBhvr>
                                        <p:cTn id="131" dur="450"/>
                                        <p:tgtEl>
                                          <p:spTgt spid="28"/>
                                        </p:tgtEl>
                                      </p:cBhvr>
                                    </p:animEffect>
                                    <p:anim calcmode="lin" valueType="num">
                                      <p:cBhvr>
                                        <p:cTn id="132" dur="450" fill="hold"/>
                                        <p:tgtEl>
                                          <p:spTgt spid="28"/>
                                        </p:tgtEl>
                                        <p:attrNameLst>
                                          <p:attrName>ppt_x</p:attrName>
                                        </p:attrNameLst>
                                      </p:cBhvr>
                                      <p:tavLst>
                                        <p:tav tm="0">
                                          <p:val>
                                            <p:strVal val="#ppt_x"/>
                                          </p:val>
                                        </p:tav>
                                        <p:tav tm="100000">
                                          <p:val>
                                            <p:strVal val="#ppt_x"/>
                                          </p:val>
                                        </p:tav>
                                      </p:tavLst>
                                    </p:anim>
                                    <p:anim calcmode="lin" valueType="num">
                                      <p:cBhvr>
                                        <p:cTn id="133" dur="450" fill="hold"/>
                                        <p:tgtEl>
                                          <p:spTgt spid="28"/>
                                        </p:tgtEl>
                                        <p:attrNameLst>
                                          <p:attrName>ppt_y</p:attrName>
                                        </p:attrNameLst>
                                      </p:cBhvr>
                                      <p:tavLst>
                                        <p:tav tm="0">
                                          <p:val>
                                            <p:strVal val="#ppt_y+.08"/>
                                          </p:val>
                                        </p:tav>
                                        <p:tav tm="100000">
                                          <p:val>
                                            <p:strVal val="#ppt_y"/>
                                          </p:val>
                                        </p:tav>
                                      </p:tavLst>
                                    </p:anim>
                                  </p:childTnLst>
                                </p:cTn>
                              </p:par>
                              <p:par>
                                <p:cTn id="134" presetID="42" presetClass="entr" presetSubtype="0" fill="hold" grpId="0" nodeType="withEffect">
                                  <p:stCondLst>
                                    <p:cond delay="0"/>
                                  </p:stCondLst>
                                  <p:childTnLst>
                                    <p:set>
                                      <p:cBhvr>
                                        <p:cTn id="135" dur="1" fill="hold">
                                          <p:stCondLst>
                                            <p:cond delay="0"/>
                                          </p:stCondLst>
                                        </p:cTn>
                                        <p:tgtEl>
                                          <p:spTgt spid="29"/>
                                        </p:tgtEl>
                                        <p:attrNameLst>
                                          <p:attrName>style.visibility</p:attrName>
                                        </p:attrNameLst>
                                      </p:cBhvr>
                                      <p:to>
                                        <p:strVal val="visible"/>
                                      </p:to>
                                    </p:set>
                                    <p:animEffect transition="in" filter="fade">
                                      <p:cBhvr>
                                        <p:cTn id="136" dur="450"/>
                                        <p:tgtEl>
                                          <p:spTgt spid="29"/>
                                        </p:tgtEl>
                                      </p:cBhvr>
                                    </p:animEffect>
                                    <p:anim calcmode="lin" valueType="num">
                                      <p:cBhvr>
                                        <p:cTn id="137" dur="450" fill="hold"/>
                                        <p:tgtEl>
                                          <p:spTgt spid="29"/>
                                        </p:tgtEl>
                                        <p:attrNameLst>
                                          <p:attrName>ppt_x</p:attrName>
                                        </p:attrNameLst>
                                      </p:cBhvr>
                                      <p:tavLst>
                                        <p:tav tm="0">
                                          <p:val>
                                            <p:strVal val="#ppt_x"/>
                                          </p:val>
                                        </p:tav>
                                        <p:tav tm="100000">
                                          <p:val>
                                            <p:strVal val="#ppt_x"/>
                                          </p:val>
                                        </p:tav>
                                      </p:tavLst>
                                    </p:anim>
                                    <p:anim calcmode="lin" valueType="num">
                                      <p:cBhvr>
                                        <p:cTn id="138" dur="450" fill="hold"/>
                                        <p:tgtEl>
                                          <p:spTgt spid="29"/>
                                        </p:tgtEl>
                                        <p:attrNameLst>
                                          <p:attrName>ppt_y</p:attrName>
                                        </p:attrNameLst>
                                      </p:cBhvr>
                                      <p:tavLst>
                                        <p:tav tm="0">
                                          <p:val>
                                            <p:strVal val="#ppt_y+.08"/>
                                          </p:val>
                                        </p:tav>
                                        <p:tav tm="100000">
                                          <p:val>
                                            <p:strVal val="#ppt_y"/>
                                          </p:val>
                                        </p:tav>
                                      </p:tavLst>
                                    </p:anim>
                                  </p:childTnLst>
                                </p:cTn>
                              </p:par>
                              <p:par>
                                <p:cTn id="139" presetID="42" presetClass="entr" presetSubtype="0" fill="hold" grpId="0" nodeType="withEffect">
                                  <p:stCondLst>
                                    <p:cond delay="0"/>
                                  </p:stCondLst>
                                  <p:childTnLst>
                                    <p:set>
                                      <p:cBhvr>
                                        <p:cTn id="140" dur="1" fill="hold">
                                          <p:stCondLst>
                                            <p:cond delay="0"/>
                                          </p:stCondLst>
                                        </p:cTn>
                                        <p:tgtEl>
                                          <p:spTgt spid="30"/>
                                        </p:tgtEl>
                                        <p:attrNameLst>
                                          <p:attrName>style.visibility</p:attrName>
                                        </p:attrNameLst>
                                      </p:cBhvr>
                                      <p:to>
                                        <p:strVal val="visible"/>
                                      </p:to>
                                    </p:set>
                                    <p:animEffect transition="in" filter="fade">
                                      <p:cBhvr>
                                        <p:cTn id="141" dur="450"/>
                                        <p:tgtEl>
                                          <p:spTgt spid="30"/>
                                        </p:tgtEl>
                                      </p:cBhvr>
                                    </p:animEffect>
                                    <p:anim calcmode="lin" valueType="num">
                                      <p:cBhvr>
                                        <p:cTn id="142" dur="450" fill="hold"/>
                                        <p:tgtEl>
                                          <p:spTgt spid="30"/>
                                        </p:tgtEl>
                                        <p:attrNameLst>
                                          <p:attrName>ppt_x</p:attrName>
                                        </p:attrNameLst>
                                      </p:cBhvr>
                                      <p:tavLst>
                                        <p:tav tm="0">
                                          <p:val>
                                            <p:strVal val="#ppt_x"/>
                                          </p:val>
                                        </p:tav>
                                        <p:tav tm="100000">
                                          <p:val>
                                            <p:strVal val="#ppt_x"/>
                                          </p:val>
                                        </p:tav>
                                      </p:tavLst>
                                    </p:anim>
                                    <p:anim calcmode="lin" valueType="num">
                                      <p:cBhvr>
                                        <p:cTn id="143" dur="450" fill="hold"/>
                                        <p:tgtEl>
                                          <p:spTgt spid="30"/>
                                        </p:tgtEl>
                                        <p:attrNameLst>
                                          <p:attrName>ppt_y</p:attrName>
                                        </p:attrNameLst>
                                      </p:cBhvr>
                                      <p:tavLst>
                                        <p:tav tm="0">
                                          <p:val>
                                            <p:strVal val="#ppt_y+.08"/>
                                          </p:val>
                                        </p:tav>
                                        <p:tav tm="100000">
                                          <p:val>
                                            <p:strVal val="#ppt_y"/>
                                          </p:val>
                                        </p:tav>
                                      </p:tavLst>
                                    </p:anim>
                                  </p:childTnLst>
                                </p:cTn>
                              </p:par>
                              <p:par>
                                <p:cTn id="144" presetID="42" presetClass="entr" presetSubtype="0" fill="hold" grpId="0" nodeType="withEffect">
                                  <p:stCondLst>
                                    <p:cond delay="0"/>
                                  </p:stCondLst>
                                  <p:childTnLst>
                                    <p:set>
                                      <p:cBhvr>
                                        <p:cTn id="145" dur="1" fill="hold">
                                          <p:stCondLst>
                                            <p:cond delay="0"/>
                                          </p:stCondLst>
                                        </p:cTn>
                                        <p:tgtEl>
                                          <p:spTgt spid="31"/>
                                        </p:tgtEl>
                                        <p:attrNameLst>
                                          <p:attrName>style.visibility</p:attrName>
                                        </p:attrNameLst>
                                      </p:cBhvr>
                                      <p:to>
                                        <p:strVal val="visible"/>
                                      </p:to>
                                    </p:set>
                                    <p:animEffect transition="in" filter="fade">
                                      <p:cBhvr>
                                        <p:cTn id="146" dur="450"/>
                                        <p:tgtEl>
                                          <p:spTgt spid="31"/>
                                        </p:tgtEl>
                                      </p:cBhvr>
                                    </p:animEffect>
                                    <p:anim calcmode="lin" valueType="num">
                                      <p:cBhvr>
                                        <p:cTn id="147" dur="450" fill="hold"/>
                                        <p:tgtEl>
                                          <p:spTgt spid="31"/>
                                        </p:tgtEl>
                                        <p:attrNameLst>
                                          <p:attrName>ppt_x</p:attrName>
                                        </p:attrNameLst>
                                      </p:cBhvr>
                                      <p:tavLst>
                                        <p:tav tm="0">
                                          <p:val>
                                            <p:strVal val="#ppt_x"/>
                                          </p:val>
                                        </p:tav>
                                        <p:tav tm="100000">
                                          <p:val>
                                            <p:strVal val="#ppt_x"/>
                                          </p:val>
                                        </p:tav>
                                      </p:tavLst>
                                    </p:anim>
                                    <p:anim calcmode="lin" valueType="num">
                                      <p:cBhvr>
                                        <p:cTn id="148" dur="450" fill="hold"/>
                                        <p:tgtEl>
                                          <p:spTgt spid="31"/>
                                        </p:tgtEl>
                                        <p:attrNameLst>
                                          <p:attrName>ppt_y</p:attrName>
                                        </p:attrNameLst>
                                      </p:cBhvr>
                                      <p:tavLst>
                                        <p:tav tm="0">
                                          <p:val>
                                            <p:strVal val="#ppt_y+.08"/>
                                          </p:val>
                                        </p:tav>
                                        <p:tav tm="100000">
                                          <p:val>
                                            <p:strVal val="#ppt_y"/>
                                          </p:val>
                                        </p:tav>
                                      </p:tavLst>
                                    </p:anim>
                                  </p:childTnLst>
                                </p:cTn>
                              </p:par>
                              <p:par>
                                <p:cTn id="149" presetID="42" presetClass="entr" presetSubtype="0" fill="hold" grpId="0" nodeType="withEffect">
                                  <p:stCondLst>
                                    <p:cond delay="0"/>
                                  </p:stCondLst>
                                  <p:childTnLst>
                                    <p:set>
                                      <p:cBhvr>
                                        <p:cTn id="150" dur="1" fill="hold">
                                          <p:stCondLst>
                                            <p:cond delay="0"/>
                                          </p:stCondLst>
                                        </p:cTn>
                                        <p:tgtEl>
                                          <p:spTgt spid="32"/>
                                        </p:tgtEl>
                                        <p:attrNameLst>
                                          <p:attrName>style.visibility</p:attrName>
                                        </p:attrNameLst>
                                      </p:cBhvr>
                                      <p:to>
                                        <p:strVal val="visible"/>
                                      </p:to>
                                    </p:set>
                                    <p:animEffect transition="in" filter="fade">
                                      <p:cBhvr>
                                        <p:cTn id="151" dur="450"/>
                                        <p:tgtEl>
                                          <p:spTgt spid="32"/>
                                        </p:tgtEl>
                                      </p:cBhvr>
                                    </p:animEffect>
                                    <p:anim calcmode="lin" valueType="num">
                                      <p:cBhvr>
                                        <p:cTn id="152" dur="450" fill="hold"/>
                                        <p:tgtEl>
                                          <p:spTgt spid="32"/>
                                        </p:tgtEl>
                                        <p:attrNameLst>
                                          <p:attrName>ppt_x</p:attrName>
                                        </p:attrNameLst>
                                      </p:cBhvr>
                                      <p:tavLst>
                                        <p:tav tm="0">
                                          <p:val>
                                            <p:strVal val="#ppt_x"/>
                                          </p:val>
                                        </p:tav>
                                        <p:tav tm="100000">
                                          <p:val>
                                            <p:strVal val="#ppt_x"/>
                                          </p:val>
                                        </p:tav>
                                      </p:tavLst>
                                    </p:anim>
                                    <p:anim calcmode="lin" valueType="num">
                                      <p:cBhvr>
                                        <p:cTn id="153" dur="450" fill="hold"/>
                                        <p:tgtEl>
                                          <p:spTgt spid="32"/>
                                        </p:tgtEl>
                                        <p:attrNameLst>
                                          <p:attrName>ppt_y</p:attrName>
                                        </p:attrNameLst>
                                      </p:cBhvr>
                                      <p:tavLst>
                                        <p:tav tm="0">
                                          <p:val>
                                            <p:strVal val="#ppt_y+.08"/>
                                          </p:val>
                                        </p:tav>
                                        <p:tav tm="100000">
                                          <p:val>
                                            <p:strVal val="#ppt_y"/>
                                          </p:val>
                                        </p:tav>
                                      </p:tavLst>
                                    </p:anim>
                                  </p:childTnLst>
                                </p:cTn>
                              </p:par>
                            </p:childTnLst>
                          </p:cTn>
                        </p:par>
                        <p:par>
                          <p:cTn id="185" fill="hold">
                            <p:stCondLst>
                              <p:cond delay="1820"/>
                            </p:stCondLst>
                            <p:childTnLst>
                              <p:par>
                                <p:cTn id="155" presetID="42" presetClass="entr" presetSubtype="0" fill="hold" grpId="0" nodeType="afterEffect">
                                  <p:stCondLst>
                                    <p:cond delay="0"/>
                                  </p:stCondLst>
                                  <p:childTnLst>
                                    <p:set>
                                      <p:cBhvr>
                                        <p:cTn id="156" dur="1" fill="hold">
                                          <p:stCondLst>
                                            <p:cond delay="0"/>
                                          </p:stCondLst>
                                        </p:cTn>
                                        <p:tgtEl>
                                          <p:spTgt spid="33"/>
                                        </p:tgtEl>
                                        <p:attrNameLst>
                                          <p:attrName>style.visibility</p:attrName>
                                        </p:attrNameLst>
                                      </p:cBhvr>
                                      <p:to>
                                        <p:strVal val="visible"/>
                                      </p:to>
                                    </p:set>
                                    <p:animEffect transition="in" filter="fade">
                                      <p:cBhvr>
                                        <p:cTn id="157" dur="450"/>
                                        <p:tgtEl>
                                          <p:spTgt spid="33"/>
                                        </p:tgtEl>
                                      </p:cBhvr>
                                    </p:animEffect>
                                    <p:anim calcmode="lin" valueType="num">
                                      <p:cBhvr>
                                        <p:cTn id="158" dur="450" fill="hold"/>
                                        <p:tgtEl>
                                          <p:spTgt spid="33"/>
                                        </p:tgtEl>
                                        <p:attrNameLst>
                                          <p:attrName>ppt_x</p:attrName>
                                        </p:attrNameLst>
                                      </p:cBhvr>
                                      <p:tavLst>
                                        <p:tav tm="0">
                                          <p:val>
                                            <p:strVal val="#ppt_x"/>
                                          </p:val>
                                        </p:tav>
                                        <p:tav tm="100000">
                                          <p:val>
                                            <p:strVal val="#ppt_x"/>
                                          </p:val>
                                        </p:tav>
                                      </p:tavLst>
                                    </p:anim>
                                    <p:anim calcmode="lin" valueType="num">
                                      <p:cBhvr>
                                        <p:cTn id="159" dur="450" fill="hold"/>
                                        <p:tgtEl>
                                          <p:spTgt spid="33"/>
                                        </p:tgtEl>
                                        <p:attrNameLst>
                                          <p:attrName>ppt_y</p:attrName>
                                        </p:attrNameLst>
                                      </p:cBhvr>
                                      <p:tavLst>
                                        <p:tav tm="0">
                                          <p:val>
                                            <p:strVal val="#ppt_y+.08"/>
                                          </p:val>
                                        </p:tav>
                                        <p:tav tm="100000">
                                          <p:val>
                                            <p:strVal val="#ppt_y"/>
                                          </p:val>
                                        </p:tav>
                                      </p:tavLst>
                                    </p:anim>
                                  </p:childTnLst>
                                </p:cTn>
                              </p:par>
                              <p:par>
                                <p:cTn id="160" presetID="42" presetClass="entr" presetSubtype="0" fill="hold" grpId="0" nodeType="withEffect">
                                  <p:stCondLst>
                                    <p:cond delay="0"/>
                                  </p:stCondLst>
                                  <p:childTnLst>
                                    <p:set>
                                      <p:cBhvr>
                                        <p:cTn id="161" dur="1" fill="hold">
                                          <p:stCondLst>
                                            <p:cond delay="0"/>
                                          </p:stCondLst>
                                        </p:cTn>
                                        <p:tgtEl>
                                          <p:spTgt spid="34"/>
                                        </p:tgtEl>
                                        <p:attrNameLst>
                                          <p:attrName>style.visibility</p:attrName>
                                        </p:attrNameLst>
                                      </p:cBhvr>
                                      <p:to>
                                        <p:strVal val="visible"/>
                                      </p:to>
                                    </p:set>
                                    <p:animEffect transition="in" filter="fade">
                                      <p:cBhvr>
                                        <p:cTn id="162" dur="450"/>
                                        <p:tgtEl>
                                          <p:spTgt spid="34"/>
                                        </p:tgtEl>
                                      </p:cBhvr>
                                    </p:animEffect>
                                    <p:anim calcmode="lin" valueType="num">
                                      <p:cBhvr>
                                        <p:cTn id="163" dur="450" fill="hold"/>
                                        <p:tgtEl>
                                          <p:spTgt spid="34"/>
                                        </p:tgtEl>
                                        <p:attrNameLst>
                                          <p:attrName>ppt_x</p:attrName>
                                        </p:attrNameLst>
                                      </p:cBhvr>
                                      <p:tavLst>
                                        <p:tav tm="0">
                                          <p:val>
                                            <p:strVal val="#ppt_x"/>
                                          </p:val>
                                        </p:tav>
                                        <p:tav tm="100000">
                                          <p:val>
                                            <p:strVal val="#ppt_x"/>
                                          </p:val>
                                        </p:tav>
                                      </p:tavLst>
                                    </p:anim>
                                    <p:anim calcmode="lin" valueType="num">
                                      <p:cBhvr>
                                        <p:cTn id="164" dur="450" fill="hold"/>
                                        <p:tgtEl>
                                          <p:spTgt spid="34"/>
                                        </p:tgtEl>
                                        <p:attrNameLst>
                                          <p:attrName>ppt_y</p:attrName>
                                        </p:attrNameLst>
                                      </p:cBhvr>
                                      <p:tavLst>
                                        <p:tav tm="0">
                                          <p:val>
                                            <p:strVal val="#ppt_y+.08"/>
                                          </p:val>
                                        </p:tav>
                                        <p:tav tm="100000">
                                          <p:val>
                                            <p:strVal val="#ppt_y"/>
                                          </p:val>
                                        </p:tav>
                                      </p:tavLst>
                                    </p:anim>
                                  </p:childTnLst>
                                </p:cTn>
                              </p:par>
                              <p:par>
                                <p:cTn id="165" presetID="42" presetClass="entr" presetSubtype="0" fill="hold" grpId="0" nodeType="withEffect">
                                  <p:stCondLst>
                                    <p:cond delay="0"/>
                                  </p:stCondLst>
                                  <p:childTnLst>
                                    <p:set>
                                      <p:cBhvr>
                                        <p:cTn id="166" dur="1" fill="hold">
                                          <p:stCondLst>
                                            <p:cond delay="0"/>
                                          </p:stCondLst>
                                        </p:cTn>
                                        <p:tgtEl>
                                          <p:spTgt spid="35"/>
                                        </p:tgtEl>
                                        <p:attrNameLst>
                                          <p:attrName>style.visibility</p:attrName>
                                        </p:attrNameLst>
                                      </p:cBhvr>
                                      <p:to>
                                        <p:strVal val="visible"/>
                                      </p:to>
                                    </p:set>
                                    <p:animEffect transition="in" filter="fade">
                                      <p:cBhvr>
                                        <p:cTn id="167" dur="450"/>
                                        <p:tgtEl>
                                          <p:spTgt spid="35"/>
                                        </p:tgtEl>
                                      </p:cBhvr>
                                    </p:animEffect>
                                    <p:anim calcmode="lin" valueType="num">
                                      <p:cBhvr>
                                        <p:cTn id="168" dur="450" fill="hold"/>
                                        <p:tgtEl>
                                          <p:spTgt spid="35"/>
                                        </p:tgtEl>
                                        <p:attrNameLst>
                                          <p:attrName>ppt_x</p:attrName>
                                        </p:attrNameLst>
                                      </p:cBhvr>
                                      <p:tavLst>
                                        <p:tav tm="0">
                                          <p:val>
                                            <p:strVal val="#ppt_x"/>
                                          </p:val>
                                        </p:tav>
                                        <p:tav tm="100000">
                                          <p:val>
                                            <p:strVal val="#ppt_x"/>
                                          </p:val>
                                        </p:tav>
                                      </p:tavLst>
                                    </p:anim>
                                    <p:anim calcmode="lin" valueType="num">
                                      <p:cBhvr>
                                        <p:cTn id="169" dur="450" fill="hold"/>
                                        <p:tgtEl>
                                          <p:spTgt spid="35"/>
                                        </p:tgtEl>
                                        <p:attrNameLst>
                                          <p:attrName>ppt_y</p:attrName>
                                        </p:attrNameLst>
                                      </p:cBhvr>
                                      <p:tavLst>
                                        <p:tav tm="0">
                                          <p:val>
                                            <p:strVal val="#ppt_y+.08"/>
                                          </p:val>
                                        </p:tav>
                                        <p:tav tm="100000">
                                          <p:val>
                                            <p:strVal val="#ppt_y"/>
                                          </p:val>
                                        </p:tav>
                                      </p:tavLst>
                                    </p:anim>
                                  </p:childTnLst>
                                </p:cTn>
                              </p:par>
                              <p:par>
                                <p:cTn id="170" presetID="42" presetClass="entr" presetSubtype="0" fill="hold" grpId="0" nodeType="withEffect">
                                  <p:stCondLst>
                                    <p:cond delay="0"/>
                                  </p:stCondLst>
                                  <p:childTnLst>
                                    <p:set>
                                      <p:cBhvr>
                                        <p:cTn id="171" dur="1" fill="hold">
                                          <p:stCondLst>
                                            <p:cond delay="0"/>
                                          </p:stCondLst>
                                        </p:cTn>
                                        <p:tgtEl>
                                          <p:spTgt spid="36"/>
                                        </p:tgtEl>
                                        <p:attrNameLst>
                                          <p:attrName>style.visibility</p:attrName>
                                        </p:attrNameLst>
                                      </p:cBhvr>
                                      <p:to>
                                        <p:strVal val="visible"/>
                                      </p:to>
                                    </p:set>
                                    <p:animEffect transition="in" filter="fade">
                                      <p:cBhvr>
                                        <p:cTn id="172" dur="450"/>
                                        <p:tgtEl>
                                          <p:spTgt spid="36"/>
                                        </p:tgtEl>
                                      </p:cBhvr>
                                    </p:animEffect>
                                    <p:anim calcmode="lin" valueType="num">
                                      <p:cBhvr>
                                        <p:cTn id="173" dur="450" fill="hold"/>
                                        <p:tgtEl>
                                          <p:spTgt spid="36"/>
                                        </p:tgtEl>
                                        <p:attrNameLst>
                                          <p:attrName>ppt_x</p:attrName>
                                        </p:attrNameLst>
                                      </p:cBhvr>
                                      <p:tavLst>
                                        <p:tav tm="0">
                                          <p:val>
                                            <p:strVal val="#ppt_x"/>
                                          </p:val>
                                        </p:tav>
                                        <p:tav tm="100000">
                                          <p:val>
                                            <p:strVal val="#ppt_x"/>
                                          </p:val>
                                        </p:tav>
                                      </p:tavLst>
                                    </p:anim>
                                    <p:anim calcmode="lin" valueType="num">
                                      <p:cBhvr>
                                        <p:cTn id="174" dur="450" fill="hold"/>
                                        <p:tgtEl>
                                          <p:spTgt spid="36"/>
                                        </p:tgtEl>
                                        <p:attrNameLst>
                                          <p:attrName>ppt_y</p:attrName>
                                        </p:attrNameLst>
                                      </p:cBhvr>
                                      <p:tavLst>
                                        <p:tav tm="0">
                                          <p:val>
                                            <p:strVal val="#ppt_y+.08"/>
                                          </p:val>
                                        </p:tav>
                                        <p:tav tm="100000">
                                          <p:val>
                                            <p:strVal val="#ppt_y"/>
                                          </p:val>
                                        </p:tav>
                                      </p:tavLst>
                                    </p:anim>
                                  </p:childTnLst>
                                </p:cTn>
                              </p:par>
                              <p:par>
                                <p:cTn id="175" presetID="42" presetClass="entr" presetSubtype="0" fill="hold" grpId="0" nodeType="withEffect">
                                  <p:stCondLst>
                                    <p:cond delay="0"/>
                                  </p:stCondLst>
                                  <p:childTnLst>
                                    <p:set>
                                      <p:cBhvr>
                                        <p:cTn id="176" dur="1" fill="hold">
                                          <p:stCondLst>
                                            <p:cond delay="0"/>
                                          </p:stCondLst>
                                        </p:cTn>
                                        <p:tgtEl>
                                          <p:spTgt spid="37"/>
                                        </p:tgtEl>
                                        <p:attrNameLst>
                                          <p:attrName>style.visibility</p:attrName>
                                        </p:attrNameLst>
                                      </p:cBhvr>
                                      <p:to>
                                        <p:strVal val="visible"/>
                                      </p:to>
                                    </p:set>
                                    <p:animEffect transition="in" filter="fade">
                                      <p:cBhvr>
                                        <p:cTn id="177" dur="450"/>
                                        <p:tgtEl>
                                          <p:spTgt spid="37"/>
                                        </p:tgtEl>
                                      </p:cBhvr>
                                    </p:animEffect>
                                    <p:anim calcmode="lin" valueType="num">
                                      <p:cBhvr>
                                        <p:cTn id="178" dur="450" fill="hold"/>
                                        <p:tgtEl>
                                          <p:spTgt spid="37"/>
                                        </p:tgtEl>
                                        <p:attrNameLst>
                                          <p:attrName>ppt_x</p:attrName>
                                        </p:attrNameLst>
                                      </p:cBhvr>
                                      <p:tavLst>
                                        <p:tav tm="0">
                                          <p:val>
                                            <p:strVal val="#ppt_x"/>
                                          </p:val>
                                        </p:tav>
                                        <p:tav tm="100000">
                                          <p:val>
                                            <p:strVal val="#ppt_x"/>
                                          </p:val>
                                        </p:tav>
                                      </p:tavLst>
                                    </p:anim>
                                    <p:anim calcmode="lin" valueType="num">
                                      <p:cBhvr>
                                        <p:cTn id="179" dur="450" fill="hold"/>
                                        <p:tgtEl>
                                          <p:spTgt spid="37"/>
                                        </p:tgtEl>
                                        <p:attrNameLst>
                                          <p:attrName>ppt_y</p:attrName>
                                        </p:attrNameLst>
                                      </p:cBhvr>
                                      <p:tavLst>
                                        <p:tav tm="0">
                                          <p:val>
                                            <p:strVal val="#ppt_y+.08"/>
                                          </p:val>
                                        </p:tav>
                                        <p:tav tm="100000">
                                          <p:val>
                                            <p:strVal val="#ppt_y"/>
                                          </p:val>
                                        </p:tav>
                                      </p:tavLst>
                                    </p:anim>
                                  </p:childTnLst>
                                </p:cTn>
                              </p:par>
                              <p:par>
                                <p:cTn id="180" presetID="42" presetClass="entr" presetSubtype="0" fill="hold" grpId="0" nodeType="withEffect">
                                  <p:stCondLst>
                                    <p:cond delay="0"/>
                                  </p:stCondLst>
                                  <p:childTnLst>
                                    <p:set>
                                      <p:cBhvr>
                                        <p:cTn id="181" dur="1" fill="hold">
                                          <p:stCondLst>
                                            <p:cond delay="0"/>
                                          </p:stCondLst>
                                        </p:cTn>
                                        <p:tgtEl>
                                          <p:spTgt spid="38"/>
                                        </p:tgtEl>
                                        <p:attrNameLst>
                                          <p:attrName>style.visibility</p:attrName>
                                        </p:attrNameLst>
                                      </p:cBhvr>
                                      <p:to>
                                        <p:strVal val="visible"/>
                                      </p:to>
                                    </p:set>
                                    <p:animEffect transition="in" filter="fade">
                                      <p:cBhvr>
                                        <p:cTn id="182" dur="450"/>
                                        <p:tgtEl>
                                          <p:spTgt spid="38"/>
                                        </p:tgtEl>
                                      </p:cBhvr>
                                    </p:animEffect>
                                    <p:anim calcmode="lin" valueType="num">
                                      <p:cBhvr>
                                        <p:cTn id="183" dur="450" fill="hold"/>
                                        <p:tgtEl>
                                          <p:spTgt spid="38"/>
                                        </p:tgtEl>
                                        <p:attrNameLst>
                                          <p:attrName>ppt_x</p:attrName>
                                        </p:attrNameLst>
                                      </p:cBhvr>
                                      <p:tavLst>
                                        <p:tav tm="0">
                                          <p:val>
                                            <p:strVal val="#ppt_x"/>
                                          </p:val>
                                        </p:tav>
                                        <p:tav tm="100000">
                                          <p:val>
                                            <p:strVal val="#ppt_x"/>
                                          </p:val>
                                        </p:tav>
                                      </p:tavLst>
                                    </p:anim>
                                    <p:anim calcmode="lin" valueType="num">
                                      <p:cBhvr>
                                        <p:cTn id="184" dur="450" fill="hold"/>
                                        <p:tgtEl>
                                          <p:spTgt spid="3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2A50"/>
        </a:solidFill>
        <a:effectLst/>
      </p:bgPr>
    </p:bg>
    <p:spTree>
      <p:nvGrpSpPr>
        <p:cNvPr id="1" name=""/>
        <p:cNvGrpSpPr/>
        <p:nvPr/>
      </p:nvGrpSpPr>
      <p:grpSpPr/>
      <p:sp>
        <p:nvSpPr>
          <p:cNvPr id="2" name="TextBox 1"/>
          <p:cNvSpPr txBox="1"/>
          <p:nvPr/>
        </p:nvSpPr>
        <p:spPr>
          <a:xfrm>
            <a:off x="812800" y="711200"/>
            <a:ext cx="10566400" cy="228600"/>
          </a:xfrm>
          <a:prstGeom prst="rect">
            <a:avLst/>
          </a:prstGeom>
          <a:noFill/>
        </p:spPr>
        <p:txBody>
          <a:bodyPr wrap="square" anchor="t" lIns="0" rIns="0" tIns="0" bIns="0">
            <a:noAutofit/>
          </a:bodyPr>
          <a:lstStyle/>
          <a:p>
            <a:pPr algn="l">
              <a:lnSpc>
                <a:spcPct val="125000"/>
              </a:lnSpc>
            </a:pPr>
            <a:r>
              <a:rPr sz="1200" b="1" i="0" cap="all" spc="300">
                <a:solidFill>
                  <a:srgbClr val="46ADE0"/>
                </a:solidFill>
                <a:latin typeface="Nunito Sans"/>
              </a:rPr>
              <a:t>Jij kiest het weer</a:t>
            </a:r>
          </a:p>
        </p:txBody>
      </p:sp>
      <p:sp>
        <p:nvSpPr>
          <p:cNvPr id="3" name="TextBox 2"/>
          <p:cNvSpPr txBox="1"/>
          <p:nvPr/>
        </p:nvSpPr>
        <p:spPr>
          <a:xfrm>
            <a:off x="812800" y="990600"/>
            <a:ext cx="10566400" cy="508000"/>
          </a:xfrm>
          <a:prstGeom prst="rect">
            <a:avLst/>
          </a:prstGeom>
          <a:noFill/>
        </p:spPr>
        <p:txBody>
          <a:bodyPr wrap="square" anchor="t" lIns="0" rIns="0" tIns="0" bIns="0">
            <a:noAutofit/>
          </a:bodyPr>
          <a:lstStyle/>
          <a:p>
            <a:pPr algn="l">
              <a:lnSpc>
                <a:spcPct val="105000"/>
              </a:lnSpc>
            </a:pPr>
            <a:r>
              <a:rPr sz="3600" b="1" i="0">
                <a:solidFill>
                  <a:srgbClr val="FFFFFF"/>
                </a:solidFill>
                <a:latin typeface="Nunito Sans"/>
              </a:rPr>
              <a:t>De voorspelling is een knop</a:t>
            </a:r>
          </a:p>
        </p:txBody>
      </p:sp>
      <p:sp>
        <p:nvSpPr>
          <p:cNvPr id="4" name="TextBox 3"/>
          <p:cNvSpPr txBox="1"/>
          <p:nvPr/>
        </p:nvSpPr>
        <p:spPr>
          <a:xfrm>
            <a:off x="812800" y="1574800"/>
            <a:ext cx="10566400" cy="317500"/>
          </a:xfrm>
          <a:prstGeom prst="rect">
            <a:avLst/>
          </a:prstGeom>
          <a:noFill/>
        </p:spPr>
        <p:txBody>
          <a:bodyPr wrap="square" anchor="t" lIns="0" rIns="0" tIns="0" bIns="0">
            <a:noAutofit/>
          </a:bodyPr>
          <a:lstStyle/>
          <a:p>
            <a:pPr algn="l">
              <a:lnSpc>
                <a:spcPct val="125000"/>
              </a:lnSpc>
            </a:pPr>
            <a:r>
              <a:rPr sz="1600" b="0" i="0">
                <a:solidFill>
                  <a:srgbClr val="BFDAFF"/>
                </a:solidFill>
                <a:latin typeface="Nunito Sans"/>
              </a:rPr>
              <a:t>De klant sleept scenario's in de week en ziet het weer live veranderen.</a:t>
            </a:r>
          </a:p>
        </p:txBody>
      </p:sp>
      <p:sp>
        <p:nvSpPr>
          <p:cNvPr id="5" name="Rounded Rectangle 4"/>
          <p:cNvSpPr/>
          <p:nvPr/>
        </p:nvSpPr>
        <p:spPr>
          <a:xfrm>
            <a:off x="812800" y="2133600"/>
            <a:ext cx="4572000" cy="1016000"/>
          </a:xfrm>
          <a:prstGeom prst="roundRect">
            <a:avLst>
              <a:gd name="adj" fmla="val 10000"/>
            </a:avLst>
          </a:prstGeom>
          <a:solidFill>
            <a:srgbClr val="021E43"/>
          </a:solidFill>
          <a:ln w="12700">
            <a:solidFill>
              <a:srgbClr val="1E4474"/>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27000" bIns="127000">
            <a:noAutofit/>
          </a:bodyPr>
          <a:lstStyle/>
          <a:p>
            <a:pPr algn="l">
              <a:lnSpc>
                <a:spcPct val="115000"/>
              </a:lnSpc>
            </a:pPr>
            <a:r>
              <a:rPr sz="1800" b="1" i="0">
                <a:solidFill>
                  <a:srgbClr val="FFFFFF"/>
                </a:solidFill>
                <a:latin typeface="Nunito Sans"/>
              </a:rPr>
              <a:t>“Ik ga vrijdag uit met €60”</a:t>
            </a:r>
          </a:p>
        </p:txBody>
      </p:sp>
      <p:sp>
        <p:nvSpPr>
          <p:cNvPr id="6" name="Right Arrow 5"/>
          <p:cNvSpPr/>
          <p:nvPr/>
        </p:nvSpPr>
        <p:spPr>
          <a:xfrm>
            <a:off x="5638800" y="2482850"/>
            <a:ext cx="635000" cy="317500"/>
          </a:xfrm>
          <a:prstGeom prst="rightArrow">
            <a:avLst/>
          </a:prstGeom>
          <a:solidFill>
            <a:srgbClr val="FE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nder_d.gif"/>
          <p:cNvPicPr>
            <a:picLocks noChangeAspect="1"/>
          </p:cNvPicPr>
          <p:nvPr/>
        </p:nvPicPr>
        <p:blipFill>
          <a:blip r:embed="rId3"/>
          <a:stretch>
            <a:fillRect/>
          </a:stretch>
        </p:blipFill>
        <p:spPr>
          <a:xfrm>
            <a:off x="6845300" y="2095500"/>
            <a:ext cx="787400" cy="787400"/>
          </a:xfrm>
          <a:prstGeom prst="rect">
            <a:avLst/>
          </a:prstGeom>
        </p:spPr>
      </p:pic>
      <p:sp>
        <p:nvSpPr>
          <p:cNvPr id="8" name="TextBox 7"/>
          <p:cNvSpPr txBox="1"/>
          <p:nvPr/>
        </p:nvSpPr>
        <p:spPr>
          <a:xfrm>
            <a:off x="6477000" y="2895600"/>
            <a:ext cx="1524000" cy="254000"/>
          </a:xfrm>
          <a:prstGeom prst="rect">
            <a:avLst/>
          </a:prstGeom>
          <a:noFill/>
        </p:spPr>
        <p:txBody>
          <a:bodyPr wrap="square" anchor="t" lIns="0" rIns="0" tIns="0" bIns="0">
            <a:noAutofit/>
          </a:bodyPr>
          <a:lstStyle/>
          <a:p>
            <a:pPr algn="ctr">
              <a:lnSpc>
                <a:spcPct val="125000"/>
              </a:lnSpc>
            </a:pPr>
            <a:r>
              <a:rPr sz="1200" b="0" i="0">
                <a:solidFill>
                  <a:srgbClr val="BFDAFF"/>
                </a:solidFill>
                <a:latin typeface="Nunito Sans"/>
              </a:rPr>
              <a:t>vr donder</a:t>
            </a:r>
          </a:p>
        </p:txBody>
      </p:sp>
      <p:pic>
        <p:nvPicPr>
          <p:cNvPr id="9" name="Picture 8" descr="bewolkt_d.gif"/>
          <p:cNvPicPr>
            <a:picLocks noChangeAspect="1"/>
          </p:cNvPicPr>
          <p:nvPr/>
        </p:nvPicPr>
        <p:blipFill>
          <a:blip r:embed="rId4"/>
          <a:stretch>
            <a:fillRect/>
          </a:stretch>
        </p:blipFill>
        <p:spPr>
          <a:xfrm>
            <a:off x="8297649" y="2095500"/>
            <a:ext cx="1057701" cy="787400"/>
          </a:xfrm>
          <a:prstGeom prst="rect">
            <a:avLst/>
          </a:prstGeom>
        </p:spPr>
      </p:pic>
      <p:sp>
        <p:nvSpPr>
          <p:cNvPr id="10" name="TextBox 9"/>
          <p:cNvSpPr txBox="1"/>
          <p:nvPr/>
        </p:nvSpPr>
        <p:spPr>
          <a:xfrm>
            <a:off x="8064500" y="2895600"/>
            <a:ext cx="1524000" cy="254000"/>
          </a:xfrm>
          <a:prstGeom prst="rect">
            <a:avLst/>
          </a:prstGeom>
          <a:noFill/>
        </p:spPr>
        <p:txBody>
          <a:bodyPr wrap="square" anchor="t" lIns="0" rIns="0" tIns="0" bIns="0">
            <a:noAutofit/>
          </a:bodyPr>
          <a:lstStyle/>
          <a:p>
            <a:pPr algn="ctr">
              <a:lnSpc>
                <a:spcPct val="125000"/>
              </a:lnSpc>
            </a:pPr>
            <a:r>
              <a:rPr sz="1200" b="0" i="0">
                <a:solidFill>
                  <a:srgbClr val="BFDAFF"/>
                </a:solidFill>
                <a:latin typeface="Nunito Sans"/>
              </a:rPr>
              <a:t>za bewolkt</a:t>
            </a:r>
          </a:p>
        </p:txBody>
      </p:sp>
      <p:pic>
        <p:nvPicPr>
          <p:cNvPr id="11" name="Picture 10" descr="zon_d.gif"/>
          <p:cNvPicPr>
            <a:picLocks noChangeAspect="1"/>
          </p:cNvPicPr>
          <p:nvPr/>
        </p:nvPicPr>
        <p:blipFill>
          <a:blip r:embed="rId5"/>
          <a:stretch>
            <a:fillRect/>
          </a:stretch>
        </p:blipFill>
        <p:spPr>
          <a:xfrm>
            <a:off x="10015774" y="2095500"/>
            <a:ext cx="796450" cy="787400"/>
          </a:xfrm>
          <a:prstGeom prst="rect">
            <a:avLst/>
          </a:prstGeom>
        </p:spPr>
      </p:pic>
      <p:sp>
        <p:nvSpPr>
          <p:cNvPr id="12" name="TextBox 11"/>
          <p:cNvSpPr txBox="1"/>
          <p:nvPr/>
        </p:nvSpPr>
        <p:spPr>
          <a:xfrm>
            <a:off x="9652000" y="2895600"/>
            <a:ext cx="1524000" cy="254000"/>
          </a:xfrm>
          <a:prstGeom prst="rect">
            <a:avLst/>
          </a:prstGeom>
          <a:noFill/>
        </p:spPr>
        <p:txBody>
          <a:bodyPr wrap="square" anchor="t" lIns="0" rIns="0" tIns="0" bIns="0">
            <a:noAutofit/>
          </a:bodyPr>
          <a:lstStyle/>
          <a:p>
            <a:pPr algn="ctr">
              <a:lnSpc>
                <a:spcPct val="125000"/>
              </a:lnSpc>
            </a:pPr>
            <a:r>
              <a:rPr sz="1200" b="0" i="0">
                <a:solidFill>
                  <a:srgbClr val="BFDAFF"/>
                </a:solidFill>
                <a:latin typeface="Nunito Sans"/>
              </a:rPr>
              <a:t>zo zon</a:t>
            </a:r>
          </a:p>
        </p:txBody>
      </p:sp>
      <p:sp>
        <p:nvSpPr>
          <p:cNvPr id="13" name="Rounded Rectangle 12"/>
          <p:cNvSpPr/>
          <p:nvPr/>
        </p:nvSpPr>
        <p:spPr>
          <a:xfrm>
            <a:off x="812800" y="3378200"/>
            <a:ext cx="4572000" cy="1016000"/>
          </a:xfrm>
          <a:prstGeom prst="roundRect">
            <a:avLst>
              <a:gd name="adj" fmla="val 10000"/>
            </a:avLst>
          </a:prstGeom>
          <a:solidFill>
            <a:srgbClr val="021E43"/>
          </a:solidFill>
          <a:ln w="12700">
            <a:solidFill>
              <a:srgbClr val="1E4474"/>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27000" bIns="127000">
            <a:noAutofit/>
          </a:bodyPr>
          <a:lstStyle/>
          <a:p>
            <a:pPr algn="l">
              <a:lnSpc>
                <a:spcPct val="115000"/>
              </a:lnSpc>
            </a:pPr>
            <a:r>
              <a:rPr sz="1800" b="1" i="0">
                <a:solidFill>
                  <a:srgbClr val="FFFFFF"/>
                </a:solidFill>
                <a:latin typeface="Nunito Sans"/>
              </a:rPr>
              <a:t>“Ik stel die nieuwe gsm een maand uit”</a:t>
            </a:r>
          </a:p>
        </p:txBody>
      </p:sp>
      <p:sp>
        <p:nvSpPr>
          <p:cNvPr id="14" name="Right Arrow 13"/>
          <p:cNvSpPr/>
          <p:nvPr/>
        </p:nvSpPr>
        <p:spPr>
          <a:xfrm>
            <a:off x="5638800" y="3727450"/>
            <a:ext cx="635000" cy="317500"/>
          </a:xfrm>
          <a:prstGeom prst="rightArrow">
            <a:avLst/>
          </a:prstGeom>
          <a:solidFill>
            <a:srgbClr val="FE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storm_d.gif"/>
          <p:cNvPicPr>
            <a:picLocks noChangeAspect="1"/>
          </p:cNvPicPr>
          <p:nvPr/>
        </p:nvPicPr>
        <p:blipFill>
          <a:blip r:embed="rId6"/>
          <a:stretch>
            <a:fillRect/>
          </a:stretch>
        </p:blipFill>
        <p:spPr>
          <a:xfrm>
            <a:off x="6897793" y="3340100"/>
            <a:ext cx="682413" cy="787400"/>
          </a:xfrm>
          <a:prstGeom prst="rect">
            <a:avLst/>
          </a:prstGeom>
        </p:spPr>
      </p:pic>
      <p:sp>
        <p:nvSpPr>
          <p:cNvPr id="16" name="TextBox 15"/>
          <p:cNvSpPr txBox="1"/>
          <p:nvPr/>
        </p:nvSpPr>
        <p:spPr>
          <a:xfrm>
            <a:off x="6477000" y="4140200"/>
            <a:ext cx="1524000" cy="254000"/>
          </a:xfrm>
          <a:prstGeom prst="rect">
            <a:avLst/>
          </a:prstGeom>
          <a:noFill/>
        </p:spPr>
        <p:txBody>
          <a:bodyPr wrap="square" anchor="t" lIns="0" rIns="0" tIns="0" bIns="0">
            <a:noAutofit/>
          </a:bodyPr>
          <a:lstStyle/>
          <a:p>
            <a:pPr algn="ctr">
              <a:lnSpc>
                <a:spcPct val="125000"/>
              </a:lnSpc>
            </a:pPr>
            <a:r>
              <a:rPr sz="1200" b="0" i="0">
                <a:solidFill>
                  <a:srgbClr val="BFDAFF"/>
                </a:solidFill>
                <a:latin typeface="Nunito Sans"/>
              </a:rPr>
              <a:t>volgende week</a:t>
            </a:r>
          </a:p>
        </p:txBody>
      </p:sp>
      <p:pic>
        <p:nvPicPr>
          <p:cNvPr id="17" name="Picture 16" descr="regen_d.gif"/>
          <p:cNvPicPr>
            <a:picLocks noChangeAspect="1"/>
          </p:cNvPicPr>
          <p:nvPr/>
        </p:nvPicPr>
        <p:blipFill>
          <a:blip r:embed="rId7"/>
          <a:stretch>
            <a:fillRect/>
          </a:stretch>
        </p:blipFill>
        <p:spPr>
          <a:xfrm>
            <a:off x="8474055" y="3340100"/>
            <a:ext cx="704888" cy="787400"/>
          </a:xfrm>
          <a:prstGeom prst="rect">
            <a:avLst/>
          </a:prstGeom>
        </p:spPr>
      </p:pic>
      <p:sp>
        <p:nvSpPr>
          <p:cNvPr id="18" name="TextBox 17"/>
          <p:cNvSpPr txBox="1"/>
          <p:nvPr/>
        </p:nvSpPr>
        <p:spPr>
          <a:xfrm>
            <a:off x="8064500" y="4140200"/>
            <a:ext cx="1524000" cy="254000"/>
          </a:xfrm>
          <a:prstGeom prst="rect">
            <a:avLst/>
          </a:prstGeom>
          <a:noFill/>
        </p:spPr>
        <p:txBody>
          <a:bodyPr wrap="square" anchor="t" lIns="0" rIns="0" tIns="0" bIns="0">
            <a:noAutofit/>
          </a:bodyPr>
          <a:lstStyle/>
          <a:p>
            <a:pPr algn="ctr">
              <a:lnSpc>
                <a:spcPct val="125000"/>
              </a:lnSpc>
            </a:pPr>
            <a:r>
              <a:rPr sz="1200" b="0" i="0">
                <a:solidFill>
                  <a:srgbClr val="BFDAFF"/>
                </a:solidFill>
                <a:latin typeface="Nunito Sans"/>
              </a:rPr>
              <a:t>wordt regen</a:t>
            </a:r>
          </a:p>
        </p:txBody>
      </p:sp>
      <p:sp>
        <p:nvSpPr>
          <p:cNvPr id="19" name="Rounded Rectangle 18"/>
          <p:cNvSpPr/>
          <p:nvPr/>
        </p:nvSpPr>
        <p:spPr>
          <a:xfrm>
            <a:off x="812800" y="4622800"/>
            <a:ext cx="4572000" cy="1016000"/>
          </a:xfrm>
          <a:prstGeom prst="roundRect">
            <a:avLst>
              <a:gd name="adj" fmla="val 10000"/>
            </a:avLst>
          </a:prstGeom>
          <a:solidFill>
            <a:srgbClr val="021E43"/>
          </a:solidFill>
          <a:ln w="12700">
            <a:solidFill>
              <a:srgbClr val="1E4474"/>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27000" bIns="127000">
            <a:noAutofit/>
          </a:bodyPr>
          <a:lstStyle/>
          <a:p>
            <a:pPr algn="l">
              <a:lnSpc>
                <a:spcPct val="115000"/>
              </a:lnSpc>
            </a:pPr>
            <a:r>
              <a:rPr sz="1800" b="1" i="0">
                <a:solidFill>
                  <a:srgbClr val="FFFFFF"/>
                </a:solidFill>
                <a:latin typeface="Nunito Sans"/>
              </a:rPr>
              <a:t>“Ik wil in augustus op reis”</a:t>
            </a:r>
          </a:p>
        </p:txBody>
      </p:sp>
      <p:sp>
        <p:nvSpPr>
          <p:cNvPr id="20" name="Right Arrow 19"/>
          <p:cNvSpPr/>
          <p:nvPr/>
        </p:nvSpPr>
        <p:spPr>
          <a:xfrm>
            <a:off x="5638800" y="4972050"/>
            <a:ext cx="635000" cy="317500"/>
          </a:xfrm>
          <a:prstGeom prst="rightArrow">
            <a:avLst/>
          </a:prstGeom>
          <a:solidFill>
            <a:srgbClr val="FE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bewolkt_d.gif"/>
          <p:cNvPicPr>
            <a:picLocks noChangeAspect="1"/>
          </p:cNvPicPr>
          <p:nvPr/>
        </p:nvPicPr>
        <p:blipFill>
          <a:blip r:embed="rId4"/>
          <a:stretch>
            <a:fillRect/>
          </a:stretch>
        </p:blipFill>
        <p:spPr>
          <a:xfrm>
            <a:off x="6710149" y="4584700"/>
            <a:ext cx="1057701" cy="787400"/>
          </a:xfrm>
          <a:prstGeom prst="rect">
            <a:avLst/>
          </a:prstGeom>
        </p:spPr>
      </p:pic>
      <p:sp>
        <p:nvSpPr>
          <p:cNvPr id="22" name="TextBox 21"/>
          <p:cNvSpPr txBox="1"/>
          <p:nvPr/>
        </p:nvSpPr>
        <p:spPr>
          <a:xfrm>
            <a:off x="6477000" y="5384800"/>
            <a:ext cx="1524000" cy="254000"/>
          </a:xfrm>
          <a:prstGeom prst="rect">
            <a:avLst/>
          </a:prstGeom>
          <a:noFill/>
        </p:spPr>
        <p:txBody>
          <a:bodyPr wrap="square" anchor="t" lIns="0" rIns="0" tIns="0" bIns="0">
            <a:noAutofit/>
          </a:bodyPr>
          <a:lstStyle/>
          <a:p>
            <a:pPr algn="ctr">
              <a:lnSpc>
                <a:spcPct val="125000"/>
              </a:lnSpc>
            </a:pPr>
            <a:r>
              <a:rPr sz="1200" b="0" i="0">
                <a:solidFill>
                  <a:srgbClr val="BFDAFF"/>
                </a:solidFill>
                <a:latin typeface="Nunito Sans"/>
              </a:rPr>
              <a:t>nu</a:t>
            </a:r>
          </a:p>
        </p:txBody>
      </p:sp>
      <p:pic>
        <p:nvPicPr>
          <p:cNvPr id="23" name="Picture 22" descr="zon_d.gif"/>
          <p:cNvPicPr>
            <a:picLocks noChangeAspect="1"/>
          </p:cNvPicPr>
          <p:nvPr/>
        </p:nvPicPr>
        <p:blipFill>
          <a:blip r:embed="rId5"/>
          <a:stretch>
            <a:fillRect/>
          </a:stretch>
        </p:blipFill>
        <p:spPr>
          <a:xfrm>
            <a:off x="8428274" y="4584700"/>
            <a:ext cx="796450" cy="787400"/>
          </a:xfrm>
          <a:prstGeom prst="rect">
            <a:avLst/>
          </a:prstGeom>
        </p:spPr>
      </p:pic>
      <p:sp>
        <p:nvSpPr>
          <p:cNvPr id="24" name="TextBox 23"/>
          <p:cNvSpPr txBox="1"/>
          <p:nvPr/>
        </p:nvSpPr>
        <p:spPr>
          <a:xfrm>
            <a:off x="8064500" y="5384800"/>
            <a:ext cx="1524000" cy="254000"/>
          </a:xfrm>
          <a:prstGeom prst="rect">
            <a:avLst/>
          </a:prstGeom>
          <a:noFill/>
        </p:spPr>
        <p:txBody>
          <a:bodyPr wrap="square" anchor="t" lIns="0" rIns="0" tIns="0" bIns="0">
            <a:noAutofit/>
          </a:bodyPr>
          <a:lstStyle/>
          <a:p>
            <a:pPr algn="ctr">
              <a:lnSpc>
                <a:spcPct val="125000"/>
              </a:lnSpc>
            </a:pPr>
            <a:r>
              <a:rPr sz="1200" b="0" i="0">
                <a:solidFill>
                  <a:srgbClr val="BFDAFF"/>
                </a:solidFill>
                <a:latin typeface="Nunito Sans"/>
              </a:rPr>
              <a:t>elke week zonniger</a:t>
            </a:r>
          </a:p>
        </p:txBody>
      </p:sp>
      <p:sp>
        <p:nvSpPr>
          <p:cNvPr id="25" name="TextBox 24"/>
          <p:cNvSpPr txBox="1"/>
          <p:nvPr/>
        </p:nvSpPr>
        <p:spPr>
          <a:xfrm>
            <a:off x="812800" y="6350000"/>
            <a:ext cx="8890000" cy="215900"/>
          </a:xfrm>
          <a:prstGeom prst="rect">
            <a:avLst/>
          </a:prstGeom>
          <a:noFill/>
        </p:spPr>
        <p:txBody>
          <a:bodyPr wrap="square" anchor="t" lIns="0" rIns="0" tIns="0" bIns="0">
            <a:noAutofit/>
          </a:bodyPr>
          <a:lstStyle/>
          <a:p>
            <a:pPr algn="l">
              <a:lnSpc>
                <a:spcPct val="125000"/>
              </a:lnSpc>
            </a:pPr>
            <a:r>
              <a:rPr sz="1100" b="0" i="0">
                <a:solidFill>
                  <a:srgbClr val="8FA9CC"/>
                </a:solidFill>
                <a:latin typeface="Nunito Sans"/>
              </a:rPr>
              <a:t>KBC Weerbericht · Jij kiest het weer · Team Trojan Horse</a:t>
            </a:r>
          </a:p>
        </p:txBody>
      </p:sp>
      <p:sp>
        <p:nvSpPr>
          <p:cNvPr id="26" name="TextBox 25"/>
          <p:cNvSpPr txBox="1"/>
          <p:nvPr/>
        </p:nvSpPr>
        <p:spPr>
          <a:xfrm>
            <a:off x="10109200" y="6350000"/>
            <a:ext cx="1270000" cy="215900"/>
          </a:xfrm>
          <a:prstGeom prst="rect">
            <a:avLst/>
          </a:prstGeom>
          <a:noFill/>
        </p:spPr>
        <p:txBody>
          <a:bodyPr wrap="square" anchor="t" lIns="0" rIns="0" tIns="0" bIns="0">
            <a:noAutofit/>
          </a:bodyPr>
          <a:lstStyle/>
          <a:p>
            <a:pPr algn="r">
              <a:lnSpc>
                <a:spcPct val="125000"/>
              </a:lnSpc>
            </a:pPr>
            <a:r>
              <a:rPr sz="1100" b="0" i="0">
                <a:solidFill>
                  <a:srgbClr val="8FA9CC"/>
                </a:solidFill>
                <a:latin typeface="Nunito Sans"/>
              </a:rPr>
              <a:t>8 / 23</a:t>
            </a: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4" fill="hold">
                            <p:stCondLst>
                              <p:cond delay="0"/>
                            </p:stCondLst>
                            <p:childTnLst>
                              <p:par>
                                <p:cTn id="4" presetID="42"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ppt_y+.08"/>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p:cTn id="12" dur="500" fill="hold"/>
                                        <p:tgtEl>
                                          <p:spTgt spid="3"/>
                                        </p:tgtEl>
                                        <p:attrNameLst>
                                          <p:attrName>ppt_x</p:attrName>
                                        </p:attrNameLst>
                                      </p:cBhvr>
                                      <p:tavLst>
                                        <p:tav tm="0">
                                          <p:val>
                                            <p:strVal val="#ppt_x"/>
                                          </p:val>
                                        </p:tav>
                                        <p:tav tm="100000">
                                          <p:val>
                                            <p:strVal val="#ppt_x"/>
                                          </p:val>
                                        </p:tav>
                                      </p:tavLst>
                                    </p:anim>
                                    <p:anim calcmode="lin" valueType="num">
                                      <p:cBhvr>
                                        <p:cTn id="13" dur="500" fill="hold"/>
                                        <p:tgtEl>
                                          <p:spTgt spid="3"/>
                                        </p:tgtEl>
                                        <p:attrNameLst>
                                          <p:attrName>ppt_y</p:attrName>
                                        </p:attrNameLst>
                                      </p:cBhvr>
                                      <p:tavLst>
                                        <p:tav tm="0">
                                          <p:val>
                                            <p:strVal val="#ppt_y+.08"/>
                                          </p:val>
                                        </p:tav>
                                        <p:tav tm="100000">
                                          <p:val>
                                            <p:strVal val="#ppt_y"/>
                                          </p:val>
                                        </p:tav>
                                      </p:tavLst>
                                    </p:anim>
                                  </p:childTnLst>
                                </p:cTn>
                              </p:par>
                            </p:childTnLst>
                          </p:cTn>
                        </p:par>
                        <p:par>
                          <p:cTn id="18" fill="hold">
                            <p:stCondLst>
                              <p:cond delay="350"/>
                            </p:stCondLst>
                            <p:childTnLst>
                              <p:par>
                                <p:cTn id="15" presetID="10" presetClass="entr" presetSubtype="0"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400"/>
                                        <p:tgtEl>
                                          <p:spTgt spid="4"/>
                                        </p:tgtEl>
                                      </p:cBhvr>
                                    </p:animEffect>
                                  </p:childTnLst>
                                </p:cTn>
                              </p:par>
                            </p:childTnLst>
                          </p:cTn>
                        </p:par>
                        <p:par>
                          <p:cTn id="24" fill="hold">
                            <p:stCondLst>
                              <p:cond delay="630"/>
                            </p:stCondLst>
                            <p:childTnLst>
                              <p:par>
                                <p:cTn id="19" presetID="42" presetClass="entr" presetSubtype="0"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450"/>
                                        <p:tgtEl>
                                          <p:spTgt spid="5"/>
                                        </p:tgtEl>
                                      </p:cBhvr>
                                    </p:animEffect>
                                    <p:anim calcmode="lin" valueType="num">
                                      <p:cBhvr>
                                        <p:cTn id="22" dur="450" fill="hold"/>
                                        <p:tgtEl>
                                          <p:spTgt spid="5"/>
                                        </p:tgtEl>
                                        <p:attrNameLst>
                                          <p:attrName>ppt_x</p:attrName>
                                        </p:attrNameLst>
                                      </p:cBhvr>
                                      <p:tavLst>
                                        <p:tav tm="0">
                                          <p:val>
                                            <p:strVal val="#ppt_x"/>
                                          </p:val>
                                        </p:tav>
                                        <p:tav tm="100000">
                                          <p:val>
                                            <p:strVal val="#ppt_x"/>
                                          </p:val>
                                        </p:tav>
                                      </p:tavLst>
                                    </p:anim>
                                    <p:anim calcmode="lin" valueType="num">
                                      <p:cBhvr>
                                        <p:cTn id="23" dur="450" fill="hold"/>
                                        <p:tgtEl>
                                          <p:spTgt spid="5"/>
                                        </p:tgtEl>
                                        <p:attrNameLst>
                                          <p:attrName>ppt_y</p:attrName>
                                        </p:attrNameLst>
                                      </p:cBhvr>
                                      <p:tavLst>
                                        <p:tav tm="0">
                                          <p:val>
                                            <p:strVal val="#ppt_y+.08"/>
                                          </p:val>
                                        </p:tav>
                                        <p:tav tm="100000">
                                          <p:val>
                                            <p:strVal val="#ppt_y"/>
                                          </p:val>
                                        </p:tav>
                                      </p:tavLst>
                                    </p:anim>
                                  </p:childTnLst>
                                </p:cTn>
                              </p:par>
                            </p:childTnLst>
                          </p:cTn>
                        </p:par>
                        <p:par>
                          <p:cTn id="28" fill="hold">
                            <p:stCondLst>
                              <p:cond delay="945"/>
                            </p:stCondLst>
                            <p:childTnLst>
                              <p:par>
                                <p:cTn id="25" presetID="10" presetClass="entr" presetSubtype="0" fill="hold" grpId="0" nodeType="after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250"/>
                                        <p:tgtEl>
                                          <p:spTgt spid="6"/>
                                        </p:tgtEl>
                                      </p:cBhvr>
                                    </p:animEffect>
                                  </p:childTnLst>
                                </p:cTn>
                              </p:par>
                            </p:childTnLst>
                          </p:cTn>
                        </p:par>
                        <p:par>
                          <p:cTn id="39" fill="hold">
                            <p:stCondLst>
                              <p:cond delay="1120"/>
                            </p:stCondLst>
                            <p:childTnLst>
                              <p:par>
                                <p:cTn id="29" presetID="53" presetClass="entr" presetSubtype="16"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350"/>
                                        <p:tgtEl>
                                          <p:spTgt spid="7"/>
                                        </p:tgtEl>
                                      </p:cBhvr>
                                    </p:animEffect>
                                    <p:anim calcmode="lin" valueType="num">
                                      <p:cBhvr>
                                        <p:cTn id="32" dur="350" fill="hold"/>
                                        <p:tgtEl>
                                          <p:spTgt spid="7"/>
                                        </p:tgtEl>
                                        <p:attrNameLst>
                                          <p:attrName>ppt_w</p:attrName>
                                        </p:attrNameLst>
                                      </p:cBhvr>
                                      <p:tavLst>
                                        <p:tav tm="0">
                                          <p:val>
                                            <p:strVal val="#ppt_w*0.3"/>
                                          </p:val>
                                        </p:tav>
                                        <p:tav tm="100000">
                                          <p:val>
                                            <p:strVal val="#ppt_w"/>
                                          </p:val>
                                        </p:tav>
                                      </p:tavLst>
                                    </p:anim>
                                    <p:anim calcmode="lin" valueType="num">
                                      <p:cBhvr>
                                        <p:cTn id="33" dur="350" fill="hold"/>
                                        <p:tgtEl>
                                          <p:spTgt spid="7"/>
                                        </p:tgtEl>
                                        <p:attrNameLst>
                                          <p:attrName>ppt_h</p:attrName>
                                        </p:attrNameLst>
                                      </p:cBhvr>
                                      <p:tavLst>
                                        <p:tav tm="0">
                                          <p:val>
                                            <p:strVal val="#ppt_h*0.3"/>
                                          </p:val>
                                        </p:tav>
                                        <p:tav tm="100000">
                                          <p:val>
                                            <p:strVal val="#ppt_h"/>
                                          </p:val>
                                        </p:tav>
                                      </p:tavLst>
                                    </p:anim>
                                  </p:childTnLst>
                                </p:cTn>
                              </p:par>
                              <p:par>
                                <p:cTn id="34" presetID="53" presetClass="entr" presetSubtype="16" fill="hold" grpId="0"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350"/>
                                        <p:tgtEl>
                                          <p:spTgt spid="8"/>
                                        </p:tgtEl>
                                      </p:cBhvr>
                                    </p:animEffect>
                                    <p:anim calcmode="lin" valueType="num">
                                      <p:cBhvr>
                                        <p:cTn id="37" dur="350" fill="hold"/>
                                        <p:tgtEl>
                                          <p:spTgt spid="8"/>
                                        </p:tgtEl>
                                        <p:attrNameLst>
                                          <p:attrName>ppt_w</p:attrName>
                                        </p:attrNameLst>
                                      </p:cBhvr>
                                      <p:tavLst>
                                        <p:tav tm="0">
                                          <p:val>
                                            <p:strVal val="#ppt_w*0.3"/>
                                          </p:val>
                                        </p:tav>
                                        <p:tav tm="100000">
                                          <p:val>
                                            <p:strVal val="#ppt_w"/>
                                          </p:val>
                                        </p:tav>
                                      </p:tavLst>
                                    </p:anim>
                                    <p:anim calcmode="lin" valueType="num">
                                      <p:cBhvr>
                                        <p:cTn id="38" dur="350" fill="hold"/>
                                        <p:tgtEl>
                                          <p:spTgt spid="8"/>
                                        </p:tgtEl>
                                        <p:attrNameLst>
                                          <p:attrName>ppt_h</p:attrName>
                                        </p:attrNameLst>
                                      </p:cBhvr>
                                      <p:tavLst>
                                        <p:tav tm="0">
                                          <p:val>
                                            <p:strVal val="#ppt_h*0.3"/>
                                          </p:val>
                                        </p:tav>
                                        <p:tav tm="100000">
                                          <p:val>
                                            <p:strVal val="#ppt_h"/>
                                          </p:val>
                                        </p:tav>
                                      </p:tavLst>
                                    </p:anim>
                                  </p:childTnLst>
                                </p:cTn>
                              </p:par>
                            </p:childTnLst>
                          </p:cTn>
                        </p:par>
                        <p:par>
                          <p:cTn id="50" fill="hold">
                            <p:stCondLst>
                              <p:cond delay="1370"/>
                            </p:stCondLst>
                            <p:childTnLst>
                              <p:par>
                                <p:cTn id="40" presetID="53" presetClass="entr" presetSubtype="16" fill="hold" grpId="0" nodeType="after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350"/>
                                        <p:tgtEl>
                                          <p:spTgt spid="9"/>
                                        </p:tgtEl>
                                      </p:cBhvr>
                                    </p:animEffect>
                                    <p:anim calcmode="lin" valueType="num">
                                      <p:cBhvr>
                                        <p:cTn id="43" dur="350" fill="hold"/>
                                        <p:tgtEl>
                                          <p:spTgt spid="9"/>
                                        </p:tgtEl>
                                        <p:attrNameLst>
                                          <p:attrName>ppt_w</p:attrName>
                                        </p:attrNameLst>
                                      </p:cBhvr>
                                      <p:tavLst>
                                        <p:tav tm="0">
                                          <p:val>
                                            <p:strVal val="#ppt_w*0.3"/>
                                          </p:val>
                                        </p:tav>
                                        <p:tav tm="100000">
                                          <p:val>
                                            <p:strVal val="#ppt_w"/>
                                          </p:val>
                                        </p:tav>
                                      </p:tavLst>
                                    </p:anim>
                                    <p:anim calcmode="lin" valueType="num">
                                      <p:cBhvr>
                                        <p:cTn id="44" dur="350" fill="hold"/>
                                        <p:tgtEl>
                                          <p:spTgt spid="9"/>
                                        </p:tgtEl>
                                        <p:attrNameLst>
                                          <p:attrName>ppt_h</p:attrName>
                                        </p:attrNameLst>
                                      </p:cBhvr>
                                      <p:tavLst>
                                        <p:tav tm="0">
                                          <p:val>
                                            <p:strVal val="#ppt_h*0.3"/>
                                          </p:val>
                                        </p:tav>
                                        <p:tav tm="100000">
                                          <p:val>
                                            <p:strVal val="#ppt_h"/>
                                          </p:val>
                                        </p:tav>
                                      </p:tavLst>
                                    </p:anim>
                                  </p:childTnLst>
                                </p:cTn>
                              </p:par>
                              <p:par>
                                <p:cTn id="45" presetID="53" presetClass="entr" presetSubtype="16"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350"/>
                                        <p:tgtEl>
                                          <p:spTgt spid="10"/>
                                        </p:tgtEl>
                                      </p:cBhvr>
                                    </p:animEffect>
                                    <p:anim calcmode="lin" valueType="num">
                                      <p:cBhvr>
                                        <p:cTn id="48" dur="350" fill="hold"/>
                                        <p:tgtEl>
                                          <p:spTgt spid="10"/>
                                        </p:tgtEl>
                                        <p:attrNameLst>
                                          <p:attrName>ppt_w</p:attrName>
                                        </p:attrNameLst>
                                      </p:cBhvr>
                                      <p:tavLst>
                                        <p:tav tm="0">
                                          <p:val>
                                            <p:strVal val="#ppt_w*0.3"/>
                                          </p:val>
                                        </p:tav>
                                        <p:tav tm="100000">
                                          <p:val>
                                            <p:strVal val="#ppt_w"/>
                                          </p:val>
                                        </p:tav>
                                      </p:tavLst>
                                    </p:anim>
                                    <p:anim calcmode="lin" valueType="num">
                                      <p:cBhvr>
                                        <p:cTn id="49" dur="350" fill="hold"/>
                                        <p:tgtEl>
                                          <p:spTgt spid="10"/>
                                        </p:tgtEl>
                                        <p:attrNameLst>
                                          <p:attrName>ppt_h</p:attrName>
                                        </p:attrNameLst>
                                      </p:cBhvr>
                                      <p:tavLst>
                                        <p:tav tm="0">
                                          <p:val>
                                            <p:strVal val="#ppt_h*0.3"/>
                                          </p:val>
                                        </p:tav>
                                        <p:tav tm="100000">
                                          <p:val>
                                            <p:strVal val="#ppt_h"/>
                                          </p:val>
                                        </p:tav>
                                      </p:tavLst>
                                    </p:anim>
                                  </p:childTnLst>
                                </p:cTn>
                              </p:par>
                            </p:childTnLst>
                          </p:cTn>
                        </p:par>
                        <p:par>
                          <p:cTn id="61" fill="hold">
                            <p:stCondLst>
                              <p:cond delay="1620"/>
                            </p:stCondLst>
                            <p:childTnLst>
                              <p:par>
                                <p:cTn id="51" presetID="53" presetClass="entr" presetSubtype="16" fill="hold" grpId="0" nodeType="after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fade">
                                      <p:cBhvr>
                                        <p:cTn id="53" dur="350"/>
                                        <p:tgtEl>
                                          <p:spTgt spid="11"/>
                                        </p:tgtEl>
                                      </p:cBhvr>
                                    </p:animEffect>
                                    <p:anim calcmode="lin" valueType="num">
                                      <p:cBhvr>
                                        <p:cTn id="54" dur="350" fill="hold"/>
                                        <p:tgtEl>
                                          <p:spTgt spid="11"/>
                                        </p:tgtEl>
                                        <p:attrNameLst>
                                          <p:attrName>ppt_w</p:attrName>
                                        </p:attrNameLst>
                                      </p:cBhvr>
                                      <p:tavLst>
                                        <p:tav tm="0">
                                          <p:val>
                                            <p:strVal val="#ppt_w*0.3"/>
                                          </p:val>
                                        </p:tav>
                                        <p:tav tm="100000">
                                          <p:val>
                                            <p:strVal val="#ppt_w"/>
                                          </p:val>
                                        </p:tav>
                                      </p:tavLst>
                                    </p:anim>
                                    <p:anim calcmode="lin" valueType="num">
                                      <p:cBhvr>
                                        <p:cTn id="55" dur="350" fill="hold"/>
                                        <p:tgtEl>
                                          <p:spTgt spid="11"/>
                                        </p:tgtEl>
                                        <p:attrNameLst>
                                          <p:attrName>ppt_h</p:attrName>
                                        </p:attrNameLst>
                                      </p:cBhvr>
                                      <p:tavLst>
                                        <p:tav tm="0">
                                          <p:val>
                                            <p:strVal val="#ppt_h*0.3"/>
                                          </p:val>
                                        </p:tav>
                                        <p:tav tm="100000">
                                          <p:val>
                                            <p:strVal val="#ppt_h"/>
                                          </p:val>
                                        </p:tav>
                                      </p:tavLst>
                                    </p:anim>
                                  </p:childTnLst>
                                </p:cTn>
                              </p:par>
                              <p:par>
                                <p:cTn id="56" presetID="53" presetClass="entr" presetSubtype="16" fill="hold" grpId="0" nodeType="with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350"/>
                                        <p:tgtEl>
                                          <p:spTgt spid="12"/>
                                        </p:tgtEl>
                                      </p:cBhvr>
                                    </p:animEffect>
                                    <p:anim calcmode="lin" valueType="num">
                                      <p:cBhvr>
                                        <p:cTn id="59" dur="350" fill="hold"/>
                                        <p:tgtEl>
                                          <p:spTgt spid="12"/>
                                        </p:tgtEl>
                                        <p:attrNameLst>
                                          <p:attrName>ppt_w</p:attrName>
                                        </p:attrNameLst>
                                      </p:cBhvr>
                                      <p:tavLst>
                                        <p:tav tm="0">
                                          <p:val>
                                            <p:strVal val="#ppt_w*0.3"/>
                                          </p:val>
                                        </p:tav>
                                        <p:tav tm="100000">
                                          <p:val>
                                            <p:strVal val="#ppt_w"/>
                                          </p:val>
                                        </p:tav>
                                      </p:tavLst>
                                    </p:anim>
                                    <p:anim calcmode="lin" valueType="num">
                                      <p:cBhvr>
                                        <p:cTn id="60" dur="350" fill="hold"/>
                                        <p:tgtEl>
                                          <p:spTgt spid="12"/>
                                        </p:tgtEl>
                                        <p:attrNameLst>
                                          <p:attrName>ppt_h</p:attrName>
                                        </p:attrNameLst>
                                      </p:cBhvr>
                                      <p:tavLst>
                                        <p:tav tm="0">
                                          <p:val>
                                            <p:strVal val="#ppt_h*0.3"/>
                                          </p:val>
                                        </p:tav>
                                        <p:tav tm="100000">
                                          <p:val>
                                            <p:strVal val="#ppt_h"/>
                                          </p:val>
                                        </p:tav>
                                      </p:tavLst>
                                    </p:anim>
                                  </p:childTnLst>
                                </p:cTn>
                              </p:par>
                            </p:childTnLst>
                          </p:cTn>
                        </p:par>
                        <p:par>
                          <p:cTn id="67" fill="hold">
                            <p:stCondLst>
                              <p:cond delay="1870"/>
                            </p:stCondLst>
                            <p:childTnLst>
                              <p:par>
                                <p:cTn id="62" presetID="42" presetClass="entr" presetSubtype="0" fill="hold" grpId="0" nodeType="after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450"/>
                                        <p:tgtEl>
                                          <p:spTgt spid="13"/>
                                        </p:tgtEl>
                                      </p:cBhvr>
                                    </p:animEffect>
                                    <p:anim calcmode="lin" valueType="num">
                                      <p:cBhvr>
                                        <p:cTn id="65" dur="450" fill="hold"/>
                                        <p:tgtEl>
                                          <p:spTgt spid="13"/>
                                        </p:tgtEl>
                                        <p:attrNameLst>
                                          <p:attrName>ppt_x</p:attrName>
                                        </p:attrNameLst>
                                      </p:cBhvr>
                                      <p:tavLst>
                                        <p:tav tm="0">
                                          <p:val>
                                            <p:strVal val="#ppt_x"/>
                                          </p:val>
                                        </p:tav>
                                        <p:tav tm="100000">
                                          <p:val>
                                            <p:strVal val="#ppt_x"/>
                                          </p:val>
                                        </p:tav>
                                      </p:tavLst>
                                    </p:anim>
                                    <p:anim calcmode="lin" valueType="num">
                                      <p:cBhvr>
                                        <p:cTn id="66" dur="450" fill="hold"/>
                                        <p:tgtEl>
                                          <p:spTgt spid="13"/>
                                        </p:tgtEl>
                                        <p:attrNameLst>
                                          <p:attrName>ppt_y</p:attrName>
                                        </p:attrNameLst>
                                      </p:cBhvr>
                                      <p:tavLst>
                                        <p:tav tm="0">
                                          <p:val>
                                            <p:strVal val="#ppt_y+.08"/>
                                          </p:val>
                                        </p:tav>
                                        <p:tav tm="100000">
                                          <p:val>
                                            <p:strVal val="#ppt_y"/>
                                          </p:val>
                                        </p:tav>
                                      </p:tavLst>
                                    </p:anim>
                                  </p:childTnLst>
                                </p:cTn>
                              </p:par>
                            </p:childTnLst>
                          </p:cTn>
                        </p:par>
                        <p:par>
                          <p:cTn id="71" fill="hold">
                            <p:stCondLst>
                              <p:cond delay="2185"/>
                            </p:stCondLst>
                            <p:childTnLst>
                              <p:par>
                                <p:cTn id="68" presetID="10" presetClass="entr" presetSubtype="0" fill="hold" grpId="0" nodeType="after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fade">
                                      <p:cBhvr>
                                        <p:cTn id="70" dur="250"/>
                                        <p:tgtEl>
                                          <p:spTgt spid="14"/>
                                        </p:tgtEl>
                                      </p:cBhvr>
                                    </p:animEffect>
                                  </p:childTnLst>
                                </p:cTn>
                              </p:par>
                            </p:childTnLst>
                          </p:cTn>
                        </p:par>
                        <p:par>
                          <p:cTn id="82" fill="hold">
                            <p:stCondLst>
                              <p:cond delay="2360"/>
                            </p:stCondLst>
                            <p:childTnLst>
                              <p:par>
                                <p:cTn id="72" presetID="53" presetClass="entr" presetSubtype="16" fill="hold" grpId="0" nodeType="afterEffect">
                                  <p:stCondLst>
                                    <p:cond delay="0"/>
                                  </p:stCondLst>
                                  <p:childTnLst>
                                    <p:set>
                                      <p:cBhvr>
                                        <p:cTn id="73" dur="1" fill="hold">
                                          <p:stCondLst>
                                            <p:cond delay="0"/>
                                          </p:stCondLst>
                                        </p:cTn>
                                        <p:tgtEl>
                                          <p:spTgt spid="15"/>
                                        </p:tgtEl>
                                        <p:attrNameLst>
                                          <p:attrName>style.visibility</p:attrName>
                                        </p:attrNameLst>
                                      </p:cBhvr>
                                      <p:to>
                                        <p:strVal val="visible"/>
                                      </p:to>
                                    </p:set>
                                    <p:animEffect transition="in" filter="fade">
                                      <p:cBhvr>
                                        <p:cTn id="74" dur="350"/>
                                        <p:tgtEl>
                                          <p:spTgt spid="15"/>
                                        </p:tgtEl>
                                      </p:cBhvr>
                                    </p:animEffect>
                                    <p:anim calcmode="lin" valueType="num">
                                      <p:cBhvr>
                                        <p:cTn id="75" dur="350" fill="hold"/>
                                        <p:tgtEl>
                                          <p:spTgt spid="15"/>
                                        </p:tgtEl>
                                        <p:attrNameLst>
                                          <p:attrName>ppt_w</p:attrName>
                                        </p:attrNameLst>
                                      </p:cBhvr>
                                      <p:tavLst>
                                        <p:tav tm="0">
                                          <p:val>
                                            <p:strVal val="#ppt_w*0.3"/>
                                          </p:val>
                                        </p:tav>
                                        <p:tav tm="100000">
                                          <p:val>
                                            <p:strVal val="#ppt_w"/>
                                          </p:val>
                                        </p:tav>
                                      </p:tavLst>
                                    </p:anim>
                                    <p:anim calcmode="lin" valueType="num">
                                      <p:cBhvr>
                                        <p:cTn id="76" dur="350" fill="hold"/>
                                        <p:tgtEl>
                                          <p:spTgt spid="15"/>
                                        </p:tgtEl>
                                        <p:attrNameLst>
                                          <p:attrName>ppt_h</p:attrName>
                                        </p:attrNameLst>
                                      </p:cBhvr>
                                      <p:tavLst>
                                        <p:tav tm="0">
                                          <p:val>
                                            <p:strVal val="#ppt_h*0.3"/>
                                          </p:val>
                                        </p:tav>
                                        <p:tav tm="100000">
                                          <p:val>
                                            <p:strVal val="#ppt_h"/>
                                          </p:val>
                                        </p:tav>
                                      </p:tavLst>
                                    </p:anim>
                                  </p:childTnLst>
                                </p:cTn>
                              </p:par>
                              <p:par>
                                <p:cTn id="77" presetID="53" presetClass="entr" presetSubtype="16" fill="hold" grpId="0" nodeType="withEffect">
                                  <p:stCondLst>
                                    <p:cond delay="0"/>
                                  </p:stCondLst>
                                  <p:childTnLst>
                                    <p:set>
                                      <p:cBhvr>
                                        <p:cTn id="78" dur="1" fill="hold">
                                          <p:stCondLst>
                                            <p:cond delay="0"/>
                                          </p:stCondLst>
                                        </p:cTn>
                                        <p:tgtEl>
                                          <p:spTgt spid="16"/>
                                        </p:tgtEl>
                                        <p:attrNameLst>
                                          <p:attrName>style.visibility</p:attrName>
                                        </p:attrNameLst>
                                      </p:cBhvr>
                                      <p:to>
                                        <p:strVal val="visible"/>
                                      </p:to>
                                    </p:set>
                                    <p:animEffect transition="in" filter="fade">
                                      <p:cBhvr>
                                        <p:cTn id="79" dur="350"/>
                                        <p:tgtEl>
                                          <p:spTgt spid="16"/>
                                        </p:tgtEl>
                                      </p:cBhvr>
                                    </p:animEffect>
                                    <p:anim calcmode="lin" valueType="num">
                                      <p:cBhvr>
                                        <p:cTn id="80" dur="350" fill="hold"/>
                                        <p:tgtEl>
                                          <p:spTgt spid="16"/>
                                        </p:tgtEl>
                                        <p:attrNameLst>
                                          <p:attrName>ppt_w</p:attrName>
                                        </p:attrNameLst>
                                      </p:cBhvr>
                                      <p:tavLst>
                                        <p:tav tm="0">
                                          <p:val>
                                            <p:strVal val="#ppt_w*0.3"/>
                                          </p:val>
                                        </p:tav>
                                        <p:tav tm="100000">
                                          <p:val>
                                            <p:strVal val="#ppt_w"/>
                                          </p:val>
                                        </p:tav>
                                      </p:tavLst>
                                    </p:anim>
                                    <p:anim calcmode="lin" valueType="num">
                                      <p:cBhvr>
                                        <p:cTn id="81" dur="350" fill="hold"/>
                                        <p:tgtEl>
                                          <p:spTgt spid="16"/>
                                        </p:tgtEl>
                                        <p:attrNameLst>
                                          <p:attrName>ppt_h</p:attrName>
                                        </p:attrNameLst>
                                      </p:cBhvr>
                                      <p:tavLst>
                                        <p:tav tm="0">
                                          <p:val>
                                            <p:strVal val="#ppt_h*0.3"/>
                                          </p:val>
                                        </p:tav>
                                        <p:tav tm="100000">
                                          <p:val>
                                            <p:strVal val="#ppt_h"/>
                                          </p:val>
                                        </p:tav>
                                      </p:tavLst>
                                    </p:anim>
                                  </p:childTnLst>
                                </p:cTn>
                              </p:par>
                            </p:childTnLst>
                          </p:cTn>
                        </p:par>
                        <p:par>
                          <p:cTn id="93" fill="hold">
                            <p:stCondLst>
                              <p:cond delay="2610"/>
                            </p:stCondLst>
                            <p:childTnLst>
                              <p:par>
                                <p:cTn id="83" presetID="53" presetClass="entr" presetSubtype="16" fill="hold" grpId="0" nodeType="afterEffect">
                                  <p:stCondLst>
                                    <p:cond delay="0"/>
                                  </p:stCondLst>
                                  <p:childTnLst>
                                    <p:set>
                                      <p:cBhvr>
                                        <p:cTn id="84" dur="1" fill="hold">
                                          <p:stCondLst>
                                            <p:cond delay="0"/>
                                          </p:stCondLst>
                                        </p:cTn>
                                        <p:tgtEl>
                                          <p:spTgt spid="17"/>
                                        </p:tgtEl>
                                        <p:attrNameLst>
                                          <p:attrName>style.visibility</p:attrName>
                                        </p:attrNameLst>
                                      </p:cBhvr>
                                      <p:to>
                                        <p:strVal val="visible"/>
                                      </p:to>
                                    </p:set>
                                    <p:animEffect transition="in" filter="fade">
                                      <p:cBhvr>
                                        <p:cTn id="85" dur="350"/>
                                        <p:tgtEl>
                                          <p:spTgt spid="17"/>
                                        </p:tgtEl>
                                      </p:cBhvr>
                                    </p:animEffect>
                                    <p:anim calcmode="lin" valueType="num">
                                      <p:cBhvr>
                                        <p:cTn id="86" dur="350" fill="hold"/>
                                        <p:tgtEl>
                                          <p:spTgt spid="17"/>
                                        </p:tgtEl>
                                        <p:attrNameLst>
                                          <p:attrName>ppt_w</p:attrName>
                                        </p:attrNameLst>
                                      </p:cBhvr>
                                      <p:tavLst>
                                        <p:tav tm="0">
                                          <p:val>
                                            <p:strVal val="#ppt_w*0.3"/>
                                          </p:val>
                                        </p:tav>
                                        <p:tav tm="100000">
                                          <p:val>
                                            <p:strVal val="#ppt_w"/>
                                          </p:val>
                                        </p:tav>
                                      </p:tavLst>
                                    </p:anim>
                                    <p:anim calcmode="lin" valueType="num">
                                      <p:cBhvr>
                                        <p:cTn id="87" dur="350" fill="hold"/>
                                        <p:tgtEl>
                                          <p:spTgt spid="17"/>
                                        </p:tgtEl>
                                        <p:attrNameLst>
                                          <p:attrName>ppt_h</p:attrName>
                                        </p:attrNameLst>
                                      </p:cBhvr>
                                      <p:tavLst>
                                        <p:tav tm="0">
                                          <p:val>
                                            <p:strVal val="#ppt_h*0.3"/>
                                          </p:val>
                                        </p:tav>
                                        <p:tav tm="100000">
                                          <p:val>
                                            <p:strVal val="#ppt_h"/>
                                          </p:val>
                                        </p:tav>
                                      </p:tavLst>
                                    </p:anim>
                                  </p:childTnLst>
                                </p:cTn>
                              </p:par>
                              <p:par>
                                <p:cTn id="88" presetID="53" presetClass="entr" presetSubtype="16" fill="hold" grpId="0" nodeType="withEffect">
                                  <p:stCondLst>
                                    <p:cond delay="0"/>
                                  </p:stCondLst>
                                  <p:childTnLst>
                                    <p:set>
                                      <p:cBhvr>
                                        <p:cTn id="89" dur="1" fill="hold">
                                          <p:stCondLst>
                                            <p:cond delay="0"/>
                                          </p:stCondLst>
                                        </p:cTn>
                                        <p:tgtEl>
                                          <p:spTgt spid="18"/>
                                        </p:tgtEl>
                                        <p:attrNameLst>
                                          <p:attrName>style.visibility</p:attrName>
                                        </p:attrNameLst>
                                      </p:cBhvr>
                                      <p:to>
                                        <p:strVal val="visible"/>
                                      </p:to>
                                    </p:set>
                                    <p:animEffect transition="in" filter="fade">
                                      <p:cBhvr>
                                        <p:cTn id="90" dur="350"/>
                                        <p:tgtEl>
                                          <p:spTgt spid="18"/>
                                        </p:tgtEl>
                                      </p:cBhvr>
                                    </p:animEffect>
                                    <p:anim calcmode="lin" valueType="num">
                                      <p:cBhvr>
                                        <p:cTn id="91" dur="350" fill="hold"/>
                                        <p:tgtEl>
                                          <p:spTgt spid="18"/>
                                        </p:tgtEl>
                                        <p:attrNameLst>
                                          <p:attrName>ppt_w</p:attrName>
                                        </p:attrNameLst>
                                      </p:cBhvr>
                                      <p:tavLst>
                                        <p:tav tm="0">
                                          <p:val>
                                            <p:strVal val="#ppt_w*0.3"/>
                                          </p:val>
                                        </p:tav>
                                        <p:tav tm="100000">
                                          <p:val>
                                            <p:strVal val="#ppt_w"/>
                                          </p:val>
                                        </p:tav>
                                      </p:tavLst>
                                    </p:anim>
                                    <p:anim calcmode="lin" valueType="num">
                                      <p:cBhvr>
                                        <p:cTn id="92" dur="350" fill="hold"/>
                                        <p:tgtEl>
                                          <p:spTgt spid="18"/>
                                        </p:tgtEl>
                                        <p:attrNameLst>
                                          <p:attrName>ppt_h</p:attrName>
                                        </p:attrNameLst>
                                      </p:cBhvr>
                                      <p:tavLst>
                                        <p:tav tm="0">
                                          <p:val>
                                            <p:strVal val="#ppt_h*0.3"/>
                                          </p:val>
                                        </p:tav>
                                        <p:tav tm="100000">
                                          <p:val>
                                            <p:strVal val="#ppt_h"/>
                                          </p:val>
                                        </p:tav>
                                      </p:tavLst>
                                    </p:anim>
                                  </p:childTnLst>
                                </p:cTn>
                              </p:par>
                            </p:childTnLst>
                          </p:cTn>
                        </p:par>
                        <p:par>
                          <p:cTn id="99" fill="hold">
                            <p:stCondLst>
                              <p:cond delay="2860"/>
                            </p:stCondLst>
                            <p:childTnLst>
                              <p:par>
                                <p:cTn id="94" presetID="42" presetClass="entr" presetSubtype="0" fill="hold" grpId="0" nodeType="afterEffect">
                                  <p:stCondLst>
                                    <p:cond delay="0"/>
                                  </p:stCondLst>
                                  <p:childTnLst>
                                    <p:set>
                                      <p:cBhvr>
                                        <p:cTn id="95" dur="1" fill="hold">
                                          <p:stCondLst>
                                            <p:cond delay="0"/>
                                          </p:stCondLst>
                                        </p:cTn>
                                        <p:tgtEl>
                                          <p:spTgt spid="19"/>
                                        </p:tgtEl>
                                        <p:attrNameLst>
                                          <p:attrName>style.visibility</p:attrName>
                                        </p:attrNameLst>
                                      </p:cBhvr>
                                      <p:to>
                                        <p:strVal val="visible"/>
                                      </p:to>
                                    </p:set>
                                    <p:animEffect transition="in" filter="fade">
                                      <p:cBhvr>
                                        <p:cTn id="96" dur="450"/>
                                        <p:tgtEl>
                                          <p:spTgt spid="19"/>
                                        </p:tgtEl>
                                      </p:cBhvr>
                                    </p:animEffect>
                                    <p:anim calcmode="lin" valueType="num">
                                      <p:cBhvr>
                                        <p:cTn id="97" dur="450" fill="hold"/>
                                        <p:tgtEl>
                                          <p:spTgt spid="19"/>
                                        </p:tgtEl>
                                        <p:attrNameLst>
                                          <p:attrName>ppt_x</p:attrName>
                                        </p:attrNameLst>
                                      </p:cBhvr>
                                      <p:tavLst>
                                        <p:tav tm="0">
                                          <p:val>
                                            <p:strVal val="#ppt_x"/>
                                          </p:val>
                                        </p:tav>
                                        <p:tav tm="100000">
                                          <p:val>
                                            <p:strVal val="#ppt_x"/>
                                          </p:val>
                                        </p:tav>
                                      </p:tavLst>
                                    </p:anim>
                                    <p:anim calcmode="lin" valueType="num">
                                      <p:cBhvr>
                                        <p:cTn id="98" dur="450" fill="hold"/>
                                        <p:tgtEl>
                                          <p:spTgt spid="19"/>
                                        </p:tgtEl>
                                        <p:attrNameLst>
                                          <p:attrName>ppt_y</p:attrName>
                                        </p:attrNameLst>
                                      </p:cBhvr>
                                      <p:tavLst>
                                        <p:tav tm="0">
                                          <p:val>
                                            <p:strVal val="#ppt_y+.08"/>
                                          </p:val>
                                        </p:tav>
                                        <p:tav tm="100000">
                                          <p:val>
                                            <p:strVal val="#ppt_y"/>
                                          </p:val>
                                        </p:tav>
                                      </p:tavLst>
                                    </p:anim>
                                  </p:childTnLst>
                                </p:cTn>
                              </p:par>
                            </p:childTnLst>
                          </p:cTn>
                        </p:par>
                        <p:par>
                          <p:cTn id="103" fill="hold">
                            <p:stCondLst>
                              <p:cond delay="3175"/>
                            </p:stCondLst>
                            <p:childTnLst>
                              <p:par>
                                <p:cTn id="100" presetID="10" presetClass="entr" presetSubtype="0" fill="hold" grpId="0" nodeType="afterEffect">
                                  <p:stCondLst>
                                    <p:cond delay="0"/>
                                  </p:stCondLst>
                                  <p:childTnLst>
                                    <p:set>
                                      <p:cBhvr>
                                        <p:cTn id="101" dur="1" fill="hold">
                                          <p:stCondLst>
                                            <p:cond delay="0"/>
                                          </p:stCondLst>
                                        </p:cTn>
                                        <p:tgtEl>
                                          <p:spTgt spid="20"/>
                                        </p:tgtEl>
                                        <p:attrNameLst>
                                          <p:attrName>style.visibility</p:attrName>
                                        </p:attrNameLst>
                                      </p:cBhvr>
                                      <p:to>
                                        <p:strVal val="visible"/>
                                      </p:to>
                                    </p:set>
                                    <p:animEffect transition="in" filter="fade">
                                      <p:cBhvr>
                                        <p:cTn id="102" dur="250"/>
                                        <p:tgtEl>
                                          <p:spTgt spid="20"/>
                                        </p:tgtEl>
                                      </p:cBhvr>
                                    </p:animEffect>
                                  </p:childTnLst>
                                </p:cTn>
                              </p:par>
                            </p:childTnLst>
                          </p:cTn>
                        </p:par>
                        <p:par>
                          <p:cTn id="114" fill="hold">
                            <p:stCondLst>
                              <p:cond delay="3350"/>
                            </p:stCondLst>
                            <p:childTnLst>
                              <p:par>
                                <p:cTn id="104" presetID="53" presetClass="entr" presetSubtype="16" fill="hold" grpId="0" nodeType="afterEffect">
                                  <p:stCondLst>
                                    <p:cond delay="0"/>
                                  </p:stCondLst>
                                  <p:childTnLst>
                                    <p:set>
                                      <p:cBhvr>
                                        <p:cTn id="105" dur="1" fill="hold">
                                          <p:stCondLst>
                                            <p:cond delay="0"/>
                                          </p:stCondLst>
                                        </p:cTn>
                                        <p:tgtEl>
                                          <p:spTgt spid="21"/>
                                        </p:tgtEl>
                                        <p:attrNameLst>
                                          <p:attrName>style.visibility</p:attrName>
                                        </p:attrNameLst>
                                      </p:cBhvr>
                                      <p:to>
                                        <p:strVal val="visible"/>
                                      </p:to>
                                    </p:set>
                                    <p:animEffect transition="in" filter="fade">
                                      <p:cBhvr>
                                        <p:cTn id="106" dur="350"/>
                                        <p:tgtEl>
                                          <p:spTgt spid="21"/>
                                        </p:tgtEl>
                                      </p:cBhvr>
                                    </p:animEffect>
                                    <p:anim calcmode="lin" valueType="num">
                                      <p:cBhvr>
                                        <p:cTn id="107" dur="350" fill="hold"/>
                                        <p:tgtEl>
                                          <p:spTgt spid="21"/>
                                        </p:tgtEl>
                                        <p:attrNameLst>
                                          <p:attrName>ppt_w</p:attrName>
                                        </p:attrNameLst>
                                      </p:cBhvr>
                                      <p:tavLst>
                                        <p:tav tm="0">
                                          <p:val>
                                            <p:strVal val="#ppt_w*0.3"/>
                                          </p:val>
                                        </p:tav>
                                        <p:tav tm="100000">
                                          <p:val>
                                            <p:strVal val="#ppt_w"/>
                                          </p:val>
                                        </p:tav>
                                      </p:tavLst>
                                    </p:anim>
                                    <p:anim calcmode="lin" valueType="num">
                                      <p:cBhvr>
                                        <p:cTn id="108" dur="350" fill="hold"/>
                                        <p:tgtEl>
                                          <p:spTgt spid="21"/>
                                        </p:tgtEl>
                                        <p:attrNameLst>
                                          <p:attrName>ppt_h</p:attrName>
                                        </p:attrNameLst>
                                      </p:cBhvr>
                                      <p:tavLst>
                                        <p:tav tm="0">
                                          <p:val>
                                            <p:strVal val="#ppt_h*0.3"/>
                                          </p:val>
                                        </p:tav>
                                        <p:tav tm="100000">
                                          <p:val>
                                            <p:strVal val="#ppt_h"/>
                                          </p:val>
                                        </p:tav>
                                      </p:tavLst>
                                    </p:anim>
                                  </p:childTnLst>
                                </p:cTn>
                              </p:par>
                              <p:par>
                                <p:cTn id="109" presetID="53" presetClass="entr" presetSubtype="16" fill="hold" grpId="0" nodeType="withEffect">
                                  <p:stCondLst>
                                    <p:cond delay="0"/>
                                  </p:stCondLst>
                                  <p:childTnLst>
                                    <p:set>
                                      <p:cBhvr>
                                        <p:cTn id="110" dur="1" fill="hold">
                                          <p:stCondLst>
                                            <p:cond delay="0"/>
                                          </p:stCondLst>
                                        </p:cTn>
                                        <p:tgtEl>
                                          <p:spTgt spid="22"/>
                                        </p:tgtEl>
                                        <p:attrNameLst>
                                          <p:attrName>style.visibility</p:attrName>
                                        </p:attrNameLst>
                                      </p:cBhvr>
                                      <p:to>
                                        <p:strVal val="visible"/>
                                      </p:to>
                                    </p:set>
                                    <p:animEffect transition="in" filter="fade">
                                      <p:cBhvr>
                                        <p:cTn id="111" dur="350"/>
                                        <p:tgtEl>
                                          <p:spTgt spid="22"/>
                                        </p:tgtEl>
                                      </p:cBhvr>
                                    </p:animEffect>
                                    <p:anim calcmode="lin" valueType="num">
                                      <p:cBhvr>
                                        <p:cTn id="112" dur="350" fill="hold"/>
                                        <p:tgtEl>
                                          <p:spTgt spid="22"/>
                                        </p:tgtEl>
                                        <p:attrNameLst>
                                          <p:attrName>ppt_w</p:attrName>
                                        </p:attrNameLst>
                                      </p:cBhvr>
                                      <p:tavLst>
                                        <p:tav tm="0">
                                          <p:val>
                                            <p:strVal val="#ppt_w*0.3"/>
                                          </p:val>
                                        </p:tav>
                                        <p:tav tm="100000">
                                          <p:val>
                                            <p:strVal val="#ppt_w"/>
                                          </p:val>
                                        </p:tav>
                                      </p:tavLst>
                                    </p:anim>
                                    <p:anim calcmode="lin" valueType="num">
                                      <p:cBhvr>
                                        <p:cTn id="113" dur="350" fill="hold"/>
                                        <p:tgtEl>
                                          <p:spTgt spid="22"/>
                                        </p:tgtEl>
                                        <p:attrNameLst>
                                          <p:attrName>ppt_h</p:attrName>
                                        </p:attrNameLst>
                                      </p:cBhvr>
                                      <p:tavLst>
                                        <p:tav tm="0">
                                          <p:val>
                                            <p:strVal val="#ppt_h*0.3"/>
                                          </p:val>
                                        </p:tav>
                                        <p:tav tm="100000">
                                          <p:val>
                                            <p:strVal val="#ppt_h"/>
                                          </p:val>
                                        </p:tav>
                                      </p:tavLst>
                                    </p:anim>
                                  </p:childTnLst>
                                </p:cTn>
                              </p:par>
                            </p:childTnLst>
                          </p:cTn>
                        </p:par>
                        <p:par>
                          <p:cTn id="125" fill="hold">
                            <p:stCondLst>
                              <p:cond delay="3600"/>
                            </p:stCondLst>
                            <p:childTnLst>
                              <p:par>
                                <p:cTn id="115" presetID="53" presetClass="entr" presetSubtype="16" fill="hold" grpId="0" nodeType="afterEffect">
                                  <p:stCondLst>
                                    <p:cond delay="0"/>
                                  </p:stCondLst>
                                  <p:childTnLst>
                                    <p:set>
                                      <p:cBhvr>
                                        <p:cTn id="116" dur="1" fill="hold">
                                          <p:stCondLst>
                                            <p:cond delay="0"/>
                                          </p:stCondLst>
                                        </p:cTn>
                                        <p:tgtEl>
                                          <p:spTgt spid="23"/>
                                        </p:tgtEl>
                                        <p:attrNameLst>
                                          <p:attrName>style.visibility</p:attrName>
                                        </p:attrNameLst>
                                      </p:cBhvr>
                                      <p:to>
                                        <p:strVal val="visible"/>
                                      </p:to>
                                    </p:set>
                                    <p:animEffect transition="in" filter="fade">
                                      <p:cBhvr>
                                        <p:cTn id="117" dur="350"/>
                                        <p:tgtEl>
                                          <p:spTgt spid="23"/>
                                        </p:tgtEl>
                                      </p:cBhvr>
                                    </p:animEffect>
                                    <p:anim calcmode="lin" valueType="num">
                                      <p:cBhvr>
                                        <p:cTn id="118" dur="350" fill="hold"/>
                                        <p:tgtEl>
                                          <p:spTgt spid="23"/>
                                        </p:tgtEl>
                                        <p:attrNameLst>
                                          <p:attrName>ppt_w</p:attrName>
                                        </p:attrNameLst>
                                      </p:cBhvr>
                                      <p:tavLst>
                                        <p:tav tm="0">
                                          <p:val>
                                            <p:strVal val="#ppt_w*0.3"/>
                                          </p:val>
                                        </p:tav>
                                        <p:tav tm="100000">
                                          <p:val>
                                            <p:strVal val="#ppt_w"/>
                                          </p:val>
                                        </p:tav>
                                      </p:tavLst>
                                    </p:anim>
                                    <p:anim calcmode="lin" valueType="num">
                                      <p:cBhvr>
                                        <p:cTn id="119" dur="350" fill="hold"/>
                                        <p:tgtEl>
                                          <p:spTgt spid="23"/>
                                        </p:tgtEl>
                                        <p:attrNameLst>
                                          <p:attrName>ppt_h</p:attrName>
                                        </p:attrNameLst>
                                      </p:cBhvr>
                                      <p:tavLst>
                                        <p:tav tm="0">
                                          <p:val>
                                            <p:strVal val="#ppt_h*0.3"/>
                                          </p:val>
                                        </p:tav>
                                        <p:tav tm="100000">
                                          <p:val>
                                            <p:strVal val="#ppt_h"/>
                                          </p:val>
                                        </p:tav>
                                      </p:tavLst>
                                    </p:anim>
                                  </p:childTnLst>
                                </p:cTn>
                              </p:par>
                              <p:par>
                                <p:cTn id="120" presetID="53" presetClass="entr" presetSubtype="16" fill="hold" grpId="0" nodeType="withEffect">
                                  <p:stCondLst>
                                    <p:cond delay="0"/>
                                  </p:stCondLst>
                                  <p:childTnLst>
                                    <p:set>
                                      <p:cBhvr>
                                        <p:cTn id="121" dur="1" fill="hold">
                                          <p:stCondLst>
                                            <p:cond delay="0"/>
                                          </p:stCondLst>
                                        </p:cTn>
                                        <p:tgtEl>
                                          <p:spTgt spid="24"/>
                                        </p:tgtEl>
                                        <p:attrNameLst>
                                          <p:attrName>style.visibility</p:attrName>
                                        </p:attrNameLst>
                                      </p:cBhvr>
                                      <p:to>
                                        <p:strVal val="visible"/>
                                      </p:to>
                                    </p:set>
                                    <p:animEffect transition="in" filter="fade">
                                      <p:cBhvr>
                                        <p:cTn id="122" dur="350"/>
                                        <p:tgtEl>
                                          <p:spTgt spid="24"/>
                                        </p:tgtEl>
                                      </p:cBhvr>
                                    </p:animEffect>
                                    <p:anim calcmode="lin" valueType="num">
                                      <p:cBhvr>
                                        <p:cTn id="123" dur="350" fill="hold"/>
                                        <p:tgtEl>
                                          <p:spTgt spid="24"/>
                                        </p:tgtEl>
                                        <p:attrNameLst>
                                          <p:attrName>ppt_w</p:attrName>
                                        </p:attrNameLst>
                                      </p:cBhvr>
                                      <p:tavLst>
                                        <p:tav tm="0">
                                          <p:val>
                                            <p:strVal val="#ppt_w*0.3"/>
                                          </p:val>
                                        </p:tav>
                                        <p:tav tm="100000">
                                          <p:val>
                                            <p:strVal val="#ppt_w"/>
                                          </p:val>
                                        </p:tav>
                                      </p:tavLst>
                                    </p:anim>
                                    <p:anim calcmode="lin" valueType="num">
                                      <p:cBhvr>
                                        <p:cTn id="124" dur="350" fill="hold"/>
                                        <p:tgtEl>
                                          <p:spTgt spid="24"/>
                                        </p:tgtEl>
                                        <p:attrNameLst>
                                          <p:attrName>ppt_h</p:attrName>
                                        </p:attrNameLst>
                                      </p:cBhvr>
                                      <p:tavLst>
                                        <p:tav tm="0">
                                          <p:val>
                                            <p:strVal val="#ppt_h*0.3"/>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FF6FF"/>
        </a:solidFill>
        <a:effectLst/>
      </p:bgPr>
    </p:bg>
    <p:spTree>
      <p:nvGrpSpPr>
        <p:cNvPr id="1" name=""/>
        <p:cNvGrpSpPr/>
        <p:nvPr/>
      </p:nvGrpSpPr>
      <p:grpSpPr/>
      <p:sp>
        <p:nvSpPr>
          <p:cNvPr id="2" name="TextBox 1"/>
          <p:cNvSpPr txBox="1"/>
          <p:nvPr/>
        </p:nvSpPr>
        <p:spPr>
          <a:xfrm>
            <a:off x="812800" y="711200"/>
            <a:ext cx="10566400" cy="228600"/>
          </a:xfrm>
          <a:prstGeom prst="rect">
            <a:avLst/>
          </a:prstGeom>
          <a:noFill/>
        </p:spPr>
        <p:txBody>
          <a:bodyPr wrap="square" anchor="t" lIns="0" rIns="0" tIns="0" bIns="0">
            <a:noAutofit/>
          </a:bodyPr>
          <a:lstStyle/>
          <a:p>
            <a:pPr algn="l">
              <a:lnSpc>
                <a:spcPct val="125000"/>
              </a:lnSpc>
            </a:pPr>
            <a:r>
              <a:rPr sz="1200" b="1" i="0" cap="all" spc="300">
                <a:solidFill>
                  <a:srgbClr val="007AB1"/>
                </a:solidFill>
                <a:latin typeface="Nunito Sans"/>
              </a:rPr>
              <a:t>Geen betutteling</a:t>
            </a:r>
          </a:p>
        </p:txBody>
      </p:sp>
      <p:sp>
        <p:nvSpPr>
          <p:cNvPr id="3" name="TextBox 2"/>
          <p:cNvSpPr txBox="1"/>
          <p:nvPr/>
        </p:nvSpPr>
        <p:spPr>
          <a:xfrm>
            <a:off x="812800" y="990600"/>
            <a:ext cx="10566400" cy="508000"/>
          </a:xfrm>
          <a:prstGeom prst="rect">
            <a:avLst/>
          </a:prstGeom>
          <a:noFill/>
        </p:spPr>
        <p:txBody>
          <a:bodyPr wrap="square" anchor="t" lIns="0" rIns="0" tIns="0" bIns="0">
            <a:noAutofit/>
          </a:bodyPr>
          <a:lstStyle/>
          <a:p>
            <a:pPr algn="l">
              <a:lnSpc>
                <a:spcPct val="105000"/>
              </a:lnSpc>
            </a:pPr>
            <a:r>
              <a:rPr sz="3600" b="1" i="0">
                <a:solidFill>
                  <a:srgbClr val="0D2A50"/>
                </a:solidFill>
                <a:latin typeface="Nunito Sans"/>
              </a:rPr>
              <a:t>Na donder komt zon</a:t>
            </a:r>
          </a:p>
        </p:txBody>
      </p:sp>
      <p:sp>
        <p:nvSpPr>
          <p:cNvPr id="4" name="Rounded Rectangle 3"/>
          <p:cNvSpPr/>
          <p:nvPr/>
        </p:nvSpPr>
        <p:spPr>
          <a:xfrm>
            <a:off x="812800" y="1816100"/>
            <a:ext cx="5207000" cy="2667000"/>
          </a:xfrm>
          <a:prstGeom prst="roundRect">
            <a:avLst>
              <a:gd name="adj" fmla="val 6666"/>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t" wrap="square" lIns="279400" rIns="279400" tIns="279400" bIns="279400">
            <a:noAutofit/>
          </a:bodyPr>
          <a:lstStyle/>
          <a:p>
            <a:pPr algn="l">
              <a:lnSpc>
                <a:spcPct val="125000"/>
              </a:lnSpc>
            </a:pPr>
            <a:r>
              <a:rPr sz="1200" b="1" i="0">
                <a:solidFill>
                  <a:srgbClr val="007AB1"/>
                </a:solidFill>
                <a:latin typeface="Nunito Sans"/>
              </a:rPr>
              <a:t>Kate · zaterdag 08:30</a:t>
            </a:r>
          </a:p>
          <a:p>
            <a:pPr algn="l">
              <a:lnSpc>
                <a:spcPct val="130000"/>
              </a:lnSpc>
              <a:spcBef>
                <a:spcPts val="800"/>
              </a:spcBef>
            </a:pPr>
            <a:r>
              <a:rPr sz="1800" b="0" i="0">
                <a:solidFill>
                  <a:srgbClr val="0D2A50"/>
                </a:solidFill>
                <a:latin typeface="Nunito Sans"/>
              </a:rPr>
              <a:t>“Gisteren was het onweer. Geen probleem, ik heb je week herschikt: vandaag bewolkt, vanaf donderdag weer zon. Je spaardoel voor de reis blijft op schema.”</a:t>
            </a:r>
          </a:p>
        </p:txBody>
      </p:sp>
      <p:pic>
        <p:nvPicPr>
          <p:cNvPr id="5" name="Picture 4" descr="donder_l.gif"/>
          <p:cNvPicPr>
            <a:picLocks noChangeAspect="1"/>
          </p:cNvPicPr>
          <p:nvPr/>
        </p:nvPicPr>
        <p:blipFill>
          <a:blip r:embed="rId3"/>
          <a:stretch>
            <a:fillRect/>
          </a:stretch>
        </p:blipFill>
        <p:spPr>
          <a:xfrm>
            <a:off x="6413500" y="2451100"/>
            <a:ext cx="1460500" cy="1460500"/>
          </a:xfrm>
          <a:prstGeom prst="rect">
            <a:avLst/>
          </a:prstGeom>
        </p:spPr>
      </p:pic>
      <p:pic>
        <p:nvPicPr>
          <p:cNvPr id="6" name="Picture 5" descr="bewolkt_l.gif"/>
          <p:cNvPicPr>
            <a:picLocks noChangeAspect="1"/>
          </p:cNvPicPr>
          <p:nvPr/>
        </p:nvPicPr>
        <p:blipFill>
          <a:blip r:embed="rId4"/>
          <a:stretch>
            <a:fillRect/>
          </a:stretch>
        </p:blipFill>
        <p:spPr>
          <a:xfrm>
            <a:off x="8026400" y="2590447"/>
            <a:ext cx="1587500" cy="1181805"/>
          </a:xfrm>
          <a:prstGeom prst="rect">
            <a:avLst/>
          </a:prstGeom>
        </p:spPr>
      </p:pic>
      <p:pic>
        <p:nvPicPr>
          <p:cNvPr id="7" name="Picture 6" descr="zon_l.gif"/>
          <p:cNvPicPr>
            <a:picLocks noChangeAspect="1"/>
          </p:cNvPicPr>
          <p:nvPr/>
        </p:nvPicPr>
        <p:blipFill>
          <a:blip r:embed="rId5"/>
          <a:stretch>
            <a:fillRect/>
          </a:stretch>
        </p:blipFill>
        <p:spPr>
          <a:xfrm>
            <a:off x="9757906" y="2451100"/>
            <a:ext cx="1477287" cy="1460500"/>
          </a:xfrm>
          <a:prstGeom prst="rect">
            <a:avLst/>
          </a:prstGeom>
        </p:spPr>
      </p:pic>
      <p:sp>
        <p:nvSpPr>
          <p:cNvPr id="8" name="TextBox 7"/>
          <p:cNvSpPr txBox="1"/>
          <p:nvPr/>
        </p:nvSpPr>
        <p:spPr>
          <a:xfrm>
            <a:off x="812800" y="4800600"/>
            <a:ext cx="10566400" cy="698500"/>
          </a:xfrm>
          <a:prstGeom prst="rect">
            <a:avLst/>
          </a:prstGeom>
          <a:noFill/>
        </p:spPr>
        <p:txBody>
          <a:bodyPr wrap="square" anchor="t" lIns="0" rIns="0" tIns="0" bIns="0">
            <a:noAutofit/>
          </a:bodyPr>
          <a:lstStyle/>
          <a:p>
            <a:pPr algn="l">
              <a:lnSpc>
                <a:spcPct val="125000"/>
              </a:lnSpc>
            </a:pPr>
            <a:r>
              <a:rPr sz="1600" b="0" i="0">
                <a:solidFill>
                  <a:srgbClr val="45658F"/>
                </a:solidFill>
                <a:latin typeface="Nunito Sans"/>
              </a:rPr>
              <a:t>Geen “je gaf te veel uit aan Panos”. </a:t>
            </a:r>
            <a:r>
              <a:rPr sz="1600" b="1" i="0">
                <a:solidFill>
                  <a:srgbClr val="0D2A50"/>
                </a:solidFill>
                <a:latin typeface="Nunito Sans"/>
              </a:rPr>
              <a:t>Een zware uitgave is een weertype, geen fout.</a:t>
            </a:r>
          </a:p>
        </p:txBody>
      </p:sp>
      <p:sp>
        <p:nvSpPr>
          <p:cNvPr id="9" name="TextBox 8"/>
          <p:cNvSpPr txBox="1"/>
          <p:nvPr/>
        </p:nvSpPr>
        <p:spPr>
          <a:xfrm>
            <a:off x="812800" y="6350000"/>
            <a:ext cx="8890000" cy="215900"/>
          </a:xfrm>
          <a:prstGeom prst="rect">
            <a:avLst/>
          </a:prstGeom>
          <a:noFill/>
        </p:spPr>
        <p:txBody>
          <a:bodyPr wrap="square" anchor="t" lIns="0" rIns="0" tIns="0" bIns="0">
            <a:noAutofit/>
          </a:bodyPr>
          <a:lstStyle/>
          <a:p>
            <a:pPr algn="l">
              <a:lnSpc>
                <a:spcPct val="125000"/>
              </a:lnSpc>
            </a:pPr>
            <a:r>
              <a:rPr sz="1100" b="0" i="0">
                <a:solidFill>
                  <a:srgbClr val="45658F"/>
                </a:solidFill>
                <a:latin typeface="Nunito Sans"/>
              </a:rPr>
              <a:t>KBC Weerbericht · Jij kiest het weer · Team Trojan Horse</a:t>
            </a:r>
          </a:p>
        </p:txBody>
      </p:sp>
      <p:sp>
        <p:nvSpPr>
          <p:cNvPr id="10" name="TextBox 9"/>
          <p:cNvSpPr txBox="1"/>
          <p:nvPr/>
        </p:nvSpPr>
        <p:spPr>
          <a:xfrm>
            <a:off x="10109200" y="6350000"/>
            <a:ext cx="1270000" cy="215900"/>
          </a:xfrm>
          <a:prstGeom prst="rect">
            <a:avLst/>
          </a:prstGeom>
          <a:noFill/>
        </p:spPr>
        <p:txBody>
          <a:bodyPr wrap="square" anchor="t" lIns="0" rIns="0" tIns="0" bIns="0">
            <a:noAutofit/>
          </a:bodyPr>
          <a:lstStyle/>
          <a:p>
            <a:pPr algn="r">
              <a:lnSpc>
                <a:spcPct val="125000"/>
              </a:lnSpc>
            </a:pPr>
            <a:r>
              <a:rPr sz="1100" b="0" i="0">
                <a:solidFill>
                  <a:srgbClr val="45658F"/>
                </a:solidFill>
                <a:latin typeface="Nunito Sans"/>
              </a:rPr>
              <a:t>9 / 23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4" fill="hold">
                            <p:stCondLst>
                              <p:cond delay="0"/>
                            </p:stCondLst>
                            <p:childTnLst>
                              <p:par>
                                <p:cTn id="4" presetID="42"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ppt_y+.08"/>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p:cTn id="12" dur="500" fill="hold"/>
                                        <p:tgtEl>
                                          <p:spTgt spid="3"/>
                                        </p:tgtEl>
                                        <p:attrNameLst>
                                          <p:attrName>ppt_x</p:attrName>
                                        </p:attrNameLst>
                                      </p:cBhvr>
                                      <p:tavLst>
                                        <p:tav tm="0">
                                          <p:val>
                                            <p:strVal val="#ppt_x"/>
                                          </p:val>
                                        </p:tav>
                                        <p:tav tm="100000">
                                          <p:val>
                                            <p:strVal val="#ppt_x"/>
                                          </p:val>
                                        </p:tav>
                                      </p:tavLst>
                                    </p:anim>
                                    <p:anim calcmode="lin" valueType="num">
                                      <p:cBhvr>
                                        <p:cTn id="13" dur="500" fill="hold"/>
                                        <p:tgtEl>
                                          <p:spTgt spid="3"/>
                                        </p:tgtEl>
                                        <p:attrNameLst>
                                          <p:attrName>ppt_y</p:attrName>
                                        </p:attrNameLst>
                                      </p:cBhvr>
                                      <p:tavLst>
                                        <p:tav tm="0">
                                          <p:val>
                                            <p:strVal val="#ppt_y+.08"/>
                                          </p:val>
                                        </p:tav>
                                        <p:tav tm="100000">
                                          <p:val>
                                            <p:strVal val="#ppt_y"/>
                                          </p:val>
                                        </p:tav>
                                      </p:tavLst>
                                    </p:anim>
                                  </p:childTnLst>
                                </p:cTn>
                              </p:par>
                            </p:childTnLst>
                          </p:cTn>
                        </p:par>
                        <p:par>
                          <p:cTn id="20" fill="hold">
                            <p:stCondLst>
                              <p:cond delay="350"/>
                            </p:stCondLst>
                            <p:childTnLst>
                              <p:par>
                                <p:cTn id="15" presetID="42" presetClass="entr" presetSubtype="0"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anim calcmode="lin" valueType="num">
                                      <p:cBhvr>
                                        <p:cTn id="18" dur="500" fill="hold"/>
                                        <p:tgtEl>
                                          <p:spTgt spid="4"/>
                                        </p:tgtEl>
                                        <p:attrNameLst>
                                          <p:attrName>ppt_x</p:attrName>
                                        </p:attrNameLst>
                                      </p:cBhvr>
                                      <p:tavLst>
                                        <p:tav tm="0">
                                          <p:val>
                                            <p:strVal val="#ppt_x"/>
                                          </p:val>
                                        </p:tav>
                                        <p:tav tm="100000">
                                          <p:val>
                                            <p:strVal val="#ppt_x"/>
                                          </p:val>
                                        </p:tav>
                                      </p:tavLst>
                                    </p:anim>
                                    <p:anim calcmode="lin" valueType="num">
                                      <p:cBhvr>
                                        <p:cTn id="19" dur="500" fill="hold"/>
                                        <p:tgtEl>
                                          <p:spTgt spid="4"/>
                                        </p:tgtEl>
                                        <p:attrNameLst>
                                          <p:attrName>ppt_y</p:attrName>
                                        </p:attrNameLst>
                                      </p:cBhvr>
                                      <p:tavLst>
                                        <p:tav tm="0">
                                          <p:val>
                                            <p:strVal val="#ppt_y+.08"/>
                                          </p:val>
                                        </p:tav>
                                        <p:tav tm="100000">
                                          <p:val>
                                            <p:strVal val="#ppt_y"/>
                                          </p:val>
                                        </p:tav>
                                      </p:tavLst>
                                    </p:anim>
                                  </p:childTnLst>
                                </p:cTn>
                              </p:par>
                            </p:childTnLst>
                          </p:cTn>
                        </p:par>
                        <p:par>
                          <p:cTn id="26" fill="hold">
                            <p:stCondLst>
                              <p:cond delay="700"/>
                            </p:stCondLst>
                            <p:childTnLst>
                              <p:par>
                                <p:cTn id="21" presetID="53" presetClass="entr" presetSubtype="16"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450"/>
                                        <p:tgtEl>
                                          <p:spTgt spid="5"/>
                                        </p:tgtEl>
                                      </p:cBhvr>
                                    </p:animEffect>
                                    <p:anim calcmode="lin" valueType="num">
                                      <p:cBhvr>
                                        <p:cTn id="24" dur="450" fill="hold"/>
                                        <p:tgtEl>
                                          <p:spTgt spid="5"/>
                                        </p:tgtEl>
                                        <p:attrNameLst>
                                          <p:attrName>ppt_w</p:attrName>
                                        </p:attrNameLst>
                                      </p:cBhvr>
                                      <p:tavLst>
                                        <p:tav tm="0">
                                          <p:val>
                                            <p:strVal val="#ppt_w*0.3"/>
                                          </p:val>
                                        </p:tav>
                                        <p:tav tm="100000">
                                          <p:val>
                                            <p:strVal val="#ppt_w"/>
                                          </p:val>
                                        </p:tav>
                                      </p:tavLst>
                                    </p:anim>
                                    <p:anim calcmode="lin" valueType="num">
                                      <p:cBhvr>
                                        <p:cTn id="25" dur="450" fill="hold"/>
                                        <p:tgtEl>
                                          <p:spTgt spid="5"/>
                                        </p:tgtEl>
                                        <p:attrNameLst>
                                          <p:attrName>ppt_h</p:attrName>
                                        </p:attrNameLst>
                                      </p:cBhvr>
                                      <p:tavLst>
                                        <p:tav tm="0">
                                          <p:val>
                                            <p:strVal val="#ppt_h*0.3"/>
                                          </p:val>
                                        </p:tav>
                                        <p:tav tm="100000">
                                          <p:val>
                                            <p:strVal val="#ppt_h"/>
                                          </p:val>
                                        </p:tav>
                                      </p:tavLst>
                                    </p:anim>
                                  </p:childTnLst>
                                </p:cTn>
                              </p:par>
                            </p:childTnLst>
                          </p:cTn>
                        </p:par>
                        <p:par>
                          <p:cTn id="32" fill="hold">
                            <p:stCondLst>
                              <p:cond delay="1050"/>
                            </p:stCondLst>
                            <p:childTnLst>
                              <p:par>
                                <p:cTn id="27" presetID="53" presetClass="entr" presetSubtype="16" fill="hold" grpId="0"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450"/>
                                        <p:tgtEl>
                                          <p:spTgt spid="6"/>
                                        </p:tgtEl>
                                      </p:cBhvr>
                                    </p:animEffect>
                                    <p:anim calcmode="lin" valueType="num">
                                      <p:cBhvr>
                                        <p:cTn id="30" dur="450" fill="hold"/>
                                        <p:tgtEl>
                                          <p:spTgt spid="6"/>
                                        </p:tgtEl>
                                        <p:attrNameLst>
                                          <p:attrName>ppt_w</p:attrName>
                                        </p:attrNameLst>
                                      </p:cBhvr>
                                      <p:tavLst>
                                        <p:tav tm="0">
                                          <p:val>
                                            <p:strVal val="#ppt_w*0.3"/>
                                          </p:val>
                                        </p:tav>
                                        <p:tav tm="100000">
                                          <p:val>
                                            <p:strVal val="#ppt_w"/>
                                          </p:val>
                                        </p:tav>
                                      </p:tavLst>
                                    </p:anim>
                                    <p:anim calcmode="lin" valueType="num">
                                      <p:cBhvr>
                                        <p:cTn id="31" dur="450" fill="hold"/>
                                        <p:tgtEl>
                                          <p:spTgt spid="6"/>
                                        </p:tgtEl>
                                        <p:attrNameLst>
                                          <p:attrName>ppt_h</p:attrName>
                                        </p:attrNameLst>
                                      </p:cBhvr>
                                      <p:tavLst>
                                        <p:tav tm="0">
                                          <p:val>
                                            <p:strVal val="#ppt_h*0.3"/>
                                          </p:val>
                                        </p:tav>
                                        <p:tav tm="100000">
                                          <p:val>
                                            <p:strVal val="#ppt_h"/>
                                          </p:val>
                                        </p:tav>
                                      </p:tavLst>
                                    </p:anim>
                                  </p:childTnLst>
                                </p:cTn>
                              </p:par>
                            </p:childTnLst>
                          </p:cTn>
                        </p:par>
                        <p:par>
                          <p:cTn id="38" fill="hold">
                            <p:stCondLst>
                              <p:cond delay="1400"/>
                            </p:stCondLst>
                            <p:childTnLst>
                              <p:par>
                                <p:cTn id="33" presetID="53" presetClass="entr" presetSubtype="16" fill="hold" grpId="0"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450"/>
                                        <p:tgtEl>
                                          <p:spTgt spid="7"/>
                                        </p:tgtEl>
                                      </p:cBhvr>
                                    </p:animEffect>
                                    <p:anim calcmode="lin" valueType="num">
                                      <p:cBhvr>
                                        <p:cTn id="36" dur="450" fill="hold"/>
                                        <p:tgtEl>
                                          <p:spTgt spid="7"/>
                                        </p:tgtEl>
                                        <p:attrNameLst>
                                          <p:attrName>ppt_w</p:attrName>
                                        </p:attrNameLst>
                                      </p:cBhvr>
                                      <p:tavLst>
                                        <p:tav tm="0">
                                          <p:val>
                                            <p:strVal val="#ppt_w*0.3"/>
                                          </p:val>
                                        </p:tav>
                                        <p:tav tm="100000">
                                          <p:val>
                                            <p:strVal val="#ppt_w"/>
                                          </p:val>
                                        </p:tav>
                                      </p:tavLst>
                                    </p:anim>
                                    <p:anim calcmode="lin" valueType="num">
                                      <p:cBhvr>
                                        <p:cTn id="37" dur="450" fill="hold"/>
                                        <p:tgtEl>
                                          <p:spTgt spid="7"/>
                                        </p:tgtEl>
                                        <p:attrNameLst>
                                          <p:attrName>ppt_h</p:attrName>
                                        </p:attrNameLst>
                                      </p:cBhvr>
                                      <p:tavLst>
                                        <p:tav tm="0">
                                          <p:val>
                                            <p:strVal val="#ppt_h*0.3"/>
                                          </p:val>
                                        </p:tav>
                                        <p:tav tm="100000">
                                          <p:val>
                                            <p:strVal val="#ppt_h"/>
                                          </p:val>
                                        </p:tav>
                                      </p:tavLst>
                                    </p:anim>
                                  </p:childTnLst>
                                </p:cTn>
                              </p:par>
                            </p:childTnLst>
                          </p:cTn>
                        </p:par>
                        <p:par>
                          <p:cTn id="42" fill="hold">
                            <p:stCondLst>
                              <p:cond delay="1750"/>
                            </p:stCondLst>
                            <p:childTnLst>
                              <p:par>
                                <p:cTn id="39" presetID="10" presetClass="entr" presetSubtype="0" fill="hold" grpId="0" nodeType="after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ECC00"/>
        </a:solidFill>
        <a:effectLst/>
      </p:bgPr>
    </p:bg>
    <p:spTree>
      <p:nvGrpSpPr>
        <p:cNvPr id="1" name=""/>
        <p:cNvGrpSpPr/>
        <p:nvPr/>
      </p:nvGrpSpPr>
      <p:grpSpPr/>
      <p:pic>
        <p:nvPicPr>
          <p:cNvPr id="2" name="Picture 1" descr="zon_y.gif"/>
          <p:cNvPicPr>
            <a:picLocks noChangeAspect="1"/>
          </p:cNvPicPr>
          <p:nvPr/>
        </p:nvPicPr>
        <p:blipFill>
          <a:blip r:embed="rId3"/>
          <a:stretch>
            <a:fillRect/>
          </a:stretch>
        </p:blipFill>
        <p:spPr>
          <a:xfrm>
            <a:off x="8939632" y="609600"/>
            <a:ext cx="2440735" cy="2413000"/>
          </a:xfrm>
          <a:prstGeom prst="rect">
            <a:avLst/>
          </a:prstGeom>
        </p:spPr>
      </p:pic>
      <p:sp>
        <p:nvSpPr>
          <p:cNvPr id="3" name="TextBox 2"/>
          <p:cNvSpPr txBox="1"/>
          <p:nvPr/>
        </p:nvSpPr>
        <p:spPr>
          <a:xfrm>
            <a:off x="812800" y="1384300"/>
            <a:ext cx="7620000" cy="228600"/>
          </a:xfrm>
          <a:prstGeom prst="rect">
            <a:avLst/>
          </a:prstGeom>
          <a:noFill/>
        </p:spPr>
        <p:txBody>
          <a:bodyPr wrap="square" anchor="t" lIns="0" rIns="0" tIns="0" bIns="0">
            <a:noAutofit/>
          </a:bodyPr>
          <a:lstStyle/>
          <a:p>
            <a:pPr algn="l">
              <a:lnSpc>
                <a:spcPct val="125000"/>
              </a:lnSpc>
            </a:pPr>
            <a:r>
              <a:rPr sz="1200" b="1" i="0" cap="all" spc="300">
                <a:solidFill>
                  <a:srgbClr val="0D2A50"/>
                </a:solidFill>
                <a:latin typeface="Nunito Sans"/>
              </a:rPr>
              <a:t>De Kate-belofte</a:t>
            </a:r>
          </a:p>
        </p:txBody>
      </p:sp>
      <p:sp>
        <p:nvSpPr>
          <p:cNvPr id="4" name="TextBox 3"/>
          <p:cNvSpPr txBox="1"/>
          <p:nvPr/>
        </p:nvSpPr>
        <p:spPr>
          <a:xfrm>
            <a:off x="812800" y="1714500"/>
            <a:ext cx="8255000" cy="2921000"/>
          </a:xfrm>
          <a:prstGeom prst="rect">
            <a:avLst/>
          </a:prstGeom>
          <a:noFill/>
        </p:spPr>
        <p:txBody>
          <a:bodyPr wrap="square" anchor="t" lIns="0" rIns="0" tIns="0" bIns="0">
            <a:noAutofit/>
          </a:bodyPr>
          <a:lstStyle/>
          <a:p>
            <a:pPr algn="l">
              <a:lnSpc>
                <a:spcPct val="98000"/>
              </a:lnSpc>
            </a:pPr>
            <a:r>
              <a:rPr sz="7000" b="1" i="0">
                <a:solidFill>
                  <a:srgbClr val="0D2A50"/>
                </a:solidFill>
                <a:latin typeface="Nunito Sans"/>
              </a:rPr>
              <a:t>Kate kiest jou. Ook als dat ons iets kost.</a:t>
            </a:r>
          </a:p>
        </p:txBody>
      </p:sp>
      <p:sp>
        <p:nvSpPr>
          <p:cNvPr id="5" name="TextBox 4"/>
          <p:cNvSpPr txBox="1"/>
          <p:nvPr/>
        </p:nvSpPr>
        <p:spPr>
          <a:xfrm>
            <a:off x="812800" y="4826000"/>
            <a:ext cx="7620000" cy="762000"/>
          </a:xfrm>
          <a:prstGeom prst="rect">
            <a:avLst/>
          </a:prstGeom>
          <a:noFill/>
        </p:spPr>
        <p:txBody>
          <a:bodyPr wrap="square" anchor="t" lIns="0" rIns="0" tIns="0" bIns="0">
            <a:noAutofit/>
          </a:bodyPr>
          <a:lstStyle/>
          <a:p>
            <a:pPr algn="l">
              <a:lnSpc>
                <a:spcPct val="130000"/>
              </a:lnSpc>
            </a:pPr>
            <a:r>
              <a:rPr sz="1800" b="0" i="0">
                <a:solidFill>
                  <a:srgbClr val="0D2A50"/>
                </a:solidFill>
                <a:latin typeface="Nunito Sans"/>
              </a:rPr>
              <a:t>De marge van KBC is geen input voor Kate's advies. Ze rangschikt opties enkel op wat de klant eraan heeft.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9" fill="hold">
                            <p:stCondLst>
                              <p:cond delay="0"/>
                            </p:stCondLst>
                            <p:childTnLst>
                              <p:par>
                                <p:cTn id="4" presetID="53" presetClass="entr" presetSubtype="16"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600"/>
                                        <p:tgtEl>
                                          <p:spTgt spid="2"/>
                                        </p:tgtEl>
                                      </p:cBhvr>
                                    </p:animEffect>
                                    <p:anim calcmode="lin" valueType="num">
                                      <p:cBhvr>
                                        <p:cTn id="7" dur="600" fill="hold"/>
                                        <p:tgtEl>
                                          <p:spTgt spid="2"/>
                                        </p:tgtEl>
                                        <p:attrNameLst>
                                          <p:attrName>ppt_w</p:attrName>
                                        </p:attrNameLst>
                                      </p:cBhvr>
                                      <p:tavLst>
                                        <p:tav tm="0">
                                          <p:val>
                                            <p:strVal val="#ppt_w*0.3"/>
                                          </p:val>
                                        </p:tav>
                                        <p:tav tm="100000">
                                          <p:val>
                                            <p:strVal val="#ppt_w"/>
                                          </p:val>
                                        </p:tav>
                                      </p:tavLst>
                                    </p:anim>
                                    <p:anim calcmode="lin" valueType="num">
                                      <p:cBhvr>
                                        <p:cTn id="8" dur="600" fill="hold"/>
                                        <p:tgtEl>
                                          <p:spTgt spid="2"/>
                                        </p:tgtEl>
                                        <p:attrNameLst>
                                          <p:attrName>ppt_h</p:attrName>
                                        </p:attrNameLst>
                                      </p:cBhvr>
                                      <p:tavLst>
                                        <p:tav tm="0">
                                          <p:val>
                                            <p:strVal val="#ppt_h*0.3"/>
                                          </p:val>
                                        </p:tav>
                                        <p:tav tm="100000">
                                          <p:val>
                                            <p:strVal val="#ppt_h"/>
                                          </p:val>
                                        </p:tav>
                                      </p:tavLst>
                                    </p:anim>
                                  </p:childTnLst>
                                </p:cTn>
                              </p:par>
                            </p:childTnLst>
                          </p:cTn>
                        </p:par>
                        <p:par>
                          <p:cTn id="13" fill="hold">
                            <p:stCondLst>
                              <p:cond delay="420"/>
                            </p:stCondLst>
                            <p:childTnLst>
                              <p:par>
                                <p:cTn id="10" presetID="10" presetClass="entr"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300"/>
                                        <p:tgtEl>
                                          <p:spTgt spid="3"/>
                                        </p:tgtEl>
                                      </p:cBhvr>
                                    </p:animEffect>
                                  </p:childTnLst>
                                </p:cTn>
                              </p:par>
                            </p:childTnLst>
                          </p:cTn>
                        </p:par>
                        <p:par>
                          <p:cTn id="19" fill="hold">
                            <p:stCondLst>
                              <p:cond delay="630"/>
                            </p:stCondLst>
                            <p:childTnLst>
                              <p:par>
                                <p:cTn id="14" presetID="42"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700"/>
                                        <p:tgtEl>
                                          <p:spTgt spid="4"/>
                                        </p:tgtEl>
                                      </p:cBhvr>
                                    </p:animEffect>
                                    <p:anim calcmode="lin" valueType="num">
                                      <p:cBhvr>
                                        <p:cTn id="17" dur="700" fill="hold"/>
                                        <p:tgtEl>
                                          <p:spTgt spid="4"/>
                                        </p:tgtEl>
                                        <p:attrNameLst>
                                          <p:attrName>ppt_x</p:attrName>
                                        </p:attrNameLst>
                                      </p:cBhvr>
                                      <p:tavLst>
                                        <p:tav tm="0">
                                          <p:val>
                                            <p:strVal val="#ppt_x"/>
                                          </p:val>
                                        </p:tav>
                                        <p:tav tm="100000">
                                          <p:val>
                                            <p:strVal val="#ppt_x"/>
                                          </p:val>
                                        </p:tav>
                                      </p:tavLst>
                                    </p:anim>
                                    <p:anim calcmode="lin" valueType="num">
                                      <p:cBhvr>
                                        <p:cTn id="18" dur="700" fill="hold"/>
                                        <p:tgtEl>
                                          <p:spTgt spid="4"/>
                                        </p:tgtEl>
                                        <p:attrNameLst>
                                          <p:attrName>ppt_y</p:attrName>
                                        </p:attrNameLst>
                                      </p:cBhvr>
                                      <p:tavLst>
                                        <p:tav tm="0">
                                          <p:val>
                                            <p:strVal val="#ppt_y+.08"/>
                                          </p:val>
                                        </p:tav>
                                        <p:tav tm="100000">
                                          <p:val>
                                            <p:strVal val="#ppt_y"/>
                                          </p:val>
                                        </p:tav>
                                      </p:tavLst>
                                    </p:anim>
                                  </p:childTnLst>
                                </p:cTn>
                              </p:par>
                            </p:childTnLst>
                          </p:cTn>
                        </p:par>
                        <p:par>
                          <p:cTn id="23" fill="hold">
                            <p:stCondLst>
                              <p:cond delay="1119"/>
                            </p:stCondLst>
                            <p:childTnLst>
                              <p:par>
                                <p:cTn id="20" presetID="10" presetClass="entr" presetSubtype="0" fill="hold" grpId="0" nodeType="after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FF6FF"/>
        </a:solidFill>
        <a:effectLst/>
      </p:bgPr>
    </p:bg>
    <p:spTree>
      <p:nvGrpSpPr>
        <p:cNvPr id="1" name=""/>
        <p:cNvGrpSpPr/>
        <p:nvPr/>
      </p:nvGrpSpPr>
      <p:grpSpPr/>
      <p:sp>
        <p:nvSpPr>
          <p:cNvPr id="2" name="TextBox 1"/>
          <p:cNvSpPr txBox="1"/>
          <p:nvPr/>
        </p:nvSpPr>
        <p:spPr>
          <a:xfrm>
            <a:off x="812800" y="711200"/>
            <a:ext cx="10566400" cy="228600"/>
          </a:xfrm>
          <a:prstGeom prst="rect">
            <a:avLst/>
          </a:prstGeom>
          <a:noFill/>
        </p:spPr>
        <p:txBody>
          <a:bodyPr wrap="square" anchor="t" lIns="0" rIns="0" tIns="0" bIns="0">
            <a:noAutofit/>
          </a:bodyPr>
          <a:lstStyle/>
          <a:p>
            <a:pPr algn="l">
              <a:lnSpc>
                <a:spcPct val="125000"/>
              </a:lnSpc>
            </a:pPr>
            <a:r>
              <a:rPr sz="1200" b="1" i="0" cap="all" spc="300">
                <a:solidFill>
                  <a:srgbClr val="007AB1"/>
                </a:solidFill>
                <a:latin typeface="Nunito Sans"/>
              </a:rPr>
              <a:t>Klant eerst, ook tegen KBC in</a:t>
            </a:r>
          </a:p>
        </p:txBody>
      </p:sp>
      <p:sp>
        <p:nvSpPr>
          <p:cNvPr id="3" name="TextBox 2"/>
          <p:cNvSpPr txBox="1"/>
          <p:nvPr/>
        </p:nvSpPr>
        <p:spPr>
          <a:xfrm>
            <a:off x="812800" y="990600"/>
            <a:ext cx="10566400" cy="508000"/>
          </a:xfrm>
          <a:prstGeom prst="rect">
            <a:avLst/>
          </a:prstGeom>
          <a:noFill/>
        </p:spPr>
        <p:txBody>
          <a:bodyPr wrap="square" anchor="t" lIns="0" rIns="0" tIns="0" bIns="0">
            <a:noAutofit/>
          </a:bodyPr>
          <a:lstStyle/>
          <a:p>
            <a:pPr algn="l">
              <a:lnSpc>
                <a:spcPct val="105000"/>
              </a:lnSpc>
            </a:pPr>
            <a:r>
              <a:rPr sz="3600" b="1" i="0">
                <a:solidFill>
                  <a:srgbClr val="0D2A50"/>
                </a:solidFill>
                <a:latin typeface="Nunito Sans"/>
              </a:rPr>
              <a:t>Wat Kate zegt, en waarom dat loont</a:t>
            </a:r>
          </a:p>
        </p:txBody>
      </p:sp>
      <p:sp>
        <p:nvSpPr>
          <p:cNvPr id="4" name="Rounded Rectangle 3"/>
          <p:cNvSpPr/>
          <p:nvPr/>
        </p:nvSpPr>
        <p:spPr>
          <a:xfrm>
            <a:off x="812800" y="1752600"/>
            <a:ext cx="5130800" cy="1143000"/>
          </a:xfrm>
          <a:prstGeom prst="roundRect">
            <a:avLst>
              <a:gd name="adj" fmla="val 8888"/>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52400" bIns="152400">
            <a:noAutofit/>
          </a:bodyPr>
          <a:lstStyle/>
          <a:p>
            <a:pPr algn="l">
              <a:lnSpc>
                <a:spcPct val="130000"/>
              </a:lnSpc>
            </a:pPr>
            <a:r>
              <a:rPr sz="1400" b="0" i="0">
                <a:solidFill>
                  <a:srgbClr val="0D2A50"/>
                </a:solidFill>
                <a:latin typeface="Nunito Sans"/>
              </a:rPr>
              <a:t>“Je betaalt €14 per maand voor een verzekering die je sinds je verhuis niet meer nodig hebt. Zal ik ze stopzetten?”</a:t>
            </a:r>
          </a:p>
        </p:txBody>
      </p:sp>
      <p:sp>
        <p:nvSpPr>
          <p:cNvPr id="5" name="Rounded Rectangle 4"/>
          <p:cNvSpPr/>
          <p:nvPr/>
        </p:nvSpPr>
        <p:spPr>
          <a:xfrm>
            <a:off x="812800" y="3022600"/>
            <a:ext cx="5130800" cy="889000"/>
          </a:xfrm>
          <a:prstGeom prst="roundRect">
            <a:avLst>
              <a:gd name="adj" fmla="val 11428"/>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52400" bIns="152400">
            <a:noAutofit/>
          </a:bodyPr>
          <a:lstStyle/>
          <a:p>
            <a:pPr algn="l">
              <a:lnSpc>
                <a:spcPct val="130000"/>
              </a:lnSpc>
            </a:pPr>
            <a:r>
              <a:rPr sz="1400" b="0" i="0">
                <a:solidFill>
                  <a:srgbClr val="0D2A50"/>
                </a:solidFill>
                <a:latin typeface="Nunito Sans"/>
              </a:rPr>
              <a:t>“Deze KBC-lening is voor jouw situatie niet de goedkoopste optie. Wil je dat ik uitleg waarom?”</a:t>
            </a:r>
          </a:p>
        </p:txBody>
      </p:sp>
      <p:sp>
        <p:nvSpPr>
          <p:cNvPr id="6" name="Rounded Rectangle 5"/>
          <p:cNvSpPr/>
          <p:nvPr/>
        </p:nvSpPr>
        <p:spPr>
          <a:xfrm>
            <a:off x="812800" y="4038600"/>
            <a:ext cx="5130800" cy="1143000"/>
          </a:xfrm>
          <a:prstGeom prst="roundRect">
            <a:avLst>
              <a:gd name="adj" fmla="val 8888"/>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52400" bIns="152400">
            <a:noAutofit/>
          </a:bodyPr>
          <a:lstStyle/>
          <a:p>
            <a:pPr algn="l">
              <a:lnSpc>
                <a:spcPct val="130000"/>
              </a:lnSpc>
            </a:pPr>
            <a:r>
              <a:rPr sz="1400" b="0" i="0">
                <a:solidFill>
                  <a:srgbClr val="0D2A50"/>
                </a:solidFill>
                <a:latin typeface="Nunito Sans"/>
              </a:rPr>
              <a:t>Vergeten abonnementen, dubbele verzekeringen of een te duur energiecontract: Kate spoort ze op en zegt ze op.</a:t>
            </a:r>
          </a:p>
        </p:txBody>
      </p:sp>
      <p:sp>
        <p:nvSpPr>
          <p:cNvPr id="7" name="Rectangle 6"/>
          <p:cNvSpPr/>
          <p:nvPr/>
        </p:nvSpPr>
        <p:spPr>
          <a:xfrm>
            <a:off x="6248400" y="1752600"/>
            <a:ext cx="50800" cy="952500"/>
          </a:xfrm>
          <a:prstGeom prst="rect">
            <a:avLst/>
          </a:prstGeom>
          <a:solidFill>
            <a:srgbClr val="FE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51600" y="1752600"/>
            <a:ext cx="4927600" cy="1016000"/>
          </a:xfrm>
          <a:prstGeom prst="rect">
            <a:avLst/>
          </a:prstGeom>
          <a:noFill/>
        </p:spPr>
        <p:txBody>
          <a:bodyPr wrap="square" anchor="t" lIns="0" rIns="0" tIns="0" bIns="0">
            <a:noAutofit/>
          </a:bodyPr>
          <a:lstStyle/>
          <a:p>
            <a:pPr algn="l">
              <a:lnSpc>
                <a:spcPct val="110000"/>
              </a:lnSpc>
            </a:pPr>
            <a:r>
              <a:rPr sz="1800" b="1" i="0">
                <a:solidFill>
                  <a:srgbClr val="0D2A50"/>
                </a:solidFill>
                <a:latin typeface="Nunito Sans"/>
              </a:rPr>
              <a:t>Vertrouwen wordt meetbaar</a:t>
            </a:r>
          </a:p>
          <a:p>
            <a:pPr algn="l">
              <a:lnSpc>
                <a:spcPct val="125000"/>
              </a:lnSpc>
              <a:spcBef>
                <a:spcPts val="400"/>
              </a:spcBef>
            </a:pPr>
            <a:r>
              <a:rPr sz="1400" b="0" i="0">
                <a:solidFill>
                  <a:srgbClr val="45658F"/>
                </a:solidFill>
                <a:latin typeface="Nunito Sans"/>
              </a:rPr>
              <a:t>Wie één keer merkt dat de bank tegen haar eigen omzet in adviseerde, gelooft elk volgend advies.</a:t>
            </a:r>
          </a:p>
        </p:txBody>
      </p:sp>
      <p:sp>
        <p:nvSpPr>
          <p:cNvPr id="9" name="Rectangle 8"/>
          <p:cNvSpPr/>
          <p:nvPr/>
        </p:nvSpPr>
        <p:spPr>
          <a:xfrm>
            <a:off x="6248400" y="2870200"/>
            <a:ext cx="50800" cy="952500"/>
          </a:xfrm>
          <a:prstGeom prst="rect">
            <a:avLst/>
          </a:prstGeom>
          <a:solidFill>
            <a:srgbClr val="FE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600" y="2870200"/>
            <a:ext cx="4927600" cy="1016000"/>
          </a:xfrm>
          <a:prstGeom prst="rect">
            <a:avLst/>
          </a:prstGeom>
          <a:noFill/>
        </p:spPr>
        <p:txBody>
          <a:bodyPr wrap="square" anchor="t" lIns="0" rIns="0" tIns="0" bIns="0">
            <a:noAutofit/>
          </a:bodyPr>
          <a:lstStyle/>
          <a:p>
            <a:pPr algn="l">
              <a:lnSpc>
                <a:spcPct val="110000"/>
              </a:lnSpc>
            </a:pPr>
            <a:r>
              <a:rPr sz="1800" b="1" i="0">
                <a:solidFill>
                  <a:srgbClr val="0D2A50"/>
                </a:solidFill>
                <a:latin typeface="Nunito Sans"/>
              </a:rPr>
              <a:t>Levenslange waarde boven marge</a:t>
            </a:r>
          </a:p>
          <a:p>
            <a:pPr algn="l">
              <a:lnSpc>
                <a:spcPct val="125000"/>
              </a:lnSpc>
              <a:spcBef>
                <a:spcPts val="400"/>
              </a:spcBef>
            </a:pPr>
            <a:r>
              <a:rPr sz="1400" b="0" i="0">
                <a:solidFill>
                  <a:srgbClr val="45658F"/>
                </a:solidFill>
                <a:latin typeface="Nunito Sans"/>
              </a:rPr>
              <a:t>Een klant die blijft, is meer waard dan één extra verkochte polis.</a:t>
            </a:r>
          </a:p>
        </p:txBody>
      </p:sp>
      <p:sp>
        <p:nvSpPr>
          <p:cNvPr id="11" name="Rectangle 10"/>
          <p:cNvSpPr/>
          <p:nvPr/>
        </p:nvSpPr>
        <p:spPr>
          <a:xfrm>
            <a:off x="6248400" y="3987800"/>
            <a:ext cx="50800" cy="952500"/>
          </a:xfrm>
          <a:prstGeom prst="rect">
            <a:avLst/>
          </a:prstGeom>
          <a:solidFill>
            <a:srgbClr val="FE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51600" y="3987800"/>
            <a:ext cx="4927600" cy="1016000"/>
          </a:xfrm>
          <a:prstGeom prst="rect">
            <a:avLst/>
          </a:prstGeom>
          <a:noFill/>
        </p:spPr>
        <p:txBody>
          <a:bodyPr wrap="square" anchor="t" lIns="0" rIns="0" tIns="0" bIns="0">
            <a:noAutofit/>
          </a:bodyPr>
          <a:lstStyle/>
          <a:p>
            <a:pPr algn="l">
              <a:lnSpc>
                <a:spcPct val="110000"/>
              </a:lnSpc>
            </a:pPr>
            <a:r>
              <a:rPr sz="1800" b="1" i="0">
                <a:solidFill>
                  <a:srgbClr val="0D2A50"/>
                </a:solidFill>
                <a:latin typeface="Nunito Sans"/>
              </a:rPr>
              <a:t>Differentiatie</a:t>
            </a:r>
          </a:p>
          <a:p>
            <a:pPr algn="l">
              <a:lnSpc>
                <a:spcPct val="125000"/>
              </a:lnSpc>
              <a:spcBef>
                <a:spcPts val="400"/>
              </a:spcBef>
            </a:pPr>
            <a:r>
              <a:rPr sz="1400" b="0" i="0">
                <a:solidFill>
                  <a:srgbClr val="45658F"/>
                </a:solidFill>
                <a:latin typeface="Nunito Sans"/>
              </a:rPr>
              <a:t>Elke bank kan personaliseren. Geen enkele bank durft te zeggen dat haar assistent tegen haarzelf in aan jouw kant staat.</a:t>
            </a:r>
          </a:p>
        </p:txBody>
      </p:sp>
      <p:sp>
        <p:nvSpPr>
          <p:cNvPr id="13" name="TextBox 12"/>
          <p:cNvSpPr txBox="1"/>
          <p:nvPr/>
        </p:nvSpPr>
        <p:spPr>
          <a:xfrm>
            <a:off x="812800" y="6350000"/>
            <a:ext cx="8890000" cy="215900"/>
          </a:xfrm>
          <a:prstGeom prst="rect">
            <a:avLst/>
          </a:prstGeom>
          <a:noFill/>
        </p:spPr>
        <p:txBody>
          <a:bodyPr wrap="square" anchor="t" lIns="0" rIns="0" tIns="0" bIns="0">
            <a:noAutofit/>
          </a:bodyPr>
          <a:lstStyle/>
          <a:p>
            <a:pPr algn="l">
              <a:lnSpc>
                <a:spcPct val="125000"/>
              </a:lnSpc>
            </a:pPr>
            <a:r>
              <a:rPr sz="1100" b="0" i="0">
                <a:solidFill>
                  <a:srgbClr val="45658F"/>
                </a:solidFill>
                <a:latin typeface="Nunito Sans"/>
              </a:rPr>
              <a:t>Context: 41% van de Belgen geeft €200 tot €500 per maand uit aan abonnementen (ING-rondvraag)</a:t>
            </a:r>
          </a:p>
        </p:txBody>
      </p:sp>
      <p:sp>
        <p:nvSpPr>
          <p:cNvPr id="14" name="TextBox 13"/>
          <p:cNvSpPr txBox="1"/>
          <p:nvPr/>
        </p:nvSpPr>
        <p:spPr>
          <a:xfrm>
            <a:off x="10109200" y="6350000"/>
            <a:ext cx="1270000" cy="215900"/>
          </a:xfrm>
          <a:prstGeom prst="rect">
            <a:avLst/>
          </a:prstGeom>
          <a:noFill/>
        </p:spPr>
        <p:txBody>
          <a:bodyPr wrap="square" anchor="t" lIns="0" rIns="0" tIns="0" bIns="0">
            <a:noAutofit/>
          </a:bodyPr>
          <a:lstStyle/>
          <a:p>
            <a:pPr algn="r">
              <a:lnSpc>
                <a:spcPct val="125000"/>
              </a:lnSpc>
            </a:pPr>
            <a:r>
              <a:rPr sz="1100" b="0" i="0">
                <a:solidFill>
                  <a:srgbClr val="45658F"/>
                </a:solidFill>
                <a:latin typeface="Nunito Sans"/>
              </a:rPr>
              <a:t>11 / 23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4" fill="hold">
                            <p:stCondLst>
                              <p:cond delay="0"/>
                            </p:stCondLst>
                            <p:childTnLst>
                              <p:par>
                                <p:cTn id="4" presetID="42"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ppt_y+.08"/>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p:cTn id="12" dur="500" fill="hold"/>
                                        <p:tgtEl>
                                          <p:spTgt spid="3"/>
                                        </p:tgtEl>
                                        <p:attrNameLst>
                                          <p:attrName>ppt_x</p:attrName>
                                        </p:attrNameLst>
                                      </p:cBhvr>
                                      <p:tavLst>
                                        <p:tav tm="0">
                                          <p:val>
                                            <p:strVal val="#ppt_x"/>
                                          </p:val>
                                        </p:tav>
                                        <p:tav tm="100000">
                                          <p:val>
                                            <p:strVal val="#ppt_x"/>
                                          </p:val>
                                        </p:tav>
                                      </p:tavLst>
                                    </p:anim>
                                    <p:anim calcmode="lin" valueType="num">
                                      <p:cBhvr>
                                        <p:cTn id="13" dur="500" fill="hold"/>
                                        <p:tgtEl>
                                          <p:spTgt spid="3"/>
                                        </p:tgtEl>
                                        <p:attrNameLst>
                                          <p:attrName>ppt_y</p:attrName>
                                        </p:attrNameLst>
                                      </p:cBhvr>
                                      <p:tavLst>
                                        <p:tav tm="0">
                                          <p:val>
                                            <p:strVal val="#ppt_y+.08"/>
                                          </p:val>
                                        </p:tav>
                                        <p:tav tm="100000">
                                          <p:val>
                                            <p:strVal val="#ppt_y"/>
                                          </p:val>
                                        </p:tav>
                                      </p:tavLst>
                                    </p:anim>
                                  </p:childTnLst>
                                </p:cTn>
                              </p:par>
                            </p:childTnLst>
                          </p:cTn>
                        </p:par>
                        <p:par>
                          <p:cTn id="20" fill="hold">
                            <p:stCondLst>
                              <p:cond delay="350"/>
                            </p:stCondLst>
                            <p:childTnLst>
                              <p:par>
                                <p:cTn id="15" presetID="42" presetClass="entr" presetSubtype="0"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400"/>
                                        <p:tgtEl>
                                          <p:spTgt spid="4"/>
                                        </p:tgtEl>
                                      </p:cBhvr>
                                    </p:animEffect>
                                    <p:anim calcmode="lin" valueType="num">
                                      <p:cBhvr>
                                        <p:cTn id="18" dur="400" fill="hold"/>
                                        <p:tgtEl>
                                          <p:spTgt spid="4"/>
                                        </p:tgtEl>
                                        <p:attrNameLst>
                                          <p:attrName>ppt_x</p:attrName>
                                        </p:attrNameLst>
                                      </p:cBhvr>
                                      <p:tavLst>
                                        <p:tav tm="0">
                                          <p:val>
                                            <p:strVal val="#ppt_x"/>
                                          </p:val>
                                        </p:tav>
                                        <p:tav tm="100000">
                                          <p:val>
                                            <p:strVal val="#ppt_x"/>
                                          </p:val>
                                        </p:tav>
                                      </p:tavLst>
                                    </p:anim>
                                    <p:anim calcmode="lin" valueType="num">
                                      <p:cBhvr>
                                        <p:cTn id="19" dur="400" fill="hold"/>
                                        <p:tgtEl>
                                          <p:spTgt spid="4"/>
                                        </p:tgtEl>
                                        <p:attrNameLst>
                                          <p:attrName>ppt_y</p:attrName>
                                        </p:attrNameLst>
                                      </p:cBhvr>
                                      <p:tavLst>
                                        <p:tav tm="0">
                                          <p:val>
                                            <p:strVal val="#ppt_y+.08"/>
                                          </p:val>
                                        </p:tav>
                                        <p:tav tm="100000">
                                          <p:val>
                                            <p:strVal val="#ppt_y"/>
                                          </p:val>
                                        </p:tav>
                                      </p:tavLst>
                                    </p:anim>
                                  </p:childTnLst>
                                </p:cTn>
                              </p:par>
                            </p:childTnLst>
                          </p:cTn>
                        </p:par>
                        <p:par>
                          <p:cTn id="26" fill="hold">
                            <p:stCondLst>
                              <p:cond delay="630"/>
                            </p:stCondLst>
                            <p:childTnLst>
                              <p:par>
                                <p:cTn id="21" presetID="42" presetClass="entr" presetSubtype="0"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400"/>
                                        <p:tgtEl>
                                          <p:spTgt spid="5"/>
                                        </p:tgtEl>
                                      </p:cBhvr>
                                    </p:animEffect>
                                    <p:anim calcmode="lin" valueType="num">
                                      <p:cBhvr>
                                        <p:cTn id="24" dur="400" fill="hold"/>
                                        <p:tgtEl>
                                          <p:spTgt spid="5"/>
                                        </p:tgtEl>
                                        <p:attrNameLst>
                                          <p:attrName>ppt_x</p:attrName>
                                        </p:attrNameLst>
                                      </p:cBhvr>
                                      <p:tavLst>
                                        <p:tav tm="0">
                                          <p:val>
                                            <p:strVal val="#ppt_x"/>
                                          </p:val>
                                        </p:tav>
                                        <p:tav tm="100000">
                                          <p:val>
                                            <p:strVal val="#ppt_x"/>
                                          </p:val>
                                        </p:tav>
                                      </p:tavLst>
                                    </p:anim>
                                    <p:anim calcmode="lin" valueType="num">
                                      <p:cBhvr>
                                        <p:cTn id="25" dur="400" fill="hold"/>
                                        <p:tgtEl>
                                          <p:spTgt spid="5"/>
                                        </p:tgtEl>
                                        <p:attrNameLst>
                                          <p:attrName>ppt_y</p:attrName>
                                        </p:attrNameLst>
                                      </p:cBhvr>
                                      <p:tavLst>
                                        <p:tav tm="0">
                                          <p:val>
                                            <p:strVal val="#ppt_y+.08"/>
                                          </p:val>
                                        </p:tav>
                                        <p:tav tm="100000">
                                          <p:val>
                                            <p:strVal val="#ppt_y"/>
                                          </p:val>
                                        </p:tav>
                                      </p:tavLst>
                                    </p:anim>
                                  </p:childTnLst>
                                </p:cTn>
                              </p:par>
                            </p:childTnLst>
                          </p:cTn>
                        </p:par>
                        <p:par>
                          <p:cTn id="32" fill="hold">
                            <p:stCondLst>
                              <p:cond delay="910"/>
                            </p:stCondLst>
                            <p:childTnLst>
                              <p:par>
                                <p:cTn id="27" presetID="42" presetClass="entr" presetSubtype="0" fill="hold" grpId="0"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400"/>
                                        <p:tgtEl>
                                          <p:spTgt spid="6"/>
                                        </p:tgtEl>
                                      </p:cBhvr>
                                    </p:animEffect>
                                    <p:anim calcmode="lin" valueType="num">
                                      <p:cBhvr>
                                        <p:cTn id="30" dur="400" fill="hold"/>
                                        <p:tgtEl>
                                          <p:spTgt spid="6"/>
                                        </p:tgtEl>
                                        <p:attrNameLst>
                                          <p:attrName>ppt_x</p:attrName>
                                        </p:attrNameLst>
                                      </p:cBhvr>
                                      <p:tavLst>
                                        <p:tav tm="0">
                                          <p:val>
                                            <p:strVal val="#ppt_x"/>
                                          </p:val>
                                        </p:tav>
                                        <p:tav tm="100000">
                                          <p:val>
                                            <p:strVal val="#ppt_x"/>
                                          </p:val>
                                        </p:tav>
                                      </p:tavLst>
                                    </p:anim>
                                    <p:anim calcmode="lin" valueType="num">
                                      <p:cBhvr>
                                        <p:cTn id="31" dur="400" fill="hold"/>
                                        <p:tgtEl>
                                          <p:spTgt spid="6"/>
                                        </p:tgtEl>
                                        <p:attrNameLst>
                                          <p:attrName>ppt_y</p:attrName>
                                        </p:attrNameLst>
                                      </p:cBhvr>
                                      <p:tavLst>
                                        <p:tav tm="0">
                                          <p:val>
                                            <p:strVal val="#ppt_y+.08"/>
                                          </p:val>
                                        </p:tav>
                                        <p:tav tm="100000">
                                          <p:val>
                                            <p:strVal val="#ppt_y"/>
                                          </p:val>
                                        </p:tav>
                                      </p:tavLst>
                                    </p:anim>
                                  </p:childTnLst>
                                </p:cTn>
                              </p:par>
                            </p:childTnLst>
                          </p:cTn>
                        </p:par>
                        <p:par>
                          <p:cTn id="43" fill="hold">
                            <p:stCondLst>
                              <p:cond delay="1190"/>
                            </p:stCondLst>
                            <p:childTnLst>
                              <p:par>
                                <p:cTn id="33" presetID="42" presetClass="entr" presetSubtype="0" fill="hold" grpId="0"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400"/>
                                        <p:tgtEl>
                                          <p:spTgt spid="7"/>
                                        </p:tgtEl>
                                      </p:cBhvr>
                                    </p:animEffect>
                                    <p:anim calcmode="lin" valueType="num">
                                      <p:cBhvr>
                                        <p:cTn id="36" dur="400" fill="hold"/>
                                        <p:tgtEl>
                                          <p:spTgt spid="7"/>
                                        </p:tgtEl>
                                        <p:attrNameLst>
                                          <p:attrName>ppt_x</p:attrName>
                                        </p:attrNameLst>
                                      </p:cBhvr>
                                      <p:tavLst>
                                        <p:tav tm="0">
                                          <p:val>
                                            <p:strVal val="#ppt_x"/>
                                          </p:val>
                                        </p:tav>
                                        <p:tav tm="100000">
                                          <p:val>
                                            <p:strVal val="#ppt_x"/>
                                          </p:val>
                                        </p:tav>
                                      </p:tavLst>
                                    </p:anim>
                                    <p:anim calcmode="lin" valueType="num">
                                      <p:cBhvr>
                                        <p:cTn id="37" dur="400" fill="hold"/>
                                        <p:tgtEl>
                                          <p:spTgt spid="7"/>
                                        </p:tgtEl>
                                        <p:attrNameLst>
                                          <p:attrName>ppt_y</p:attrName>
                                        </p:attrNameLst>
                                      </p:cBhvr>
                                      <p:tavLst>
                                        <p:tav tm="0">
                                          <p:val>
                                            <p:strVal val="#ppt_y+.08"/>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400"/>
                                        <p:tgtEl>
                                          <p:spTgt spid="8"/>
                                        </p:tgtEl>
                                      </p:cBhvr>
                                    </p:animEffect>
                                    <p:anim calcmode="lin" valueType="num">
                                      <p:cBhvr>
                                        <p:cTn id="41" dur="400" fill="hold"/>
                                        <p:tgtEl>
                                          <p:spTgt spid="8"/>
                                        </p:tgtEl>
                                        <p:attrNameLst>
                                          <p:attrName>ppt_x</p:attrName>
                                        </p:attrNameLst>
                                      </p:cBhvr>
                                      <p:tavLst>
                                        <p:tav tm="0">
                                          <p:val>
                                            <p:strVal val="#ppt_x"/>
                                          </p:val>
                                        </p:tav>
                                        <p:tav tm="100000">
                                          <p:val>
                                            <p:strVal val="#ppt_x"/>
                                          </p:val>
                                        </p:tav>
                                      </p:tavLst>
                                    </p:anim>
                                    <p:anim calcmode="lin" valueType="num">
                                      <p:cBhvr>
                                        <p:cTn id="42" dur="400" fill="hold"/>
                                        <p:tgtEl>
                                          <p:spTgt spid="8"/>
                                        </p:tgtEl>
                                        <p:attrNameLst>
                                          <p:attrName>ppt_y</p:attrName>
                                        </p:attrNameLst>
                                      </p:cBhvr>
                                      <p:tavLst>
                                        <p:tav tm="0">
                                          <p:val>
                                            <p:strVal val="#ppt_y+.08"/>
                                          </p:val>
                                        </p:tav>
                                        <p:tav tm="100000">
                                          <p:val>
                                            <p:strVal val="#ppt_y"/>
                                          </p:val>
                                        </p:tav>
                                      </p:tavLst>
                                    </p:anim>
                                  </p:childTnLst>
                                </p:cTn>
                              </p:par>
                            </p:childTnLst>
                          </p:cTn>
                        </p:par>
                        <p:par>
                          <p:cTn id="54" fill="hold">
                            <p:stCondLst>
                              <p:cond delay="1470"/>
                            </p:stCondLst>
                            <p:childTnLst>
                              <p:par>
                                <p:cTn id="44" presetID="42" presetClass="entr" presetSubtype="0" fill="hold" grpId="0" nodeType="after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400"/>
                                        <p:tgtEl>
                                          <p:spTgt spid="9"/>
                                        </p:tgtEl>
                                      </p:cBhvr>
                                    </p:animEffect>
                                    <p:anim calcmode="lin" valueType="num">
                                      <p:cBhvr>
                                        <p:cTn id="47" dur="400" fill="hold"/>
                                        <p:tgtEl>
                                          <p:spTgt spid="9"/>
                                        </p:tgtEl>
                                        <p:attrNameLst>
                                          <p:attrName>ppt_x</p:attrName>
                                        </p:attrNameLst>
                                      </p:cBhvr>
                                      <p:tavLst>
                                        <p:tav tm="0">
                                          <p:val>
                                            <p:strVal val="#ppt_x"/>
                                          </p:val>
                                        </p:tav>
                                        <p:tav tm="100000">
                                          <p:val>
                                            <p:strVal val="#ppt_x"/>
                                          </p:val>
                                        </p:tav>
                                      </p:tavLst>
                                    </p:anim>
                                    <p:anim calcmode="lin" valueType="num">
                                      <p:cBhvr>
                                        <p:cTn id="48" dur="400" fill="hold"/>
                                        <p:tgtEl>
                                          <p:spTgt spid="9"/>
                                        </p:tgtEl>
                                        <p:attrNameLst>
                                          <p:attrName>ppt_y</p:attrName>
                                        </p:attrNameLst>
                                      </p:cBhvr>
                                      <p:tavLst>
                                        <p:tav tm="0">
                                          <p:val>
                                            <p:strVal val="#ppt_y+.08"/>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400"/>
                                        <p:tgtEl>
                                          <p:spTgt spid="10"/>
                                        </p:tgtEl>
                                      </p:cBhvr>
                                    </p:animEffect>
                                    <p:anim calcmode="lin" valueType="num">
                                      <p:cBhvr>
                                        <p:cTn id="52" dur="400" fill="hold"/>
                                        <p:tgtEl>
                                          <p:spTgt spid="10"/>
                                        </p:tgtEl>
                                        <p:attrNameLst>
                                          <p:attrName>ppt_x</p:attrName>
                                        </p:attrNameLst>
                                      </p:cBhvr>
                                      <p:tavLst>
                                        <p:tav tm="0">
                                          <p:val>
                                            <p:strVal val="#ppt_x"/>
                                          </p:val>
                                        </p:tav>
                                        <p:tav tm="100000">
                                          <p:val>
                                            <p:strVal val="#ppt_x"/>
                                          </p:val>
                                        </p:tav>
                                      </p:tavLst>
                                    </p:anim>
                                    <p:anim calcmode="lin" valueType="num">
                                      <p:cBhvr>
                                        <p:cTn id="53" dur="400" fill="hold"/>
                                        <p:tgtEl>
                                          <p:spTgt spid="10"/>
                                        </p:tgtEl>
                                        <p:attrNameLst>
                                          <p:attrName>ppt_y</p:attrName>
                                        </p:attrNameLst>
                                      </p:cBhvr>
                                      <p:tavLst>
                                        <p:tav tm="0">
                                          <p:val>
                                            <p:strVal val="#ppt_y+.08"/>
                                          </p:val>
                                        </p:tav>
                                        <p:tav tm="100000">
                                          <p:val>
                                            <p:strVal val="#ppt_y"/>
                                          </p:val>
                                        </p:tav>
                                      </p:tavLst>
                                    </p:anim>
                                  </p:childTnLst>
                                </p:cTn>
                              </p:par>
                            </p:childTnLst>
                          </p:cTn>
                        </p:par>
                        <p:par>
                          <p:cTn id="65" fill="hold">
                            <p:stCondLst>
                              <p:cond delay="1750"/>
                            </p:stCondLst>
                            <p:childTnLst>
                              <p:par>
                                <p:cTn id="55" presetID="42" presetClass="entr" presetSubtype="0" fill="hold" grpId="0" nodeType="after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fade">
                                      <p:cBhvr>
                                        <p:cTn id="57" dur="400"/>
                                        <p:tgtEl>
                                          <p:spTgt spid="11"/>
                                        </p:tgtEl>
                                      </p:cBhvr>
                                    </p:animEffect>
                                    <p:anim calcmode="lin" valueType="num">
                                      <p:cBhvr>
                                        <p:cTn id="58" dur="400" fill="hold"/>
                                        <p:tgtEl>
                                          <p:spTgt spid="11"/>
                                        </p:tgtEl>
                                        <p:attrNameLst>
                                          <p:attrName>ppt_x</p:attrName>
                                        </p:attrNameLst>
                                      </p:cBhvr>
                                      <p:tavLst>
                                        <p:tav tm="0">
                                          <p:val>
                                            <p:strVal val="#ppt_x"/>
                                          </p:val>
                                        </p:tav>
                                        <p:tav tm="100000">
                                          <p:val>
                                            <p:strVal val="#ppt_x"/>
                                          </p:val>
                                        </p:tav>
                                      </p:tavLst>
                                    </p:anim>
                                    <p:anim calcmode="lin" valueType="num">
                                      <p:cBhvr>
                                        <p:cTn id="59" dur="400" fill="hold"/>
                                        <p:tgtEl>
                                          <p:spTgt spid="11"/>
                                        </p:tgtEl>
                                        <p:attrNameLst>
                                          <p:attrName>ppt_y</p:attrName>
                                        </p:attrNameLst>
                                      </p:cBhvr>
                                      <p:tavLst>
                                        <p:tav tm="0">
                                          <p:val>
                                            <p:strVal val="#ppt_y+.08"/>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fade">
                                      <p:cBhvr>
                                        <p:cTn id="62" dur="400"/>
                                        <p:tgtEl>
                                          <p:spTgt spid="12"/>
                                        </p:tgtEl>
                                      </p:cBhvr>
                                    </p:animEffect>
                                    <p:anim calcmode="lin" valueType="num">
                                      <p:cBhvr>
                                        <p:cTn id="63" dur="400" fill="hold"/>
                                        <p:tgtEl>
                                          <p:spTgt spid="12"/>
                                        </p:tgtEl>
                                        <p:attrNameLst>
                                          <p:attrName>ppt_x</p:attrName>
                                        </p:attrNameLst>
                                      </p:cBhvr>
                                      <p:tavLst>
                                        <p:tav tm="0">
                                          <p:val>
                                            <p:strVal val="#ppt_x"/>
                                          </p:val>
                                        </p:tav>
                                        <p:tav tm="100000">
                                          <p:val>
                                            <p:strVal val="#ppt_x"/>
                                          </p:val>
                                        </p:tav>
                                      </p:tavLst>
                                    </p:anim>
                                    <p:anim calcmode="lin" valueType="num">
                                      <p:cBhvr>
                                        <p:cTn id="64" dur="400" fill="hold"/>
                                        <p:tgtEl>
                                          <p:spTgt spid="12"/>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2A50"/>
        </a:solidFill>
        <a:effectLst/>
      </p:bgPr>
    </p:bg>
    <p:spTree>
      <p:nvGrpSpPr>
        <p:cNvPr id="1" name=""/>
        <p:cNvGrpSpPr/>
        <p:nvPr/>
      </p:nvGrpSpPr>
      <p:grpSpPr/>
      <p:pic>
        <p:nvPicPr>
          <p:cNvPr id="2" name="Picture 1" descr="storm_d.gif"/>
          <p:cNvPicPr>
            <a:picLocks noChangeAspect="1"/>
          </p:cNvPicPr>
          <p:nvPr/>
        </p:nvPicPr>
        <p:blipFill>
          <a:blip r:embed="rId3"/>
          <a:stretch>
            <a:fillRect/>
          </a:stretch>
        </p:blipFill>
        <p:spPr>
          <a:xfrm>
            <a:off x="9789583" y="381000"/>
            <a:ext cx="1375833" cy="1587500"/>
          </a:xfrm>
          <a:prstGeom prst="rect">
            <a:avLst/>
          </a:prstGeom>
        </p:spPr>
      </p:pic>
      <p:sp>
        <p:nvSpPr>
          <p:cNvPr id="3" name="TextBox 2"/>
          <p:cNvSpPr txBox="1"/>
          <p:nvPr/>
        </p:nvSpPr>
        <p:spPr>
          <a:xfrm>
            <a:off x="812800" y="711200"/>
            <a:ext cx="10566400" cy="228600"/>
          </a:xfrm>
          <a:prstGeom prst="rect">
            <a:avLst/>
          </a:prstGeom>
          <a:noFill/>
        </p:spPr>
        <p:txBody>
          <a:bodyPr wrap="square" anchor="t" lIns="0" rIns="0" tIns="0" bIns="0">
            <a:noAutofit/>
          </a:bodyPr>
          <a:lstStyle/>
          <a:p>
            <a:pPr algn="l">
              <a:lnSpc>
                <a:spcPct val="125000"/>
              </a:lnSpc>
            </a:pPr>
            <a:r>
              <a:rPr sz="1200" b="1" i="0" cap="all" spc="300">
                <a:solidFill>
                  <a:srgbClr val="46ADE0"/>
                </a:solidFill>
                <a:latin typeface="Nunito Sans"/>
              </a:rPr>
              <a:t>Weerwaarschuwingen</a:t>
            </a:r>
          </a:p>
        </p:txBody>
      </p:sp>
      <p:sp>
        <p:nvSpPr>
          <p:cNvPr id="4" name="TextBox 3"/>
          <p:cNvSpPr txBox="1"/>
          <p:nvPr/>
        </p:nvSpPr>
        <p:spPr>
          <a:xfrm>
            <a:off x="812800" y="990600"/>
            <a:ext cx="10566400" cy="508000"/>
          </a:xfrm>
          <a:prstGeom prst="rect">
            <a:avLst/>
          </a:prstGeom>
          <a:noFill/>
        </p:spPr>
        <p:txBody>
          <a:bodyPr wrap="square" anchor="t" lIns="0" rIns="0" tIns="0" bIns="0">
            <a:noAutofit/>
          </a:bodyPr>
          <a:lstStyle/>
          <a:p>
            <a:pPr algn="l">
              <a:lnSpc>
                <a:spcPct val="105000"/>
              </a:lnSpc>
            </a:pPr>
            <a:r>
              <a:rPr sz="3600" b="1" i="0">
                <a:solidFill>
                  <a:srgbClr val="FFFFFF"/>
                </a:solidFill>
                <a:latin typeface="Nunito Sans"/>
              </a:rPr>
              <a:t>Soms beschermen, soms zwijgen</a:t>
            </a:r>
          </a:p>
        </p:txBody>
      </p:sp>
      <p:sp>
        <p:nvSpPr>
          <p:cNvPr id="5" name="Rounded Rectangle 4"/>
          <p:cNvSpPr/>
          <p:nvPr/>
        </p:nvSpPr>
        <p:spPr>
          <a:xfrm>
            <a:off x="812800" y="1841500"/>
            <a:ext cx="3403600" cy="3937000"/>
          </a:xfrm>
          <a:prstGeom prst="roundRect">
            <a:avLst>
              <a:gd name="adj" fmla="val 2985"/>
            </a:avLst>
          </a:prstGeom>
          <a:solidFill>
            <a:srgbClr val="021E43"/>
          </a:solidFill>
          <a:ln w="12700">
            <a:solidFill>
              <a:srgbClr val="1E4474"/>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79400" bIns="279400">
            <a:noAutofit/>
          </a:bodyPr>
          <a:lstStyle/>
          <a:p>
            <a:pPr algn="l">
              <a:lnSpc>
                <a:spcPct val="125000"/>
              </a:lnSpc>
            </a:pPr>
            <a:r>
              <a:rPr sz="1200" b="1" i="0" cap="all" spc="300">
                <a:solidFill>
                  <a:srgbClr val="FFFFFF"/>
                </a:solidFill>
                <a:latin typeface="Nunito Sans"/>
              </a:rPr>
              <a:t>Code oranje</a:t>
            </a:r>
          </a:p>
          <a:p>
            <a:pPr algn="l">
              <a:lnSpc>
                <a:spcPct val="110000"/>
              </a:lnSpc>
              <a:spcBef>
                <a:spcPts val="500"/>
              </a:spcBef>
            </a:pPr>
            <a:r>
              <a:rPr sz="2200" b="1" i="0">
                <a:solidFill>
                  <a:srgbClr val="FFFFFF"/>
                </a:solidFill>
                <a:latin typeface="Nunito Sans"/>
              </a:rPr>
              <a:t>Financiële nood</a:t>
            </a:r>
          </a:p>
          <a:p>
            <a:pPr algn="l">
              <a:lnSpc>
                <a:spcPct val="130000"/>
              </a:lnSpc>
              <a:spcBef>
                <a:spcPts val="900"/>
              </a:spcBef>
            </a:pPr>
            <a:r>
              <a:rPr sz="1400" b="1" i="0">
                <a:solidFill>
                  <a:srgbClr val="FFFFFF"/>
                </a:solidFill>
                <a:latin typeface="Nunito Sans"/>
              </a:rPr>
              <a:t>Signaal.</a:t>
            </a:r>
            <a:r>
              <a:rPr sz="1400" b="0" i="0">
                <a:solidFill>
                  <a:srgbClr val="BFDAFF"/>
                </a:solidFill>
                <a:latin typeface="Nunito Sans"/>
              </a:rPr>
              <a:t> Stijgend gokpatroon, voor het eerst uitgestelde betalingen, een loon dat wegvalt.</a:t>
            </a:r>
          </a:p>
          <a:p>
            <a:pPr algn="l">
              <a:lnSpc>
                <a:spcPct val="130000"/>
              </a:lnSpc>
              <a:spcBef>
                <a:spcPts val="700"/>
              </a:spcBef>
            </a:pPr>
            <a:r>
              <a:rPr sz="1400" b="1" i="0">
                <a:solidFill>
                  <a:srgbClr val="FFFFFF"/>
                </a:solidFill>
                <a:latin typeface="Nunito Sans"/>
              </a:rPr>
              <a:t>Kate.</a:t>
            </a:r>
            <a:r>
              <a:rPr sz="1400" b="0" i="0">
                <a:solidFill>
                  <a:srgbClr val="BFDAFF"/>
                </a:solidFill>
                <a:latin typeface="Nunito Sans"/>
              </a:rPr>
              <a:t> Kate grijpt menselijk en vroeg in: een gesprek, een betalingsplan, doorverwijzing naar hulp.</a:t>
            </a:r>
          </a:p>
        </p:txBody>
      </p:sp>
      <p:sp>
        <p:nvSpPr>
          <p:cNvPr id="6" name="Rectangle 5"/>
          <p:cNvSpPr/>
          <p:nvPr/>
        </p:nvSpPr>
        <p:spPr>
          <a:xfrm>
            <a:off x="812800" y="1841500"/>
            <a:ext cx="3403600" cy="88900"/>
          </a:xfrm>
          <a:prstGeom prst="rect">
            <a:avLst/>
          </a:prstGeom>
          <a:solidFill>
            <a:srgbClr val="F29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394200" y="1841500"/>
            <a:ext cx="3403600" cy="3937000"/>
          </a:xfrm>
          <a:prstGeom prst="roundRect">
            <a:avLst>
              <a:gd name="adj" fmla="val 2985"/>
            </a:avLst>
          </a:prstGeom>
          <a:solidFill>
            <a:srgbClr val="021E43"/>
          </a:solidFill>
          <a:ln w="12700">
            <a:solidFill>
              <a:srgbClr val="1E4474"/>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79400" bIns="279400">
            <a:noAutofit/>
          </a:bodyPr>
          <a:lstStyle/>
          <a:p>
            <a:pPr algn="l">
              <a:lnSpc>
                <a:spcPct val="125000"/>
              </a:lnSpc>
            </a:pPr>
            <a:r>
              <a:rPr sz="1200" b="1" i="0" cap="all" spc="300">
                <a:solidFill>
                  <a:srgbClr val="FFFFFF"/>
                </a:solidFill>
                <a:latin typeface="Nunito Sans"/>
              </a:rPr>
              <a:t>Code rood</a:t>
            </a:r>
          </a:p>
          <a:p>
            <a:pPr algn="l">
              <a:lnSpc>
                <a:spcPct val="110000"/>
              </a:lnSpc>
              <a:spcBef>
                <a:spcPts val="500"/>
              </a:spcBef>
            </a:pPr>
            <a:r>
              <a:rPr sz="2200" b="1" i="0">
                <a:solidFill>
                  <a:srgbClr val="FFFFFF"/>
                </a:solidFill>
                <a:latin typeface="Nunito Sans"/>
              </a:rPr>
              <a:t>Fraude</a:t>
            </a:r>
          </a:p>
          <a:p>
            <a:pPr algn="l">
              <a:lnSpc>
                <a:spcPct val="130000"/>
              </a:lnSpc>
              <a:spcBef>
                <a:spcPts val="900"/>
              </a:spcBef>
            </a:pPr>
            <a:r>
              <a:rPr sz="1400" b="1" i="0">
                <a:solidFill>
                  <a:srgbClr val="FFFFFF"/>
                </a:solidFill>
                <a:latin typeface="Nunito Sans"/>
              </a:rPr>
              <a:t>Signaal.</a:t>
            </a:r>
            <a:r>
              <a:rPr sz="1400" b="0" i="0">
                <a:solidFill>
                  <a:srgbClr val="BFDAFF"/>
                </a:solidFill>
                <a:latin typeface="Nunito Sans"/>
              </a:rPr>
              <a:t> Eerste overschrijving naar een onbekend IBAN na een “hallo mama, nieuw nummer”-bericht, of een oudere klant die afwijkt van een patroon van jaren.</a:t>
            </a:r>
          </a:p>
          <a:p>
            <a:pPr algn="l">
              <a:lnSpc>
                <a:spcPct val="130000"/>
              </a:lnSpc>
              <a:spcBef>
                <a:spcPts val="700"/>
              </a:spcBef>
            </a:pPr>
            <a:r>
              <a:rPr sz="1400" b="1" i="0">
                <a:solidFill>
                  <a:srgbClr val="FFFFFF"/>
                </a:solidFill>
                <a:latin typeface="Nunito Sans"/>
              </a:rPr>
              <a:t>Kate.</a:t>
            </a:r>
            <a:r>
              <a:rPr sz="1400" b="0" i="0">
                <a:solidFill>
                  <a:srgbClr val="BFDAFF"/>
                </a:solidFill>
                <a:latin typeface="Nunito Sans"/>
              </a:rPr>
              <a:t> Kate houdt de betaling even vast en belt: “Dit lijkt op een bekende oplichting. Mag ik even meekijken?”</a:t>
            </a:r>
          </a:p>
        </p:txBody>
      </p:sp>
      <p:sp>
        <p:nvSpPr>
          <p:cNvPr id="8" name="Rectangle 7"/>
          <p:cNvSpPr/>
          <p:nvPr/>
        </p:nvSpPr>
        <p:spPr>
          <a:xfrm>
            <a:off x="4394200" y="1841500"/>
            <a:ext cx="3403600" cy="88900"/>
          </a:xfrm>
          <a:prstGeom prst="rect">
            <a:avLst/>
          </a:prstGeom>
          <a:solidFill>
            <a:srgbClr val="E20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975600" y="1841500"/>
            <a:ext cx="3403600" cy="3937000"/>
          </a:xfrm>
          <a:prstGeom prst="roundRect">
            <a:avLst>
              <a:gd name="adj" fmla="val 2985"/>
            </a:avLst>
          </a:prstGeom>
          <a:solidFill>
            <a:srgbClr val="021E43"/>
          </a:solidFill>
          <a:ln w="12700">
            <a:solidFill>
              <a:srgbClr val="1E4474"/>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79400" bIns="279400">
            <a:noAutofit/>
          </a:bodyPr>
          <a:lstStyle/>
          <a:p>
            <a:pPr algn="l">
              <a:lnSpc>
                <a:spcPct val="125000"/>
              </a:lnSpc>
            </a:pPr>
            <a:r>
              <a:rPr sz="1200" b="1" i="0" cap="all" spc="300">
                <a:solidFill>
                  <a:srgbClr val="FFFFFF"/>
                </a:solidFill>
                <a:latin typeface="Nunito Sans"/>
              </a:rPr>
              <a:t>Schuilplaats</a:t>
            </a:r>
          </a:p>
          <a:p>
            <a:pPr algn="l">
              <a:lnSpc>
                <a:spcPct val="110000"/>
              </a:lnSpc>
              <a:spcBef>
                <a:spcPts val="500"/>
              </a:spcBef>
            </a:pPr>
            <a:r>
              <a:rPr sz="2200" b="1" i="0">
                <a:solidFill>
                  <a:srgbClr val="FFFFFF"/>
                </a:solidFill>
                <a:latin typeface="Nunito Sans"/>
              </a:rPr>
              <a:t>Zorgmodus</a:t>
            </a:r>
          </a:p>
          <a:p>
            <a:pPr algn="l">
              <a:lnSpc>
                <a:spcPct val="130000"/>
              </a:lnSpc>
              <a:spcBef>
                <a:spcPts val="900"/>
              </a:spcBef>
            </a:pPr>
            <a:r>
              <a:rPr sz="1400" b="1" i="0">
                <a:solidFill>
                  <a:srgbClr val="FFFFFF"/>
                </a:solidFill>
                <a:latin typeface="Nunito Sans"/>
              </a:rPr>
              <a:t>Signaal.</a:t>
            </a:r>
            <a:r>
              <a:rPr sz="1400" b="0" i="0">
                <a:solidFill>
                  <a:srgbClr val="BFDAFF"/>
                </a:solidFill>
                <a:latin typeface="Nunito Sans"/>
              </a:rPr>
              <a:t> Rouw, scheiding of ontslag: de hele bank schakelt om.</a:t>
            </a:r>
          </a:p>
          <a:p>
            <a:pPr algn="l">
              <a:lnSpc>
                <a:spcPct val="130000"/>
              </a:lnSpc>
              <a:spcBef>
                <a:spcPts val="700"/>
              </a:spcBef>
            </a:pPr>
            <a:r>
              <a:rPr sz="1400" b="1" i="0">
                <a:solidFill>
                  <a:srgbClr val="FFFFFF"/>
                </a:solidFill>
                <a:latin typeface="Nunito Sans"/>
              </a:rPr>
              <a:t>Kate.</a:t>
            </a:r>
            <a:r>
              <a:rPr sz="1400" b="0" i="0">
                <a:solidFill>
                  <a:srgbClr val="BFDAFF"/>
                </a:solidFill>
                <a:latin typeface="Nunito Sans"/>
              </a:rPr>
              <a:t> Commerciële communicatie stopt, één vaste contactpersoon, vervaldagen schuiven op, papierwerk stap voor stap.</a:t>
            </a:r>
          </a:p>
        </p:txBody>
      </p:sp>
      <p:sp>
        <p:nvSpPr>
          <p:cNvPr id="10" name="Rectangle 9"/>
          <p:cNvSpPr/>
          <p:nvPr/>
        </p:nvSpPr>
        <p:spPr>
          <a:xfrm>
            <a:off x="7975600" y="1841500"/>
            <a:ext cx="3403600" cy="88900"/>
          </a:xfrm>
          <a:prstGeom prst="rect">
            <a:avLst/>
          </a:prstGeom>
          <a:solidFill>
            <a:srgbClr val="0097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2800" y="6350000"/>
            <a:ext cx="8890000" cy="215900"/>
          </a:xfrm>
          <a:prstGeom prst="rect">
            <a:avLst/>
          </a:prstGeom>
          <a:noFill/>
        </p:spPr>
        <p:txBody>
          <a:bodyPr wrap="square" anchor="t" lIns="0" rIns="0" tIns="0" bIns="0">
            <a:noAutofit/>
          </a:bodyPr>
          <a:lstStyle/>
          <a:p>
            <a:pPr algn="l">
              <a:lnSpc>
                <a:spcPct val="125000"/>
              </a:lnSpc>
            </a:pPr>
            <a:r>
              <a:rPr sz="1100" b="0" i="0">
                <a:solidFill>
                  <a:srgbClr val="8FA9CC"/>
                </a:solidFill>
                <a:latin typeface="Nunito Sans"/>
              </a:rPr>
              <a:t>KBC Weerbericht · Jij kiest het weer · Team Trojan Horse</a:t>
            </a:r>
          </a:p>
        </p:txBody>
      </p:sp>
      <p:sp>
        <p:nvSpPr>
          <p:cNvPr id="12" name="TextBox 11"/>
          <p:cNvSpPr txBox="1"/>
          <p:nvPr/>
        </p:nvSpPr>
        <p:spPr>
          <a:xfrm>
            <a:off x="10109200" y="6350000"/>
            <a:ext cx="1270000" cy="215900"/>
          </a:xfrm>
          <a:prstGeom prst="rect">
            <a:avLst/>
          </a:prstGeom>
          <a:noFill/>
        </p:spPr>
        <p:txBody>
          <a:bodyPr wrap="square" anchor="t" lIns="0" rIns="0" tIns="0" bIns="0">
            <a:noAutofit/>
          </a:bodyPr>
          <a:lstStyle/>
          <a:p>
            <a:pPr algn="r">
              <a:lnSpc>
                <a:spcPct val="125000"/>
              </a:lnSpc>
            </a:pPr>
            <a:r>
              <a:rPr sz="1100" b="0" i="0">
                <a:solidFill>
                  <a:srgbClr val="8FA9CC"/>
                </a:solidFill>
                <a:latin typeface="Nunito Sans"/>
              </a:rPr>
              <a:t>12 / 23</a:t>
            </a: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9" fill="hold">
                            <p:stCondLst>
                              <p:cond delay="0"/>
                            </p:stCondLst>
                            <p:childTnLst>
                              <p:par>
                                <p:cTn id="4" presetID="53" presetClass="entr" presetSubtype="16"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anim calcmode="lin" valueType="num">
                                      <p:cBhvr>
                                        <p:cTn id="7" dur="500" fill="hold"/>
                                        <p:tgtEl>
                                          <p:spTgt spid="2"/>
                                        </p:tgtEl>
                                        <p:attrNameLst>
                                          <p:attrName>ppt_w</p:attrName>
                                        </p:attrNameLst>
                                      </p:cBhvr>
                                      <p:tavLst>
                                        <p:tav tm="0">
                                          <p:val>
                                            <p:strVal val="#ppt_w*0.3"/>
                                          </p:val>
                                        </p:tav>
                                        <p:tav tm="100000">
                                          <p:val>
                                            <p:strVal val="#ppt_w"/>
                                          </p:val>
                                        </p:tav>
                                      </p:tavLst>
                                    </p:anim>
                                    <p:anim calcmode="lin" valueType="num">
                                      <p:cBhvr>
                                        <p:cTn id="8" dur="500" fill="hold"/>
                                        <p:tgtEl>
                                          <p:spTgt spid="2"/>
                                        </p:tgtEl>
                                        <p:attrNameLst>
                                          <p:attrName>ppt_h</p:attrName>
                                        </p:attrNameLst>
                                      </p:cBhvr>
                                      <p:tavLst>
                                        <p:tav tm="0">
                                          <p:val>
                                            <p:strVal val="#ppt_h*0.3"/>
                                          </p:val>
                                        </p:tav>
                                        <p:tav tm="100000">
                                          <p:val>
                                            <p:strVal val="#ppt_h"/>
                                          </p:val>
                                        </p:tav>
                                      </p:tavLst>
                                    </p:anim>
                                  </p:childTnLst>
                                </p:cTn>
                              </p:par>
                            </p:childTnLst>
                          </p:cTn>
                        </p:par>
                        <p:par>
                          <p:cTn id="20" fill="hold">
                            <p:stCondLst>
                              <p:cond delay="350"/>
                            </p:stCondLst>
                            <p:childTnLst>
                              <p:par>
                                <p:cTn id="10" presetID="42" presetClass="entr"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anim calcmode="lin" valueType="num">
                                      <p:cBhvr>
                                        <p:cTn id="13" dur="500" fill="hold"/>
                                        <p:tgtEl>
                                          <p:spTgt spid="3"/>
                                        </p:tgtEl>
                                        <p:attrNameLst>
                                          <p:attrName>ppt_x</p:attrName>
                                        </p:attrNameLst>
                                      </p:cBhvr>
                                      <p:tavLst>
                                        <p:tav tm="0">
                                          <p:val>
                                            <p:strVal val="#ppt_x"/>
                                          </p:val>
                                        </p:tav>
                                        <p:tav tm="100000">
                                          <p:val>
                                            <p:strVal val="#ppt_x"/>
                                          </p:val>
                                        </p:tav>
                                      </p:tavLst>
                                    </p:anim>
                                    <p:anim calcmode="lin" valueType="num">
                                      <p:cBhvr>
                                        <p:cTn id="14" dur="500" fill="hold"/>
                                        <p:tgtEl>
                                          <p:spTgt spid="3"/>
                                        </p:tgtEl>
                                        <p:attrNameLst>
                                          <p:attrName>ppt_y</p:attrName>
                                        </p:attrNameLst>
                                      </p:cBhvr>
                                      <p:tavLst>
                                        <p:tav tm="0">
                                          <p:val>
                                            <p:strVal val="#ppt_y+.08"/>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anim calcmode="lin" valueType="num">
                                      <p:cBhvr>
                                        <p:cTn id="18" dur="500" fill="hold"/>
                                        <p:tgtEl>
                                          <p:spTgt spid="4"/>
                                        </p:tgtEl>
                                        <p:attrNameLst>
                                          <p:attrName>ppt_x</p:attrName>
                                        </p:attrNameLst>
                                      </p:cBhvr>
                                      <p:tavLst>
                                        <p:tav tm="0">
                                          <p:val>
                                            <p:strVal val="#ppt_x"/>
                                          </p:val>
                                        </p:tav>
                                        <p:tav tm="100000">
                                          <p:val>
                                            <p:strVal val="#ppt_x"/>
                                          </p:val>
                                        </p:tav>
                                      </p:tavLst>
                                    </p:anim>
                                    <p:anim calcmode="lin" valueType="num">
                                      <p:cBhvr>
                                        <p:cTn id="19" dur="500" fill="hold"/>
                                        <p:tgtEl>
                                          <p:spTgt spid="4"/>
                                        </p:tgtEl>
                                        <p:attrNameLst>
                                          <p:attrName>ppt_y</p:attrName>
                                        </p:attrNameLst>
                                      </p:cBhvr>
                                      <p:tavLst>
                                        <p:tav tm="0">
                                          <p:val>
                                            <p:strVal val="#ppt_y+.08"/>
                                          </p:val>
                                        </p:tav>
                                        <p:tav tm="100000">
                                          <p:val>
                                            <p:strVal val="#ppt_y"/>
                                          </p:val>
                                        </p:tav>
                                      </p:tavLst>
                                    </p:anim>
                                  </p:childTnLst>
                                </p:cTn>
                              </p:par>
                            </p:childTnLst>
                          </p:cTn>
                        </p:par>
                        <p:par>
                          <p:cTn id="31" fill="hold">
                            <p:stCondLst>
                              <p:cond delay="700"/>
                            </p:stCondLst>
                            <p:childTnLst>
                              <p:par>
                                <p:cTn id="21" presetID="42" presetClass="entr" presetSubtype="0"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anim calcmode="lin" valueType="num">
                                      <p:cBhvr>
                                        <p:cTn id="24" dur="500" fill="hold"/>
                                        <p:tgtEl>
                                          <p:spTgt spid="5"/>
                                        </p:tgtEl>
                                        <p:attrNameLst>
                                          <p:attrName>ppt_x</p:attrName>
                                        </p:attrNameLst>
                                      </p:cBhvr>
                                      <p:tavLst>
                                        <p:tav tm="0">
                                          <p:val>
                                            <p:strVal val="#ppt_x"/>
                                          </p:val>
                                        </p:tav>
                                        <p:tav tm="100000">
                                          <p:val>
                                            <p:strVal val="#ppt_x"/>
                                          </p:val>
                                        </p:tav>
                                      </p:tavLst>
                                    </p:anim>
                                    <p:anim calcmode="lin" valueType="num">
                                      <p:cBhvr>
                                        <p:cTn id="25" dur="500" fill="hold"/>
                                        <p:tgtEl>
                                          <p:spTgt spid="5"/>
                                        </p:tgtEl>
                                        <p:attrNameLst>
                                          <p:attrName>ppt_y</p:attrName>
                                        </p:attrNameLst>
                                      </p:cBhvr>
                                      <p:tavLst>
                                        <p:tav tm="0">
                                          <p:val>
                                            <p:strVal val="#ppt_y+.08"/>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anim calcmode="lin" valueType="num">
                                      <p:cBhvr>
                                        <p:cTn id="29" dur="500" fill="hold"/>
                                        <p:tgtEl>
                                          <p:spTgt spid="6"/>
                                        </p:tgtEl>
                                        <p:attrNameLst>
                                          <p:attrName>ppt_x</p:attrName>
                                        </p:attrNameLst>
                                      </p:cBhvr>
                                      <p:tavLst>
                                        <p:tav tm="0">
                                          <p:val>
                                            <p:strVal val="#ppt_x"/>
                                          </p:val>
                                        </p:tav>
                                        <p:tav tm="100000">
                                          <p:val>
                                            <p:strVal val="#ppt_x"/>
                                          </p:val>
                                        </p:tav>
                                      </p:tavLst>
                                    </p:anim>
                                    <p:anim calcmode="lin" valueType="num">
                                      <p:cBhvr>
                                        <p:cTn id="30" dur="500" fill="hold"/>
                                        <p:tgtEl>
                                          <p:spTgt spid="6"/>
                                        </p:tgtEl>
                                        <p:attrNameLst>
                                          <p:attrName>ppt_y</p:attrName>
                                        </p:attrNameLst>
                                      </p:cBhvr>
                                      <p:tavLst>
                                        <p:tav tm="0">
                                          <p:val>
                                            <p:strVal val="#ppt_y+.08"/>
                                          </p:val>
                                        </p:tav>
                                        <p:tav tm="100000">
                                          <p:val>
                                            <p:strVal val="#ppt_y"/>
                                          </p:val>
                                        </p:tav>
                                      </p:tavLst>
                                    </p:anim>
                                  </p:childTnLst>
                                </p:cTn>
                              </p:par>
                            </p:childTnLst>
                          </p:cTn>
                        </p:par>
                        <p:par>
                          <p:cTn id="42" fill="hold">
                            <p:stCondLst>
                              <p:cond delay="1050"/>
                            </p:stCondLst>
                            <p:childTnLst>
                              <p:par>
                                <p:cTn id="32" presetID="42" presetClass="entr" presetSubtype="0" fill="hold" grpId="0" nodeType="after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anim calcmode="lin" valueType="num">
                                      <p:cBhvr>
                                        <p:cTn id="35" dur="500" fill="hold"/>
                                        <p:tgtEl>
                                          <p:spTgt spid="7"/>
                                        </p:tgtEl>
                                        <p:attrNameLst>
                                          <p:attrName>ppt_x</p:attrName>
                                        </p:attrNameLst>
                                      </p:cBhvr>
                                      <p:tavLst>
                                        <p:tav tm="0">
                                          <p:val>
                                            <p:strVal val="#ppt_x"/>
                                          </p:val>
                                        </p:tav>
                                        <p:tav tm="100000">
                                          <p:val>
                                            <p:strVal val="#ppt_x"/>
                                          </p:val>
                                        </p:tav>
                                      </p:tavLst>
                                    </p:anim>
                                    <p:anim calcmode="lin" valueType="num">
                                      <p:cBhvr>
                                        <p:cTn id="36" dur="500" fill="hold"/>
                                        <p:tgtEl>
                                          <p:spTgt spid="7"/>
                                        </p:tgtEl>
                                        <p:attrNameLst>
                                          <p:attrName>ppt_y</p:attrName>
                                        </p:attrNameLst>
                                      </p:cBhvr>
                                      <p:tavLst>
                                        <p:tav tm="0">
                                          <p:val>
                                            <p:strVal val="#ppt_y+.08"/>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anim calcmode="lin" valueType="num">
                                      <p:cBhvr>
                                        <p:cTn id="40" dur="500" fill="hold"/>
                                        <p:tgtEl>
                                          <p:spTgt spid="8"/>
                                        </p:tgtEl>
                                        <p:attrNameLst>
                                          <p:attrName>ppt_x</p:attrName>
                                        </p:attrNameLst>
                                      </p:cBhvr>
                                      <p:tavLst>
                                        <p:tav tm="0">
                                          <p:val>
                                            <p:strVal val="#ppt_x"/>
                                          </p:val>
                                        </p:tav>
                                        <p:tav tm="100000">
                                          <p:val>
                                            <p:strVal val="#ppt_x"/>
                                          </p:val>
                                        </p:tav>
                                      </p:tavLst>
                                    </p:anim>
                                    <p:anim calcmode="lin" valueType="num">
                                      <p:cBhvr>
                                        <p:cTn id="41" dur="500" fill="hold"/>
                                        <p:tgtEl>
                                          <p:spTgt spid="8"/>
                                        </p:tgtEl>
                                        <p:attrNameLst>
                                          <p:attrName>ppt_y</p:attrName>
                                        </p:attrNameLst>
                                      </p:cBhvr>
                                      <p:tavLst>
                                        <p:tav tm="0">
                                          <p:val>
                                            <p:strVal val="#ppt_y+.08"/>
                                          </p:val>
                                        </p:tav>
                                        <p:tav tm="100000">
                                          <p:val>
                                            <p:strVal val="#ppt_y"/>
                                          </p:val>
                                        </p:tav>
                                      </p:tavLst>
                                    </p:anim>
                                  </p:childTnLst>
                                </p:cTn>
                              </p:par>
                            </p:childTnLst>
                          </p:cTn>
                        </p:par>
                        <p:par>
                          <p:cTn id="53" fill="hold">
                            <p:stCondLst>
                              <p:cond delay="1400"/>
                            </p:stCondLst>
                            <p:childTnLst>
                              <p:par>
                                <p:cTn id="43" presetID="42" presetClass="entr" presetSubtype="0" fill="hold" grpId="0" nodeType="after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fade">
                                      <p:cBhvr>
                                        <p:cTn id="45" dur="500"/>
                                        <p:tgtEl>
                                          <p:spTgt spid="9"/>
                                        </p:tgtEl>
                                      </p:cBhvr>
                                    </p:animEffect>
                                    <p:anim calcmode="lin" valueType="num">
                                      <p:cBhvr>
                                        <p:cTn id="46" dur="500" fill="hold"/>
                                        <p:tgtEl>
                                          <p:spTgt spid="9"/>
                                        </p:tgtEl>
                                        <p:attrNameLst>
                                          <p:attrName>ppt_x</p:attrName>
                                        </p:attrNameLst>
                                      </p:cBhvr>
                                      <p:tavLst>
                                        <p:tav tm="0">
                                          <p:val>
                                            <p:strVal val="#ppt_x"/>
                                          </p:val>
                                        </p:tav>
                                        <p:tav tm="100000">
                                          <p:val>
                                            <p:strVal val="#ppt_x"/>
                                          </p:val>
                                        </p:tav>
                                      </p:tavLst>
                                    </p:anim>
                                    <p:anim calcmode="lin" valueType="num">
                                      <p:cBhvr>
                                        <p:cTn id="47" dur="500" fill="hold"/>
                                        <p:tgtEl>
                                          <p:spTgt spid="9"/>
                                        </p:tgtEl>
                                        <p:attrNameLst>
                                          <p:attrName>ppt_y</p:attrName>
                                        </p:attrNameLst>
                                      </p:cBhvr>
                                      <p:tavLst>
                                        <p:tav tm="0">
                                          <p:val>
                                            <p:strVal val="#ppt_y+.08"/>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500"/>
                                        <p:tgtEl>
                                          <p:spTgt spid="10"/>
                                        </p:tgtEl>
                                      </p:cBhvr>
                                    </p:animEffect>
                                    <p:anim calcmode="lin" valueType="num">
                                      <p:cBhvr>
                                        <p:cTn id="51" dur="500" fill="hold"/>
                                        <p:tgtEl>
                                          <p:spTgt spid="10"/>
                                        </p:tgtEl>
                                        <p:attrNameLst>
                                          <p:attrName>ppt_x</p:attrName>
                                        </p:attrNameLst>
                                      </p:cBhvr>
                                      <p:tavLst>
                                        <p:tav tm="0">
                                          <p:val>
                                            <p:strVal val="#ppt_x"/>
                                          </p:val>
                                        </p:tav>
                                        <p:tav tm="100000">
                                          <p:val>
                                            <p:strVal val="#ppt_x"/>
                                          </p:val>
                                        </p:tav>
                                      </p:tavLst>
                                    </p:anim>
                                    <p:anim calcmode="lin" valueType="num">
                                      <p:cBhvr>
                                        <p:cTn id="52" dur="500" fill="hold"/>
                                        <p:tgtEl>
                                          <p:spTgt spid="10"/>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FF6FF"/>
        </a:solidFill>
        <a:effectLst/>
      </p:bgPr>
    </p:bg>
    <p:spTree>
      <p:nvGrpSpPr>
        <p:cNvPr id="1" name=""/>
        <p:cNvGrpSpPr/>
        <p:nvPr/>
      </p:nvGrpSpPr>
      <p:grpSpPr/>
      <p:sp>
        <p:nvSpPr>
          <p:cNvPr id="2" name="TextBox 1"/>
          <p:cNvSpPr txBox="1"/>
          <p:nvPr/>
        </p:nvSpPr>
        <p:spPr>
          <a:xfrm>
            <a:off x="812800" y="711200"/>
            <a:ext cx="10566400" cy="228600"/>
          </a:xfrm>
          <a:prstGeom prst="rect">
            <a:avLst/>
          </a:prstGeom>
          <a:noFill/>
        </p:spPr>
        <p:txBody>
          <a:bodyPr wrap="square" anchor="t" lIns="0" rIns="0" tIns="0" bIns="0">
            <a:noAutofit/>
          </a:bodyPr>
          <a:lstStyle/>
          <a:p>
            <a:pPr algn="l">
              <a:lnSpc>
                <a:spcPct val="125000"/>
              </a:lnSpc>
            </a:pPr>
            <a:r>
              <a:rPr sz="1200" b="1" i="0" cap="all" spc="300">
                <a:solidFill>
                  <a:srgbClr val="007AB1"/>
                </a:solidFill>
                <a:latin typeface="Nunito Sans"/>
              </a:rPr>
              <a:t>Code rood in cijfers</a:t>
            </a:r>
          </a:p>
        </p:txBody>
      </p:sp>
      <p:sp>
        <p:nvSpPr>
          <p:cNvPr id="3" name="TextBox 2"/>
          <p:cNvSpPr txBox="1"/>
          <p:nvPr/>
        </p:nvSpPr>
        <p:spPr>
          <a:xfrm>
            <a:off x="812800" y="990600"/>
            <a:ext cx="10566400" cy="1022350"/>
          </a:xfrm>
          <a:prstGeom prst="rect">
            <a:avLst/>
          </a:prstGeom>
          <a:noFill/>
        </p:spPr>
        <p:txBody>
          <a:bodyPr wrap="square" anchor="t" lIns="0" rIns="0" tIns="0" bIns="0">
            <a:noAutofit/>
          </a:bodyPr>
          <a:lstStyle/>
          <a:p>
            <a:pPr algn="l">
              <a:lnSpc>
                <a:spcPct val="105000"/>
              </a:lnSpc>
            </a:pPr>
            <a:r>
              <a:rPr sz="3600" b="1" i="0">
                <a:solidFill>
                  <a:srgbClr val="0D2A50"/>
                </a:solidFill>
                <a:latin typeface="Nunito Sans"/>
              </a:rPr>
              <a:t>Fraudeurs overtuigen mensen steeds vaker zelf te betalen</a:t>
            </a:r>
          </a:p>
        </p:txBody>
      </p:sp>
      <p:sp>
        <p:nvSpPr>
          <p:cNvPr id="4" name="Rounded Rectangle 3"/>
          <p:cNvSpPr/>
          <p:nvPr/>
        </p:nvSpPr>
        <p:spPr>
          <a:xfrm>
            <a:off x="812800" y="2266950"/>
            <a:ext cx="3384550" cy="2349500"/>
          </a:xfrm>
          <a:prstGeom prst="roundRect">
            <a:avLst>
              <a:gd name="adj" fmla="val 4324"/>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54000" bIns="254000">
            <a:noAutofit/>
          </a:bodyPr>
          <a:lstStyle/>
          <a:p>
            <a:pPr algn="l">
              <a:lnSpc>
                <a:spcPct val="100000"/>
              </a:lnSpc>
            </a:pPr>
            <a:r>
              <a:rPr sz="5200" b="1" i="0">
                <a:solidFill>
                  <a:srgbClr val="E2001A"/>
                </a:solidFill>
                <a:latin typeface="Nunito Sans"/>
              </a:rPr>
              <a:t>€49 mln</a:t>
            </a:r>
          </a:p>
          <a:p>
            <a:pPr algn="l">
              <a:lnSpc>
                <a:spcPct val="125000"/>
              </a:lnSpc>
              <a:spcBef>
                <a:spcPts val="500"/>
              </a:spcBef>
            </a:pPr>
            <a:r>
              <a:rPr sz="1500" b="0" i="0">
                <a:solidFill>
                  <a:srgbClr val="45658F"/>
                </a:solidFill>
                <a:latin typeface="Nunito Sans"/>
              </a:rPr>
              <a:t>buit via phishing in België in 2024</a:t>
            </a:r>
          </a:p>
        </p:txBody>
      </p:sp>
      <p:sp>
        <p:nvSpPr>
          <p:cNvPr id="5" name="Rectangle 4"/>
          <p:cNvSpPr/>
          <p:nvPr/>
        </p:nvSpPr>
        <p:spPr>
          <a:xfrm>
            <a:off x="812800" y="2266950"/>
            <a:ext cx="3384550" cy="76200"/>
          </a:xfrm>
          <a:prstGeom prst="rect">
            <a:avLst/>
          </a:prstGeom>
          <a:solidFill>
            <a:srgbClr val="E20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400550" y="2266950"/>
            <a:ext cx="3384550" cy="2349500"/>
          </a:xfrm>
          <a:prstGeom prst="roundRect">
            <a:avLst>
              <a:gd name="adj" fmla="val 4324"/>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54000" bIns="254000">
            <a:noAutofit/>
          </a:bodyPr>
          <a:lstStyle/>
          <a:p>
            <a:pPr algn="l">
              <a:lnSpc>
                <a:spcPct val="100000"/>
              </a:lnSpc>
            </a:pPr>
            <a:r>
              <a:rPr sz="5200" b="1" i="0">
                <a:solidFill>
                  <a:srgbClr val="E2001A"/>
                </a:solidFill>
                <a:latin typeface="Nunito Sans"/>
              </a:rPr>
              <a:t>3,6 mln</a:t>
            </a:r>
          </a:p>
          <a:p>
            <a:pPr algn="l">
              <a:lnSpc>
                <a:spcPct val="125000"/>
              </a:lnSpc>
              <a:spcBef>
                <a:spcPts val="500"/>
              </a:spcBef>
            </a:pPr>
            <a:r>
              <a:rPr sz="1500" b="0" i="0">
                <a:solidFill>
                  <a:srgbClr val="45658F"/>
                </a:solidFill>
                <a:latin typeface="Nunito Sans"/>
              </a:rPr>
              <a:t>gemelde phishingberichten in het eerste kwartaal van 2025</a:t>
            </a:r>
          </a:p>
        </p:txBody>
      </p:sp>
      <p:sp>
        <p:nvSpPr>
          <p:cNvPr id="7" name="Rectangle 6"/>
          <p:cNvSpPr/>
          <p:nvPr/>
        </p:nvSpPr>
        <p:spPr>
          <a:xfrm>
            <a:off x="4400550" y="2266950"/>
            <a:ext cx="3384550" cy="76200"/>
          </a:xfrm>
          <a:prstGeom prst="rect">
            <a:avLst/>
          </a:prstGeom>
          <a:solidFill>
            <a:srgbClr val="E20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988300" y="2266950"/>
            <a:ext cx="3384550" cy="2349500"/>
          </a:xfrm>
          <a:prstGeom prst="roundRect">
            <a:avLst>
              <a:gd name="adj" fmla="val 4324"/>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54000" bIns="254000">
            <a:noAutofit/>
          </a:bodyPr>
          <a:lstStyle/>
          <a:p>
            <a:pPr algn="l">
              <a:lnSpc>
                <a:spcPct val="100000"/>
              </a:lnSpc>
            </a:pPr>
            <a:r>
              <a:rPr sz="5200" b="1" i="0">
                <a:solidFill>
                  <a:srgbClr val="E2001A"/>
                </a:solidFill>
                <a:latin typeface="Nunito Sans"/>
              </a:rPr>
              <a:t>75%</a:t>
            </a:r>
          </a:p>
          <a:p>
            <a:pPr algn="l">
              <a:lnSpc>
                <a:spcPct val="125000"/>
              </a:lnSpc>
              <a:spcBef>
                <a:spcPts val="500"/>
              </a:spcBef>
            </a:pPr>
            <a:r>
              <a:rPr sz="1500" b="0" i="0">
                <a:solidFill>
                  <a:srgbClr val="45658F"/>
                </a:solidFill>
                <a:latin typeface="Nunito Sans"/>
              </a:rPr>
              <a:t>van de frauduleuze overschrijvingen gedetecteerd, tegengehouden of teruggevorderd</a:t>
            </a:r>
          </a:p>
        </p:txBody>
      </p:sp>
      <p:sp>
        <p:nvSpPr>
          <p:cNvPr id="9" name="Rectangle 8"/>
          <p:cNvSpPr/>
          <p:nvPr/>
        </p:nvSpPr>
        <p:spPr>
          <a:xfrm>
            <a:off x="7988300" y="2266950"/>
            <a:ext cx="3384550" cy="76200"/>
          </a:xfrm>
          <a:prstGeom prst="rect">
            <a:avLst/>
          </a:prstGeom>
          <a:solidFill>
            <a:srgbClr val="E20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2800" y="4870450"/>
            <a:ext cx="9525000" cy="698500"/>
          </a:xfrm>
          <a:prstGeom prst="rect">
            <a:avLst/>
          </a:prstGeom>
          <a:noFill/>
        </p:spPr>
        <p:txBody>
          <a:bodyPr wrap="square" anchor="t" lIns="0" rIns="0" tIns="0" bIns="0">
            <a:noAutofit/>
          </a:bodyPr>
          <a:lstStyle/>
          <a:p>
            <a:pPr algn="l">
              <a:lnSpc>
                <a:spcPct val="130000"/>
              </a:lnSpc>
            </a:pPr>
            <a:r>
              <a:rPr sz="1600" b="0" i="0">
                <a:solidFill>
                  <a:srgbClr val="45658F"/>
                </a:solidFill>
                <a:latin typeface="Nunito Sans"/>
              </a:rPr>
              <a:t>Hulpvraagfraude (“hallo mama, nieuw nummer”) omzeilt elke technische check: de klant keurt zelf goed. </a:t>
            </a:r>
            <a:r>
              <a:rPr sz="1600" b="1" i="0">
                <a:solidFill>
                  <a:srgbClr val="0D2A50"/>
                </a:solidFill>
                <a:latin typeface="Nunito Sans"/>
              </a:rPr>
              <a:t>Daarom belt Kate vóór de betaling vertrekt.</a:t>
            </a:r>
          </a:p>
        </p:txBody>
      </p:sp>
      <p:sp>
        <p:nvSpPr>
          <p:cNvPr id="11" name="TextBox 10"/>
          <p:cNvSpPr txBox="1"/>
          <p:nvPr/>
        </p:nvSpPr>
        <p:spPr>
          <a:xfrm>
            <a:off x="812800" y="6350000"/>
            <a:ext cx="8890000" cy="215900"/>
          </a:xfrm>
          <a:prstGeom prst="rect">
            <a:avLst/>
          </a:prstGeom>
          <a:noFill/>
        </p:spPr>
        <p:txBody>
          <a:bodyPr wrap="square" anchor="t" lIns="0" rIns="0" tIns="0" bIns="0">
            <a:noAutofit/>
          </a:bodyPr>
          <a:lstStyle/>
          <a:p>
            <a:pPr algn="l">
              <a:lnSpc>
                <a:spcPct val="125000"/>
              </a:lnSpc>
            </a:pPr>
            <a:r>
              <a:rPr sz="1100" b="0" i="0">
                <a:solidFill>
                  <a:srgbClr val="45658F"/>
                </a:solidFill>
                <a:latin typeface="Nunito Sans"/>
              </a:rPr>
              <a:t>Bronnen: Febelfin, dossier phishing 2025 · VRT NWS (07/04/2026) · Brussels Times</a:t>
            </a:r>
          </a:p>
        </p:txBody>
      </p:sp>
      <p:sp>
        <p:nvSpPr>
          <p:cNvPr id="12" name="TextBox 11"/>
          <p:cNvSpPr txBox="1"/>
          <p:nvPr/>
        </p:nvSpPr>
        <p:spPr>
          <a:xfrm>
            <a:off x="10109200" y="6350000"/>
            <a:ext cx="1270000" cy="215900"/>
          </a:xfrm>
          <a:prstGeom prst="rect">
            <a:avLst/>
          </a:prstGeom>
          <a:noFill/>
        </p:spPr>
        <p:txBody>
          <a:bodyPr wrap="square" anchor="t" lIns="0" rIns="0" tIns="0" bIns="0">
            <a:noAutofit/>
          </a:bodyPr>
          <a:lstStyle/>
          <a:p>
            <a:pPr algn="r">
              <a:lnSpc>
                <a:spcPct val="125000"/>
              </a:lnSpc>
            </a:pPr>
            <a:r>
              <a:rPr sz="1100" b="0" i="0">
                <a:solidFill>
                  <a:srgbClr val="45658F"/>
                </a:solidFill>
                <a:latin typeface="Nunito Sans"/>
              </a:rPr>
              <a:t>13 / 23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4" fill="hold">
                            <p:stCondLst>
                              <p:cond delay="0"/>
                            </p:stCondLst>
                            <p:childTnLst>
                              <p:par>
                                <p:cTn id="4" presetID="42"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ppt_y+.08"/>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p:cTn id="12" dur="500" fill="hold"/>
                                        <p:tgtEl>
                                          <p:spTgt spid="3"/>
                                        </p:tgtEl>
                                        <p:attrNameLst>
                                          <p:attrName>ppt_x</p:attrName>
                                        </p:attrNameLst>
                                      </p:cBhvr>
                                      <p:tavLst>
                                        <p:tav tm="0">
                                          <p:val>
                                            <p:strVal val="#ppt_x"/>
                                          </p:val>
                                        </p:tav>
                                        <p:tav tm="100000">
                                          <p:val>
                                            <p:strVal val="#ppt_x"/>
                                          </p:val>
                                        </p:tav>
                                      </p:tavLst>
                                    </p:anim>
                                    <p:anim calcmode="lin" valueType="num">
                                      <p:cBhvr>
                                        <p:cTn id="13" dur="500" fill="hold"/>
                                        <p:tgtEl>
                                          <p:spTgt spid="3"/>
                                        </p:tgtEl>
                                        <p:attrNameLst>
                                          <p:attrName>ppt_y</p:attrName>
                                        </p:attrNameLst>
                                      </p:cBhvr>
                                      <p:tavLst>
                                        <p:tav tm="0">
                                          <p:val>
                                            <p:strVal val="#ppt_y+.08"/>
                                          </p:val>
                                        </p:tav>
                                        <p:tav tm="100000">
                                          <p:val>
                                            <p:strVal val="#ppt_y"/>
                                          </p:val>
                                        </p:tav>
                                      </p:tavLst>
                                    </p:anim>
                                  </p:childTnLst>
                                </p:cTn>
                              </p:par>
                            </p:childTnLst>
                          </p:cTn>
                        </p:par>
                        <p:par>
                          <p:cTn id="25" fill="hold">
                            <p:stCondLst>
                              <p:cond delay="350"/>
                            </p:stCondLst>
                            <p:childTnLst>
                              <p:par>
                                <p:cTn id="15" presetID="53" presetClass="entr" presetSubtype="16"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450"/>
                                        <p:tgtEl>
                                          <p:spTgt spid="4"/>
                                        </p:tgtEl>
                                      </p:cBhvr>
                                    </p:animEffect>
                                    <p:anim calcmode="lin" valueType="num">
                                      <p:cBhvr>
                                        <p:cTn id="18" dur="450" fill="hold"/>
                                        <p:tgtEl>
                                          <p:spTgt spid="4"/>
                                        </p:tgtEl>
                                        <p:attrNameLst>
                                          <p:attrName>ppt_w</p:attrName>
                                        </p:attrNameLst>
                                      </p:cBhvr>
                                      <p:tavLst>
                                        <p:tav tm="0">
                                          <p:val>
                                            <p:strVal val="#ppt_w*0.3"/>
                                          </p:val>
                                        </p:tav>
                                        <p:tav tm="100000">
                                          <p:val>
                                            <p:strVal val="#ppt_w"/>
                                          </p:val>
                                        </p:tav>
                                      </p:tavLst>
                                    </p:anim>
                                    <p:anim calcmode="lin" valueType="num">
                                      <p:cBhvr>
                                        <p:cTn id="19" dur="450" fill="hold"/>
                                        <p:tgtEl>
                                          <p:spTgt spid="4"/>
                                        </p:tgtEl>
                                        <p:attrNameLst>
                                          <p:attrName>ppt_h</p:attrName>
                                        </p:attrNameLst>
                                      </p:cBhvr>
                                      <p:tavLst>
                                        <p:tav tm="0">
                                          <p:val>
                                            <p:strVal val="#ppt_h*0.3"/>
                                          </p:val>
                                        </p:tav>
                                        <p:tav tm="100000">
                                          <p:val>
                                            <p:strVal val="#ppt_h"/>
                                          </p:val>
                                        </p:tav>
                                      </p:tavLst>
                                    </p:anim>
                                  </p:childTnLst>
                                </p:cTn>
                              </p:par>
                              <p:par>
                                <p:cTn id="20" presetID="53" presetClass="entr" presetSubtype="16"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450"/>
                                        <p:tgtEl>
                                          <p:spTgt spid="5"/>
                                        </p:tgtEl>
                                      </p:cBhvr>
                                    </p:animEffect>
                                    <p:anim calcmode="lin" valueType="num">
                                      <p:cBhvr>
                                        <p:cTn id="23" dur="450" fill="hold"/>
                                        <p:tgtEl>
                                          <p:spTgt spid="5"/>
                                        </p:tgtEl>
                                        <p:attrNameLst>
                                          <p:attrName>ppt_w</p:attrName>
                                        </p:attrNameLst>
                                      </p:cBhvr>
                                      <p:tavLst>
                                        <p:tav tm="0">
                                          <p:val>
                                            <p:strVal val="#ppt_w*0.3"/>
                                          </p:val>
                                        </p:tav>
                                        <p:tav tm="100000">
                                          <p:val>
                                            <p:strVal val="#ppt_w"/>
                                          </p:val>
                                        </p:tav>
                                      </p:tavLst>
                                    </p:anim>
                                    <p:anim calcmode="lin" valueType="num">
                                      <p:cBhvr>
                                        <p:cTn id="24" dur="450" fill="hold"/>
                                        <p:tgtEl>
                                          <p:spTgt spid="5"/>
                                        </p:tgtEl>
                                        <p:attrNameLst>
                                          <p:attrName>ppt_h</p:attrName>
                                        </p:attrNameLst>
                                      </p:cBhvr>
                                      <p:tavLst>
                                        <p:tav tm="0">
                                          <p:val>
                                            <p:strVal val="#ppt_h*0.3"/>
                                          </p:val>
                                        </p:tav>
                                        <p:tav tm="100000">
                                          <p:val>
                                            <p:strVal val="#ppt_h"/>
                                          </p:val>
                                        </p:tav>
                                      </p:tavLst>
                                    </p:anim>
                                  </p:childTnLst>
                                </p:cTn>
                              </p:par>
                            </p:childTnLst>
                          </p:cTn>
                        </p:par>
                        <p:par>
                          <p:cTn id="36" fill="hold">
                            <p:stCondLst>
                              <p:cond delay="665"/>
                            </p:stCondLst>
                            <p:childTnLst>
                              <p:par>
                                <p:cTn id="26" presetID="53" presetClass="entr" presetSubtype="16" fill="hold" grpId="0"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450"/>
                                        <p:tgtEl>
                                          <p:spTgt spid="6"/>
                                        </p:tgtEl>
                                      </p:cBhvr>
                                    </p:animEffect>
                                    <p:anim calcmode="lin" valueType="num">
                                      <p:cBhvr>
                                        <p:cTn id="29" dur="450" fill="hold"/>
                                        <p:tgtEl>
                                          <p:spTgt spid="6"/>
                                        </p:tgtEl>
                                        <p:attrNameLst>
                                          <p:attrName>ppt_w</p:attrName>
                                        </p:attrNameLst>
                                      </p:cBhvr>
                                      <p:tavLst>
                                        <p:tav tm="0">
                                          <p:val>
                                            <p:strVal val="#ppt_w*0.3"/>
                                          </p:val>
                                        </p:tav>
                                        <p:tav tm="100000">
                                          <p:val>
                                            <p:strVal val="#ppt_w"/>
                                          </p:val>
                                        </p:tav>
                                      </p:tavLst>
                                    </p:anim>
                                    <p:anim calcmode="lin" valueType="num">
                                      <p:cBhvr>
                                        <p:cTn id="30" dur="450" fill="hold"/>
                                        <p:tgtEl>
                                          <p:spTgt spid="6"/>
                                        </p:tgtEl>
                                        <p:attrNameLst>
                                          <p:attrName>ppt_h</p:attrName>
                                        </p:attrNameLst>
                                      </p:cBhvr>
                                      <p:tavLst>
                                        <p:tav tm="0">
                                          <p:val>
                                            <p:strVal val="#ppt_h*0.3"/>
                                          </p:val>
                                        </p:tav>
                                        <p:tav tm="100000">
                                          <p:val>
                                            <p:strVal val="#ppt_h"/>
                                          </p:val>
                                        </p:tav>
                                      </p:tavLst>
                                    </p:anim>
                                  </p:childTnLst>
                                </p:cTn>
                              </p:par>
                              <p:par>
                                <p:cTn id="31" presetID="53" presetClass="entr" presetSubtype="16"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450"/>
                                        <p:tgtEl>
                                          <p:spTgt spid="7"/>
                                        </p:tgtEl>
                                      </p:cBhvr>
                                    </p:animEffect>
                                    <p:anim calcmode="lin" valueType="num">
                                      <p:cBhvr>
                                        <p:cTn id="34" dur="450" fill="hold"/>
                                        <p:tgtEl>
                                          <p:spTgt spid="7"/>
                                        </p:tgtEl>
                                        <p:attrNameLst>
                                          <p:attrName>ppt_w</p:attrName>
                                        </p:attrNameLst>
                                      </p:cBhvr>
                                      <p:tavLst>
                                        <p:tav tm="0">
                                          <p:val>
                                            <p:strVal val="#ppt_w*0.3"/>
                                          </p:val>
                                        </p:tav>
                                        <p:tav tm="100000">
                                          <p:val>
                                            <p:strVal val="#ppt_w"/>
                                          </p:val>
                                        </p:tav>
                                      </p:tavLst>
                                    </p:anim>
                                    <p:anim calcmode="lin" valueType="num">
                                      <p:cBhvr>
                                        <p:cTn id="35" dur="450" fill="hold"/>
                                        <p:tgtEl>
                                          <p:spTgt spid="7"/>
                                        </p:tgtEl>
                                        <p:attrNameLst>
                                          <p:attrName>ppt_h</p:attrName>
                                        </p:attrNameLst>
                                      </p:cBhvr>
                                      <p:tavLst>
                                        <p:tav tm="0">
                                          <p:val>
                                            <p:strVal val="#ppt_h*0.3"/>
                                          </p:val>
                                        </p:tav>
                                        <p:tav tm="100000">
                                          <p:val>
                                            <p:strVal val="#ppt_h"/>
                                          </p:val>
                                        </p:tav>
                                      </p:tavLst>
                                    </p:anim>
                                  </p:childTnLst>
                                </p:cTn>
                              </p:par>
                            </p:childTnLst>
                          </p:cTn>
                        </p:par>
                        <p:par>
                          <p:cTn id="47" fill="hold">
                            <p:stCondLst>
                              <p:cond delay="980"/>
                            </p:stCondLst>
                            <p:childTnLst>
                              <p:par>
                                <p:cTn id="37" presetID="53" presetClass="entr" presetSubtype="16" fill="hold" grpId="0" nodeType="after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450"/>
                                        <p:tgtEl>
                                          <p:spTgt spid="8"/>
                                        </p:tgtEl>
                                      </p:cBhvr>
                                    </p:animEffect>
                                    <p:anim calcmode="lin" valueType="num">
                                      <p:cBhvr>
                                        <p:cTn id="40" dur="450" fill="hold"/>
                                        <p:tgtEl>
                                          <p:spTgt spid="8"/>
                                        </p:tgtEl>
                                        <p:attrNameLst>
                                          <p:attrName>ppt_w</p:attrName>
                                        </p:attrNameLst>
                                      </p:cBhvr>
                                      <p:tavLst>
                                        <p:tav tm="0">
                                          <p:val>
                                            <p:strVal val="#ppt_w*0.3"/>
                                          </p:val>
                                        </p:tav>
                                        <p:tav tm="100000">
                                          <p:val>
                                            <p:strVal val="#ppt_w"/>
                                          </p:val>
                                        </p:tav>
                                      </p:tavLst>
                                    </p:anim>
                                    <p:anim calcmode="lin" valueType="num">
                                      <p:cBhvr>
                                        <p:cTn id="41" dur="450" fill="hold"/>
                                        <p:tgtEl>
                                          <p:spTgt spid="8"/>
                                        </p:tgtEl>
                                        <p:attrNameLst>
                                          <p:attrName>ppt_h</p:attrName>
                                        </p:attrNameLst>
                                      </p:cBhvr>
                                      <p:tavLst>
                                        <p:tav tm="0">
                                          <p:val>
                                            <p:strVal val="#ppt_h*0.3"/>
                                          </p:val>
                                        </p:tav>
                                        <p:tav tm="100000">
                                          <p:val>
                                            <p:strVal val="#ppt_h"/>
                                          </p:val>
                                        </p:tav>
                                      </p:tavLst>
                                    </p:anim>
                                  </p:childTnLst>
                                </p:cTn>
                              </p:par>
                              <p:par>
                                <p:cTn id="42" presetID="53" presetClass="entr" presetSubtype="16"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450"/>
                                        <p:tgtEl>
                                          <p:spTgt spid="9"/>
                                        </p:tgtEl>
                                      </p:cBhvr>
                                    </p:animEffect>
                                    <p:anim calcmode="lin" valueType="num">
                                      <p:cBhvr>
                                        <p:cTn id="45" dur="450" fill="hold"/>
                                        <p:tgtEl>
                                          <p:spTgt spid="9"/>
                                        </p:tgtEl>
                                        <p:attrNameLst>
                                          <p:attrName>ppt_w</p:attrName>
                                        </p:attrNameLst>
                                      </p:cBhvr>
                                      <p:tavLst>
                                        <p:tav tm="0">
                                          <p:val>
                                            <p:strVal val="#ppt_w*0.3"/>
                                          </p:val>
                                        </p:tav>
                                        <p:tav tm="100000">
                                          <p:val>
                                            <p:strVal val="#ppt_w"/>
                                          </p:val>
                                        </p:tav>
                                      </p:tavLst>
                                    </p:anim>
                                    <p:anim calcmode="lin" valueType="num">
                                      <p:cBhvr>
                                        <p:cTn id="46" dur="450" fill="hold"/>
                                        <p:tgtEl>
                                          <p:spTgt spid="9"/>
                                        </p:tgtEl>
                                        <p:attrNameLst>
                                          <p:attrName>ppt_h</p:attrName>
                                        </p:attrNameLst>
                                      </p:cBhvr>
                                      <p:tavLst>
                                        <p:tav tm="0">
                                          <p:val>
                                            <p:strVal val="#ppt_h*0.3"/>
                                          </p:val>
                                        </p:tav>
                                        <p:tav tm="100000">
                                          <p:val>
                                            <p:strVal val="#ppt_h"/>
                                          </p:val>
                                        </p:tav>
                                      </p:tavLst>
                                    </p:anim>
                                  </p:childTnLst>
                                </p:cTn>
                              </p:par>
                            </p:childTnLst>
                          </p:cTn>
                        </p:par>
                        <p:par>
                          <p:cTn id="51" fill="hold">
                            <p:stCondLst>
                              <p:cond delay="1295"/>
                            </p:stCondLst>
                            <p:childTnLst>
                              <p:par>
                                <p:cTn id="48" presetID="10" presetClass="entr" presetSubtype="0" fill="hold" grpId="0" nodeType="after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FF6FF"/>
        </a:solidFill>
        <a:effectLst/>
      </p:bgPr>
    </p:bg>
    <p:spTree>
      <p:nvGrpSpPr>
        <p:cNvPr id="1" name=""/>
        <p:cNvGrpSpPr/>
        <p:nvPr/>
      </p:nvGrpSpPr>
      <p:grpSpPr/>
      <p:sp>
        <p:nvSpPr>
          <p:cNvPr id="2" name="TextBox 1"/>
          <p:cNvSpPr txBox="1"/>
          <p:nvPr/>
        </p:nvSpPr>
        <p:spPr>
          <a:xfrm>
            <a:off x="812800" y="711200"/>
            <a:ext cx="10566400" cy="228600"/>
          </a:xfrm>
          <a:prstGeom prst="rect">
            <a:avLst/>
          </a:prstGeom>
          <a:noFill/>
        </p:spPr>
        <p:txBody>
          <a:bodyPr wrap="square" anchor="t" lIns="0" rIns="0" tIns="0" bIns="0">
            <a:noAutofit/>
          </a:bodyPr>
          <a:lstStyle/>
          <a:p>
            <a:pPr algn="l">
              <a:lnSpc>
                <a:spcPct val="125000"/>
              </a:lnSpc>
            </a:pPr>
            <a:r>
              <a:rPr sz="1200" b="1" i="0" cap="all" spc="300">
                <a:solidFill>
                  <a:srgbClr val="007AB1"/>
                </a:solidFill>
                <a:latin typeface="Nunito Sans"/>
              </a:rPr>
              <a:t>Seizoenen = levensmomenten</a:t>
            </a:r>
          </a:p>
        </p:txBody>
      </p:sp>
      <p:sp>
        <p:nvSpPr>
          <p:cNvPr id="3" name="TextBox 2"/>
          <p:cNvSpPr txBox="1"/>
          <p:nvPr/>
        </p:nvSpPr>
        <p:spPr>
          <a:xfrm>
            <a:off x="812800" y="990600"/>
            <a:ext cx="10566400" cy="1022350"/>
          </a:xfrm>
          <a:prstGeom prst="rect">
            <a:avLst/>
          </a:prstGeom>
          <a:noFill/>
        </p:spPr>
        <p:txBody>
          <a:bodyPr wrap="square" anchor="t" lIns="0" rIns="0" tIns="0" bIns="0">
            <a:noAutofit/>
          </a:bodyPr>
          <a:lstStyle/>
          <a:p>
            <a:pPr algn="l">
              <a:lnSpc>
                <a:spcPct val="105000"/>
              </a:lnSpc>
            </a:pPr>
            <a:r>
              <a:rPr sz="3600" b="1" i="0">
                <a:solidFill>
                  <a:srgbClr val="0D2A50"/>
                </a:solidFill>
                <a:latin typeface="Nunito Sans"/>
              </a:rPr>
              <a:t>Het weer is je week, het klimaat is je leven</a:t>
            </a:r>
          </a:p>
        </p:txBody>
      </p:sp>
      <p:sp>
        <p:nvSpPr>
          <p:cNvPr id="4" name="TextBox 3"/>
          <p:cNvSpPr txBox="1"/>
          <p:nvPr/>
        </p:nvSpPr>
        <p:spPr>
          <a:xfrm>
            <a:off x="812800" y="2089150"/>
            <a:ext cx="10566400" cy="571500"/>
          </a:xfrm>
          <a:prstGeom prst="rect">
            <a:avLst/>
          </a:prstGeom>
          <a:noFill/>
        </p:spPr>
        <p:txBody>
          <a:bodyPr wrap="square" anchor="t" lIns="0" rIns="0" tIns="0" bIns="0">
            <a:noAutofit/>
          </a:bodyPr>
          <a:lstStyle/>
          <a:p>
            <a:pPr algn="l">
              <a:lnSpc>
                <a:spcPct val="130000"/>
              </a:lnSpc>
            </a:pPr>
            <a:r>
              <a:rPr sz="1500" b="0" i="0">
                <a:solidFill>
                  <a:srgbClr val="45658F"/>
                </a:solidFill>
                <a:latin typeface="Nunito Sans"/>
              </a:rPr>
              <a:t>Een eerste betaling aan een kinderopvang of kotbaas wisselt het seizoen. Er schuift een playbook in dat bank, verzekeren en beleggen samenbrengt.</a:t>
            </a:r>
          </a:p>
        </p:txBody>
      </p:sp>
      <p:sp>
        <p:nvSpPr>
          <p:cNvPr id="5" name="Rounded Rectangle 4"/>
          <p:cNvSpPr/>
          <p:nvPr/>
        </p:nvSpPr>
        <p:spPr>
          <a:xfrm>
            <a:off x="812800" y="2774950"/>
            <a:ext cx="2527300" cy="2857500"/>
          </a:xfrm>
          <a:prstGeom prst="roundRect">
            <a:avLst>
              <a:gd name="adj" fmla="val 4020"/>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t" wrap="square" lIns="203200" rIns="203200" tIns="203200" bIns="203200">
            <a:noAutofit/>
          </a:bodyPr>
          <a:lstStyle/>
          <a:p>
            <a:pPr algn="l">
              <a:lnSpc>
                <a:spcPct val="110000"/>
              </a:lnSpc>
            </a:pPr>
            <a:r>
              <a:rPr sz="2000" b="1" i="0">
                <a:solidFill>
                  <a:srgbClr val="0D2A50"/>
                </a:solidFill>
                <a:latin typeface="Nunito Sans"/>
              </a:rPr>
              <a:t>Kind op kot</a:t>
            </a:r>
          </a:p>
          <a:p>
            <a:pPr algn="l">
              <a:lnSpc>
                <a:spcPct val="130000"/>
              </a:lnSpc>
              <a:spcBef>
                <a:spcPts val="600"/>
              </a:spcBef>
            </a:pPr>
            <a:r>
              <a:rPr sz="1400" b="0" i="0">
                <a:solidFill>
                  <a:srgbClr val="45658F"/>
                </a:solidFill>
                <a:latin typeface="Nunito Sans"/>
              </a:rPr>
              <a:t>Kotbudget voor ouder én student samen, kotverzekering, studentenrekening, zomerjob-seizoen.</a:t>
            </a:r>
          </a:p>
          <a:p>
            <a:pPr algn="l">
              <a:lnSpc>
                <a:spcPct val="125000"/>
              </a:lnSpc>
              <a:spcBef>
                <a:spcPts val="600"/>
              </a:spcBef>
            </a:pPr>
            <a:r>
              <a:rPr sz="1200" b="1" i="0">
                <a:solidFill>
                  <a:srgbClr val="007AB1"/>
                </a:solidFill>
                <a:latin typeface="Nunito Sans"/>
              </a:rPr>
              <a:t>Gemiddelde kot in Gent: ± €500 per maand</a:t>
            </a:r>
          </a:p>
        </p:txBody>
      </p:sp>
      <p:sp>
        <p:nvSpPr>
          <p:cNvPr id="6" name="Rounded Rectangle 5"/>
          <p:cNvSpPr/>
          <p:nvPr/>
        </p:nvSpPr>
        <p:spPr>
          <a:xfrm>
            <a:off x="3492500" y="2774950"/>
            <a:ext cx="2527300" cy="2857500"/>
          </a:xfrm>
          <a:prstGeom prst="roundRect">
            <a:avLst>
              <a:gd name="adj" fmla="val 4020"/>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t" wrap="square" lIns="203200" rIns="203200" tIns="203200" bIns="203200">
            <a:noAutofit/>
          </a:bodyPr>
          <a:lstStyle/>
          <a:p>
            <a:pPr algn="l">
              <a:lnSpc>
                <a:spcPct val="110000"/>
              </a:lnSpc>
            </a:pPr>
            <a:r>
              <a:rPr sz="2000" b="1" i="0">
                <a:solidFill>
                  <a:srgbClr val="0D2A50"/>
                </a:solidFill>
                <a:latin typeface="Nunito Sans"/>
              </a:rPr>
              <a:t>Jong gezin</a:t>
            </a:r>
          </a:p>
          <a:p>
            <a:pPr algn="l">
              <a:lnSpc>
                <a:spcPct val="130000"/>
              </a:lnSpc>
              <a:spcBef>
                <a:spcPts val="600"/>
              </a:spcBef>
            </a:pPr>
            <a:r>
              <a:rPr sz="1400" b="0" i="0">
                <a:solidFill>
                  <a:srgbClr val="45658F"/>
                </a:solidFill>
                <a:latin typeface="Nunito Sans"/>
              </a:rPr>
              <a:t>Kinderbijslag in de voorspelling, tweedehands babyspullen via partners, een spaarplan voor het kind.</a:t>
            </a:r>
          </a:p>
        </p:txBody>
      </p:sp>
      <p:sp>
        <p:nvSpPr>
          <p:cNvPr id="7" name="Rounded Rectangle 6"/>
          <p:cNvSpPr/>
          <p:nvPr/>
        </p:nvSpPr>
        <p:spPr>
          <a:xfrm>
            <a:off x="6172200" y="2774950"/>
            <a:ext cx="2527300" cy="2857500"/>
          </a:xfrm>
          <a:prstGeom prst="roundRect">
            <a:avLst>
              <a:gd name="adj" fmla="val 4020"/>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t" wrap="square" lIns="203200" rIns="203200" tIns="203200" bIns="203200">
            <a:noAutofit/>
          </a:bodyPr>
          <a:lstStyle/>
          <a:p>
            <a:pPr algn="l">
              <a:lnSpc>
                <a:spcPct val="110000"/>
              </a:lnSpc>
            </a:pPr>
            <a:r>
              <a:rPr sz="2000" b="1" i="0">
                <a:solidFill>
                  <a:srgbClr val="0D2A50"/>
                </a:solidFill>
                <a:latin typeface="Nunito Sans"/>
              </a:rPr>
              <a:t>Verhuis</a:t>
            </a:r>
          </a:p>
          <a:p>
            <a:pPr algn="l">
              <a:lnSpc>
                <a:spcPct val="130000"/>
              </a:lnSpc>
              <a:spcBef>
                <a:spcPts val="600"/>
              </a:spcBef>
            </a:pPr>
            <a:r>
              <a:rPr sz="1400" b="0" i="0">
                <a:solidFill>
                  <a:srgbClr val="45658F"/>
                </a:solidFill>
                <a:latin typeface="Nunito Sans"/>
              </a:rPr>
              <a:t>Eén verhuisknop voor adreswijziging, energie, brandverzekering en lening.</a:t>
            </a:r>
          </a:p>
        </p:txBody>
      </p:sp>
      <p:sp>
        <p:nvSpPr>
          <p:cNvPr id="8" name="Rounded Rectangle 7"/>
          <p:cNvSpPr/>
          <p:nvPr/>
        </p:nvSpPr>
        <p:spPr>
          <a:xfrm>
            <a:off x="8851900" y="2774950"/>
            <a:ext cx="2527300" cy="2857500"/>
          </a:xfrm>
          <a:prstGeom prst="roundRect">
            <a:avLst>
              <a:gd name="adj" fmla="val 4020"/>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t" wrap="square" lIns="203200" rIns="203200" tIns="203200" bIns="203200">
            <a:noAutofit/>
          </a:bodyPr>
          <a:lstStyle/>
          <a:p>
            <a:pPr algn="l">
              <a:lnSpc>
                <a:spcPct val="110000"/>
              </a:lnSpc>
            </a:pPr>
            <a:r>
              <a:rPr sz="2000" b="1" i="0">
                <a:solidFill>
                  <a:srgbClr val="0D2A50"/>
                </a:solidFill>
                <a:latin typeface="Nunito Sans"/>
              </a:rPr>
              <a:t>Pensioen</a:t>
            </a:r>
          </a:p>
          <a:p>
            <a:pPr algn="l">
              <a:lnSpc>
                <a:spcPct val="130000"/>
              </a:lnSpc>
              <a:spcBef>
                <a:spcPts val="600"/>
              </a:spcBef>
            </a:pPr>
            <a:r>
              <a:rPr sz="1400" b="0" i="0">
                <a:solidFill>
                  <a:srgbClr val="45658F"/>
                </a:solidFill>
                <a:latin typeface="Nunito Sans"/>
              </a:rPr>
              <a:t>Inkomen dat verandert, nalatenschap plannen, zorgmodus paraat.</a:t>
            </a:r>
          </a:p>
        </p:txBody>
      </p:sp>
      <p:sp>
        <p:nvSpPr>
          <p:cNvPr id="9" name="TextBox 8"/>
          <p:cNvSpPr txBox="1"/>
          <p:nvPr/>
        </p:nvSpPr>
        <p:spPr>
          <a:xfrm>
            <a:off x="812800" y="6350000"/>
            <a:ext cx="8890000" cy="215900"/>
          </a:xfrm>
          <a:prstGeom prst="rect">
            <a:avLst/>
          </a:prstGeom>
          <a:noFill/>
        </p:spPr>
        <p:txBody>
          <a:bodyPr wrap="square" anchor="t" lIns="0" rIns="0" tIns="0" bIns="0">
            <a:noAutofit/>
          </a:bodyPr>
          <a:lstStyle/>
          <a:p>
            <a:pPr algn="l">
              <a:lnSpc>
                <a:spcPct val="125000"/>
              </a:lnSpc>
            </a:pPr>
            <a:r>
              <a:rPr sz="1100" b="0" i="0">
                <a:solidFill>
                  <a:srgbClr val="45658F"/>
                </a:solidFill>
                <a:latin typeface="Nunito Sans"/>
              </a:rPr>
              <a:t>Bron kotprijs: CIB Vlaanderen via student.be (2025)</a:t>
            </a:r>
          </a:p>
        </p:txBody>
      </p:sp>
      <p:sp>
        <p:nvSpPr>
          <p:cNvPr id="10" name="TextBox 9"/>
          <p:cNvSpPr txBox="1"/>
          <p:nvPr/>
        </p:nvSpPr>
        <p:spPr>
          <a:xfrm>
            <a:off x="10109200" y="6350000"/>
            <a:ext cx="1270000" cy="215900"/>
          </a:xfrm>
          <a:prstGeom prst="rect">
            <a:avLst/>
          </a:prstGeom>
          <a:noFill/>
        </p:spPr>
        <p:txBody>
          <a:bodyPr wrap="square" anchor="t" lIns="0" rIns="0" tIns="0" bIns="0">
            <a:noAutofit/>
          </a:bodyPr>
          <a:lstStyle/>
          <a:p>
            <a:pPr algn="r">
              <a:lnSpc>
                <a:spcPct val="125000"/>
              </a:lnSpc>
            </a:pPr>
            <a:r>
              <a:rPr sz="1100" b="0" i="0">
                <a:solidFill>
                  <a:srgbClr val="45658F"/>
                </a:solidFill>
                <a:latin typeface="Nunito Sans"/>
              </a:rPr>
              <a:t>14 / 23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4" fill="hold">
                            <p:stCondLst>
                              <p:cond delay="0"/>
                            </p:stCondLst>
                            <p:childTnLst>
                              <p:par>
                                <p:cTn id="4" presetID="42"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ppt_y+.08"/>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p:cTn id="12" dur="500" fill="hold"/>
                                        <p:tgtEl>
                                          <p:spTgt spid="3"/>
                                        </p:tgtEl>
                                        <p:attrNameLst>
                                          <p:attrName>ppt_x</p:attrName>
                                        </p:attrNameLst>
                                      </p:cBhvr>
                                      <p:tavLst>
                                        <p:tav tm="0">
                                          <p:val>
                                            <p:strVal val="#ppt_x"/>
                                          </p:val>
                                        </p:tav>
                                        <p:tav tm="100000">
                                          <p:val>
                                            <p:strVal val="#ppt_x"/>
                                          </p:val>
                                        </p:tav>
                                      </p:tavLst>
                                    </p:anim>
                                    <p:anim calcmode="lin" valueType="num">
                                      <p:cBhvr>
                                        <p:cTn id="13" dur="500" fill="hold"/>
                                        <p:tgtEl>
                                          <p:spTgt spid="3"/>
                                        </p:tgtEl>
                                        <p:attrNameLst>
                                          <p:attrName>ppt_y</p:attrName>
                                        </p:attrNameLst>
                                      </p:cBhvr>
                                      <p:tavLst>
                                        <p:tav tm="0">
                                          <p:val>
                                            <p:strVal val="#ppt_y+.08"/>
                                          </p:val>
                                        </p:tav>
                                        <p:tav tm="100000">
                                          <p:val>
                                            <p:strVal val="#ppt_y"/>
                                          </p:val>
                                        </p:tav>
                                      </p:tavLst>
                                    </p:anim>
                                  </p:childTnLst>
                                </p:cTn>
                              </p:par>
                            </p:childTnLst>
                          </p:cTn>
                        </p:par>
                        <p:par>
                          <p:cTn id="18" fill="hold">
                            <p:stCondLst>
                              <p:cond delay="350"/>
                            </p:stCondLst>
                            <p:childTnLst>
                              <p:par>
                                <p:cTn id="15" presetID="10" presetClass="entr" presetSubtype="0"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400"/>
                                        <p:tgtEl>
                                          <p:spTgt spid="4"/>
                                        </p:tgtEl>
                                      </p:cBhvr>
                                    </p:animEffect>
                                  </p:childTnLst>
                                </p:cTn>
                              </p:par>
                            </p:childTnLst>
                          </p:cTn>
                        </p:par>
                        <p:par>
                          <p:cTn id="24" fill="hold">
                            <p:stCondLst>
                              <p:cond delay="630"/>
                            </p:stCondLst>
                            <p:childTnLst>
                              <p:par>
                                <p:cTn id="19" presetID="42" presetClass="entr" presetSubtype="0"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400"/>
                                        <p:tgtEl>
                                          <p:spTgt spid="5"/>
                                        </p:tgtEl>
                                      </p:cBhvr>
                                    </p:animEffect>
                                    <p:anim calcmode="lin" valueType="num">
                                      <p:cBhvr>
                                        <p:cTn id="22" dur="400" fill="hold"/>
                                        <p:tgtEl>
                                          <p:spTgt spid="5"/>
                                        </p:tgtEl>
                                        <p:attrNameLst>
                                          <p:attrName>ppt_x</p:attrName>
                                        </p:attrNameLst>
                                      </p:cBhvr>
                                      <p:tavLst>
                                        <p:tav tm="0">
                                          <p:val>
                                            <p:strVal val="#ppt_x"/>
                                          </p:val>
                                        </p:tav>
                                        <p:tav tm="100000">
                                          <p:val>
                                            <p:strVal val="#ppt_x"/>
                                          </p:val>
                                        </p:tav>
                                      </p:tavLst>
                                    </p:anim>
                                    <p:anim calcmode="lin" valueType="num">
                                      <p:cBhvr>
                                        <p:cTn id="23" dur="400" fill="hold"/>
                                        <p:tgtEl>
                                          <p:spTgt spid="5"/>
                                        </p:tgtEl>
                                        <p:attrNameLst>
                                          <p:attrName>ppt_y</p:attrName>
                                        </p:attrNameLst>
                                      </p:cBhvr>
                                      <p:tavLst>
                                        <p:tav tm="0">
                                          <p:val>
                                            <p:strVal val="#ppt_y+.08"/>
                                          </p:val>
                                        </p:tav>
                                        <p:tav tm="100000">
                                          <p:val>
                                            <p:strVal val="#ppt_y"/>
                                          </p:val>
                                        </p:tav>
                                      </p:tavLst>
                                    </p:anim>
                                  </p:childTnLst>
                                </p:cTn>
                              </p:par>
                            </p:childTnLst>
                          </p:cTn>
                        </p:par>
                        <p:par>
                          <p:cTn id="30" fill="hold">
                            <p:stCondLst>
                              <p:cond delay="910"/>
                            </p:stCondLst>
                            <p:childTnLst>
                              <p:par>
                                <p:cTn id="25" presetID="42" presetClass="entr" presetSubtype="0" fill="hold" grpId="0" nodeType="after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400"/>
                                        <p:tgtEl>
                                          <p:spTgt spid="6"/>
                                        </p:tgtEl>
                                      </p:cBhvr>
                                    </p:animEffect>
                                    <p:anim calcmode="lin" valueType="num">
                                      <p:cBhvr>
                                        <p:cTn id="28" dur="400" fill="hold"/>
                                        <p:tgtEl>
                                          <p:spTgt spid="6"/>
                                        </p:tgtEl>
                                        <p:attrNameLst>
                                          <p:attrName>ppt_x</p:attrName>
                                        </p:attrNameLst>
                                      </p:cBhvr>
                                      <p:tavLst>
                                        <p:tav tm="0">
                                          <p:val>
                                            <p:strVal val="#ppt_x"/>
                                          </p:val>
                                        </p:tav>
                                        <p:tav tm="100000">
                                          <p:val>
                                            <p:strVal val="#ppt_x"/>
                                          </p:val>
                                        </p:tav>
                                      </p:tavLst>
                                    </p:anim>
                                    <p:anim calcmode="lin" valueType="num">
                                      <p:cBhvr>
                                        <p:cTn id="29" dur="400" fill="hold"/>
                                        <p:tgtEl>
                                          <p:spTgt spid="6"/>
                                        </p:tgtEl>
                                        <p:attrNameLst>
                                          <p:attrName>ppt_y</p:attrName>
                                        </p:attrNameLst>
                                      </p:cBhvr>
                                      <p:tavLst>
                                        <p:tav tm="0">
                                          <p:val>
                                            <p:strVal val="#ppt_y+.08"/>
                                          </p:val>
                                        </p:tav>
                                        <p:tav tm="100000">
                                          <p:val>
                                            <p:strVal val="#ppt_y"/>
                                          </p:val>
                                        </p:tav>
                                      </p:tavLst>
                                    </p:anim>
                                  </p:childTnLst>
                                </p:cTn>
                              </p:par>
                            </p:childTnLst>
                          </p:cTn>
                        </p:par>
                        <p:par>
                          <p:cTn id="36" fill="hold">
                            <p:stCondLst>
                              <p:cond delay="1190"/>
                            </p:stCondLst>
                            <p:childTnLst>
                              <p:par>
                                <p:cTn id="31" presetID="42" presetClass="entr" presetSubtype="0" fill="hold" grpId="0" nodeType="after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400"/>
                                        <p:tgtEl>
                                          <p:spTgt spid="7"/>
                                        </p:tgtEl>
                                      </p:cBhvr>
                                    </p:animEffect>
                                    <p:anim calcmode="lin" valueType="num">
                                      <p:cBhvr>
                                        <p:cTn id="34" dur="400" fill="hold"/>
                                        <p:tgtEl>
                                          <p:spTgt spid="7"/>
                                        </p:tgtEl>
                                        <p:attrNameLst>
                                          <p:attrName>ppt_x</p:attrName>
                                        </p:attrNameLst>
                                      </p:cBhvr>
                                      <p:tavLst>
                                        <p:tav tm="0">
                                          <p:val>
                                            <p:strVal val="#ppt_x"/>
                                          </p:val>
                                        </p:tav>
                                        <p:tav tm="100000">
                                          <p:val>
                                            <p:strVal val="#ppt_x"/>
                                          </p:val>
                                        </p:tav>
                                      </p:tavLst>
                                    </p:anim>
                                    <p:anim calcmode="lin" valueType="num">
                                      <p:cBhvr>
                                        <p:cTn id="35" dur="400" fill="hold"/>
                                        <p:tgtEl>
                                          <p:spTgt spid="7"/>
                                        </p:tgtEl>
                                        <p:attrNameLst>
                                          <p:attrName>ppt_y</p:attrName>
                                        </p:attrNameLst>
                                      </p:cBhvr>
                                      <p:tavLst>
                                        <p:tav tm="0">
                                          <p:val>
                                            <p:strVal val="#ppt_y+.08"/>
                                          </p:val>
                                        </p:tav>
                                        <p:tav tm="100000">
                                          <p:val>
                                            <p:strVal val="#ppt_y"/>
                                          </p:val>
                                        </p:tav>
                                      </p:tavLst>
                                    </p:anim>
                                  </p:childTnLst>
                                </p:cTn>
                              </p:par>
                            </p:childTnLst>
                          </p:cTn>
                        </p:par>
                        <p:par>
                          <p:cTn id="42" fill="hold">
                            <p:stCondLst>
                              <p:cond delay="1470"/>
                            </p:stCondLst>
                            <p:childTnLst>
                              <p:par>
                                <p:cTn id="37" presetID="42" presetClass="entr" presetSubtype="0" fill="hold" grpId="0" nodeType="after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400"/>
                                        <p:tgtEl>
                                          <p:spTgt spid="8"/>
                                        </p:tgtEl>
                                      </p:cBhvr>
                                    </p:animEffect>
                                    <p:anim calcmode="lin" valueType="num">
                                      <p:cBhvr>
                                        <p:cTn id="40" dur="400" fill="hold"/>
                                        <p:tgtEl>
                                          <p:spTgt spid="8"/>
                                        </p:tgtEl>
                                        <p:attrNameLst>
                                          <p:attrName>ppt_x</p:attrName>
                                        </p:attrNameLst>
                                      </p:cBhvr>
                                      <p:tavLst>
                                        <p:tav tm="0">
                                          <p:val>
                                            <p:strVal val="#ppt_x"/>
                                          </p:val>
                                        </p:tav>
                                        <p:tav tm="100000">
                                          <p:val>
                                            <p:strVal val="#ppt_x"/>
                                          </p:val>
                                        </p:tav>
                                      </p:tavLst>
                                    </p:anim>
                                    <p:anim calcmode="lin" valueType="num">
                                      <p:cBhvr>
                                        <p:cTn id="41" dur="400" fill="hold"/>
                                        <p:tgtEl>
                                          <p:spTgt spid="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2A50"/>
        </a:solidFill>
        <a:effectLst/>
      </p:bgPr>
    </p:bg>
    <p:spTree>
      <p:nvGrpSpPr>
        <p:cNvPr id="1" name=""/>
        <p:cNvGrpSpPr/>
        <p:nvPr/>
      </p:nvGrpSpPr>
      <p:grpSpPr/>
      <p:pic>
        <p:nvPicPr>
          <p:cNvPr id="2" name="Picture 1" descr="regenboog_d.gif"/>
          <p:cNvPicPr>
            <a:picLocks noChangeAspect="1"/>
          </p:cNvPicPr>
          <p:nvPr/>
        </p:nvPicPr>
        <p:blipFill>
          <a:blip r:embed="rId3"/>
          <a:stretch>
            <a:fillRect/>
          </a:stretch>
        </p:blipFill>
        <p:spPr>
          <a:xfrm>
            <a:off x="8535376" y="457200"/>
            <a:ext cx="2766646" cy="1498599"/>
          </a:xfrm>
          <a:prstGeom prst="rect">
            <a:avLst/>
          </a:prstGeom>
        </p:spPr>
      </p:pic>
      <p:sp>
        <p:nvSpPr>
          <p:cNvPr id="3" name="TextBox 2"/>
          <p:cNvSpPr txBox="1"/>
          <p:nvPr/>
        </p:nvSpPr>
        <p:spPr>
          <a:xfrm>
            <a:off x="812800" y="2019300"/>
            <a:ext cx="10566400" cy="228600"/>
          </a:xfrm>
          <a:prstGeom prst="rect">
            <a:avLst/>
          </a:prstGeom>
          <a:noFill/>
        </p:spPr>
        <p:txBody>
          <a:bodyPr wrap="square" anchor="t" lIns="0" rIns="0" tIns="0" bIns="0">
            <a:noAutofit/>
          </a:bodyPr>
          <a:lstStyle/>
          <a:p>
            <a:pPr algn="l">
              <a:lnSpc>
                <a:spcPct val="125000"/>
              </a:lnSpc>
            </a:pPr>
            <a:r>
              <a:rPr sz="1200" b="1" i="0" cap="all" spc="300">
                <a:solidFill>
                  <a:srgbClr val="46ADE0"/>
                </a:solidFill>
                <a:latin typeface="Nunito Sans"/>
              </a:rPr>
              <a:t>Klimaat · Toekomst-jij</a:t>
            </a:r>
          </a:p>
        </p:txBody>
      </p:sp>
      <p:sp>
        <p:nvSpPr>
          <p:cNvPr id="4" name="TextBox 3"/>
          <p:cNvSpPr txBox="1"/>
          <p:nvPr/>
        </p:nvSpPr>
        <p:spPr>
          <a:xfrm>
            <a:off x="812800" y="2349500"/>
            <a:ext cx="9525000" cy="1651000"/>
          </a:xfrm>
          <a:prstGeom prst="rect">
            <a:avLst/>
          </a:prstGeom>
          <a:noFill/>
        </p:spPr>
        <p:txBody>
          <a:bodyPr wrap="square" anchor="t" lIns="0" rIns="0" tIns="0" bIns="0">
            <a:noAutofit/>
          </a:bodyPr>
          <a:lstStyle/>
          <a:p>
            <a:pPr algn="l">
              <a:lnSpc>
                <a:spcPct val="120000"/>
              </a:lnSpc>
            </a:pPr>
            <a:r>
              <a:rPr sz="3200" b="1" i="0">
                <a:solidFill>
                  <a:srgbClr val="FFFFFF"/>
                </a:solidFill>
                <a:latin typeface="Nunito Sans"/>
              </a:rPr>
              <a:t>“Weet je nog dat je in 2026 elke maand €50 begon opzij te zetten? Daardoor konden we in 2040 dat huis kopen.”</a:t>
            </a:r>
          </a:p>
        </p:txBody>
      </p:sp>
      <p:sp>
        <p:nvSpPr>
          <p:cNvPr id="5" name="TextBox 4"/>
          <p:cNvSpPr txBox="1"/>
          <p:nvPr/>
        </p:nvSpPr>
        <p:spPr>
          <a:xfrm>
            <a:off x="812800" y="4191000"/>
            <a:ext cx="8890000" cy="698500"/>
          </a:xfrm>
          <a:prstGeom prst="rect">
            <a:avLst/>
          </a:prstGeom>
          <a:noFill/>
        </p:spPr>
        <p:txBody>
          <a:bodyPr wrap="square" anchor="t" lIns="0" rIns="0" tIns="0" bIns="0">
            <a:noAutofit/>
          </a:bodyPr>
          <a:lstStyle/>
          <a:p>
            <a:pPr algn="l">
              <a:lnSpc>
                <a:spcPct val="130000"/>
              </a:lnSpc>
            </a:pPr>
            <a:r>
              <a:rPr sz="1600" b="0" i="0">
                <a:solidFill>
                  <a:srgbClr val="BFDAFF"/>
                </a:solidFill>
                <a:latin typeface="Nunito Sans"/>
              </a:rPr>
              <a:t>De klant praat met zijn eigen stem van over 30 jaar, gemaakt met ElevenLabs. Toekomst-jij rekent op de echte voorspelling en verandert mee als je vandaag ander weer kiest.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9" fill="hold">
                            <p:stCondLst>
                              <p:cond delay="0"/>
                            </p:stCondLst>
                            <p:childTnLst>
                              <p:par>
                                <p:cTn id="4" presetID="53" presetClass="entr" presetSubtype="16"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700"/>
                                        <p:tgtEl>
                                          <p:spTgt spid="2"/>
                                        </p:tgtEl>
                                      </p:cBhvr>
                                    </p:animEffect>
                                    <p:anim calcmode="lin" valueType="num">
                                      <p:cBhvr>
                                        <p:cTn id="7" dur="700" fill="hold"/>
                                        <p:tgtEl>
                                          <p:spTgt spid="2"/>
                                        </p:tgtEl>
                                        <p:attrNameLst>
                                          <p:attrName>ppt_w</p:attrName>
                                        </p:attrNameLst>
                                      </p:cBhvr>
                                      <p:tavLst>
                                        <p:tav tm="0">
                                          <p:val>
                                            <p:strVal val="#ppt_w*0.3"/>
                                          </p:val>
                                        </p:tav>
                                        <p:tav tm="100000">
                                          <p:val>
                                            <p:strVal val="#ppt_w"/>
                                          </p:val>
                                        </p:tav>
                                      </p:tavLst>
                                    </p:anim>
                                    <p:anim calcmode="lin" valueType="num">
                                      <p:cBhvr>
                                        <p:cTn id="8" dur="700" fill="hold"/>
                                        <p:tgtEl>
                                          <p:spTgt spid="2"/>
                                        </p:tgtEl>
                                        <p:attrNameLst>
                                          <p:attrName>ppt_h</p:attrName>
                                        </p:attrNameLst>
                                      </p:cBhvr>
                                      <p:tavLst>
                                        <p:tav tm="0">
                                          <p:val>
                                            <p:strVal val="#ppt_h*0.3"/>
                                          </p:val>
                                        </p:tav>
                                        <p:tav tm="100000">
                                          <p:val>
                                            <p:strVal val="#ppt_h"/>
                                          </p:val>
                                        </p:tav>
                                      </p:tavLst>
                                    </p:anim>
                                  </p:childTnLst>
                                </p:cTn>
                              </p:par>
                            </p:childTnLst>
                          </p:cTn>
                        </p:par>
                        <p:par>
                          <p:cTn id="13" fill="hold">
                            <p:stCondLst>
                              <p:cond delay="489"/>
                            </p:stCondLst>
                            <p:childTnLst>
                              <p:par>
                                <p:cTn id="10" presetID="10" presetClass="entr"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300"/>
                                        <p:tgtEl>
                                          <p:spTgt spid="3"/>
                                        </p:tgtEl>
                                      </p:cBhvr>
                                    </p:animEffect>
                                  </p:childTnLst>
                                </p:cTn>
                              </p:par>
                            </p:childTnLst>
                          </p:cTn>
                        </p:par>
                        <p:par>
                          <p:cTn id="17" fill="hold">
                            <p:stCondLst>
                              <p:cond delay="699"/>
                            </p:stCondLst>
                            <p:childTnLst>
                              <p:par>
                                <p:cTn id="14" presetID="10"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900"/>
                                        <p:tgtEl>
                                          <p:spTgt spid="4"/>
                                        </p:tgtEl>
                                      </p:cBhvr>
                                    </p:animEffect>
                                  </p:childTnLst>
                                </p:cTn>
                              </p:par>
                            </p:childTnLst>
                          </p:cTn>
                        </p:par>
                        <p:par>
                          <p:cTn id="21" fill="hold">
                            <p:stCondLst>
                              <p:cond delay="1329"/>
                            </p:stCondLst>
                            <p:childTnLst>
                              <p:par>
                                <p:cTn id="18" presetID="10" presetClass="entr" presetSubtype="0" fill="hold" grpId="0"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FF6FF"/>
        </a:solidFill>
        <a:effectLst/>
      </p:bgPr>
    </p:bg>
    <p:spTree>
      <p:nvGrpSpPr>
        <p:cNvPr id="1" name=""/>
        <p:cNvGrpSpPr/>
        <p:nvPr/>
      </p:nvGrpSpPr>
      <p:grpSpPr/>
      <p:sp>
        <p:nvSpPr>
          <p:cNvPr id="2" name="TextBox 1"/>
          <p:cNvSpPr txBox="1"/>
          <p:nvPr/>
        </p:nvSpPr>
        <p:spPr>
          <a:xfrm>
            <a:off x="812800" y="711200"/>
            <a:ext cx="10566400" cy="228600"/>
          </a:xfrm>
          <a:prstGeom prst="rect">
            <a:avLst/>
          </a:prstGeom>
          <a:noFill/>
        </p:spPr>
        <p:txBody>
          <a:bodyPr wrap="square" anchor="t" lIns="0" rIns="0" tIns="0" bIns="0">
            <a:noAutofit/>
          </a:bodyPr>
          <a:lstStyle/>
          <a:p>
            <a:pPr algn="l">
              <a:lnSpc>
                <a:spcPct val="125000"/>
              </a:lnSpc>
            </a:pPr>
            <a:r>
              <a:rPr sz="1200" b="1" i="0" cap="all" spc="300">
                <a:solidFill>
                  <a:srgbClr val="007AB1"/>
                </a:solidFill>
                <a:latin typeface="Nunito Sans"/>
              </a:rPr>
              <a:t>De klant van 2030</a:t>
            </a:r>
          </a:p>
        </p:txBody>
      </p:sp>
      <p:sp>
        <p:nvSpPr>
          <p:cNvPr id="3" name="TextBox 2"/>
          <p:cNvSpPr txBox="1"/>
          <p:nvPr/>
        </p:nvSpPr>
        <p:spPr>
          <a:xfrm>
            <a:off x="812800" y="990600"/>
            <a:ext cx="10566400" cy="908050"/>
          </a:xfrm>
          <a:prstGeom prst="rect">
            <a:avLst/>
          </a:prstGeom>
          <a:noFill/>
        </p:spPr>
        <p:txBody>
          <a:bodyPr wrap="square" anchor="t" lIns="0" rIns="0" tIns="0" bIns="0">
            <a:noAutofit/>
          </a:bodyPr>
          <a:lstStyle/>
          <a:p>
            <a:pPr algn="l">
              <a:lnSpc>
                <a:spcPct val="105000"/>
              </a:lnSpc>
            </a:pPr>
            <a:r>
              <a:rPr sz="3200" b="1" i="0">
                <a:solidFill>
                  <a:srgbClr val="0D2A50"/>
                </a:solidFill>
                <a:latin typeface="Nunito Sans"/>
              </a:rPr>
              <a:t>Vandaag lees jij het weerbericht. Morgen leest je assistent het mee.</a:t>
            </a:r>
          </a:p>
        </p:txBody>
      </p:sp>
      <p:sp>
        <p:nvSpPr>
          <p:cNvPr id="4" name="Rounded Rectangle 3"/>
          <p:cNvSpPr/>
          <p:nvPr/>
        </p:nvSpPr>
        <p:spPr>
          <a:xfrm>
            <a:off x="812800" y="2127250"/>
            <a:ext cx="5486400" cy="1016000"/>
          </a:xfrm>
          <a:prstGeom prst="roundRect">
            <a:avLst>
              <a:gd name="adj" fmla="val 10000"/>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0" rIns="635000" tIns="139700" bIns="139700">
            <a:noAutofit/>
          </a:bodyPr>
          <a:lstStyle/>
          <a:p>
            <a:pPr algn="l">
              <a:lnSpc>
                <a:spcPct val="110000"/>
              </a:lnSpc>
            </a:pPr>
            <a:r>
              <a:rPr sz="1600" b="1" i="0">
                <a:solidFill>
                  <a:srgbClr val="0D2A50"/>
                </a:solidFill>
                <a:latin typeface="Nunito Sans"/>
              </a:rPr>
              <a:t>In de app</a:t>
            </a:r>
          </a:p>
          <a:p>
            <a:pPr algn="l">
              <a:lnSpc>
                <a:spcPct val="125000"/>
              </a:lnSpc>
              <a:spcBef>
                <a:spcPts val="300"/>
              </a:spcBef>
            </a:pPr>
            <a:r>
              <a:rPr sz="1300" b="0" i="0">
                <a:solidFill>
                  <a:srgbClr val="45658F"/>
                </a:solidFill>
                <a:latin typeface="Nunito Sans"/>
              </a:rPr>
              <a:t>Het weerbericht als startscherm, met de knoppen om het weer te kiezen.</a:t>
            </a:r>
          </a:p>
        </p:txBody>
      </p:sp>
      <p:sp>
        <p:nvSpPr>
          <p:cNvPr id="5" name="Oval 4"/>
          <p:cNvSpPr/>
          <p:nvPr/>
        </p:nvSpPr>
        <p:spPr>
          <a:xfrm>
            <a:off x="990600" y="2457450"/>
            <a:ext cx="355600" cy="355600"/>
          </a:xfrm>
          <a:prstGeom prst="ellipse">
            <a:avLst/>
          </a:prstGeom>
          <a:solidFill>
            <a:srgbClr val="0097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25000"/>
              </a:lnSpc>
            </a:pPr>
            <a:r>
              <a:rPr sz="1400" b="1" i="0">
                <a:solidFill>
                  <a:srgbClr val="FFFFFF"/>
                </a:solidFill>
                <a:latin typeface="Nunito Sans"/>
              </a:rPr>
              <a:t>1</a:t>
            </a:r>
          </a:p>
        </p:txBody>
      </p:sp>
      <p:sp>
        <p:nvSpPr>
          <p:cNvPr id="6" name="Rounded Rectangle 5"/>
          <p:cNvSpPr/>
          <p:nvPr/>
        </p:nvSpPr>
        <p:spPr>
          <a:xfrm>
            <a:off x="812800" y="3270250"/>
            <a:ext cx="5486400" cy="1016000"/>
          </a:xfrm>
          <a:prstGeom prst="roundRect">
            <a:avLst>
              <a:gd name="adj" fmla="val 10000"/>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0" rIns="635000" tIns="139700" bIns="139700">
            <a:noAutofit/>
          </a:bodyPr>
          <a:lstStyle/>
          <a:p>
            <a:pPr algn="l">
              <a:lnSpc>
                <a:spcPct val="110000"/>
              </a:lnSpc>
            </a:pPr>
            <a:r>
              <a:rPr sz="1600" b="1" i="0">
                <a:solidFill>
                  <a:srgbClr val="0D2A50"/>
                </a:solidFill>
                <a:latin typeface="Nunito Sans"/>
              </a:rPr>
              <a:t>Via Kate</a:t>
            </a:r>
          </a:p>
          <a:p>
            <a:pPr algn="l">
              <a:lnSpc>
                <a:spcPct val="125000"/>
              </a:lnSpc>
              <a:spcBef>
                <a:spcPts val="300"/>
              </a:spcBef>
            </a:pPr>
            <a:r>
              <a:rPr sz="1300" b="0" i="0">
                <a:solidFill>
                  <a:srgbClr val="45658F"/>
                </a:solidFill>
                <a:latin typeface="Nunito Sans"/>
              </a:rPr>
              <a:t>In woord en stem: meldingen, gesprekken, de ochtend na de donder.</a:t>
            </a:r>
          </a:p>
        </p:txBody>
      </p:sp>
      <p:sp>
        <p:nvSpPr>
          <p:cNvPr id="7" name="Oval 6"/>
          <p:cNvSpPr/>
          <p:nvPr/>
        </p:nvSpPr>
        <p:spPr>
          <a:xfrm>
            <a:off x="990600" y="3600450"/>
            <a:ext cx="355600" cy="355600"/>
          </a:xfrm>
          <a:prstGeom prst="ellipse">
            <a:avLst/>
          </a:prstGeom>
          <a:solidFill>
            <a:srgbClr val="0097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25000"/>
              </a:lnSpc>
            </a:pPr>
            <a:r>
              <a:rPr sz="1400" b="1" i="0">
                <a:solidFill>
                  <a:srgbClr val="FFFFFF"/>
                </a:solidFill>
                <a:latin typeface="Nunito Sans"/>
              </a:rPr>
              <a:t>2</a:t>
            </a:r>
          </a:p>
        </p:txBody>
      </p:sp>
      <p:sp>
        <p:nvSpPr>
          <p:cNvPr id="8" name="Rounded Rectangle 7"/>
          <p:cNvSpPr/>
          <p:nvPr/>
        </p:nvSpPr>
        <p:spPr>
          <a:xfrm>
            <a:off x="812800" y="4413250"/>
            <a:ext cx="5486400" cy="1016000"/>
          </a:xfrm>
          <a:prstGeom prst="roundRect">
            <a:avLst>
              <a:gd name="adj" fmla="val 10000"/>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ctr" wrap="square" lIns="635000" rIns="635000" tIns="139700" bIns="139700">
            <a:noAutofit/>
          </a:bodyPr>
          <a:lstStyle/>
          <a:p>
            <a:pPr algn="l">
              <a:lnSpc>
                <a:spcPct val="110000"/>
              </a:lnSpc>
            </a:pPr>
            <a:r>
              <a:rPr sz="1600" b="1" i="0">
                <a:solidFill>
                  <a:srgbClr val="0D2A50"/>
                </a:solidFill>
                <a:latin typeface="Nunito Sans"/>
              </a:rPr>
              <a:t>Via de KBC Weer-API</a:t>
            </a:r>
          </a:p>
          <a:p>
            <a:pPr algn="l">
              <a:lnSpc>
                <a:spcPct val="125000"/>
              </a:lnSpc>
              <a:spcBef>
                <a:spcPts val="300"/>
              </a:spcBef>
            </a:pPr>
            <a:r>
              <a:rPr sz="1300" b="0" i="0">
                <a:solidFill>
                  <a:srgbClr val="45658F"/>
                </a:solidFill>
                <a:latin typeface="Nunito Sans"/>
              </a:rPr>
              <a:t>De persoonlijke AI-agent van de klant leest het weer en plant er agenda, aankopen en reis mee.</a:t>
            </a:r>
          </a:p>
        </p:txBody>
      </p:sp>
      <p:sp>
        <p:nvSpPr>
          <p:cNvPr id="9" name="Oval 8"/>
          <p:cNvSpPr/>
          <p:nvPr/>
        </p:nvSpPr>
        <p:spPr>
          <a:xfrm>
            <a:off x="990600" y="4743450"/>
            <a:ext cx="355600" cy="355600"/>
          </a:xfrm>
          <a:prstGeom prst="ellipse">
            <a:avLst/>
          </a:prstGeom>
          <a:solidFill>
            <a:srgbClr val="0097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25000"/>
              </a:lnSpc>
            </a:pPr>
            <a:r>
              <a:rPr sz="1400" b="1" i="0">
                <a:solidFill>
                  <a:srgbClr val="FFFFFF"/>
                </a:solidFill>
                <a:latin typeface="Nunito Sans"/>
              </a:rPr>
              <a:t>3</a:t>
            </a:r>
          </a:p>
        </p:txBody>
      </p:sp>
      <p:sp>
        <p:nvSpPr>
          <p:cNvPr id="10" name="Rounded Rectangle 9"/>
          <p:cNvSpPr/>
          <p:nvPr/>
        </p:nvSpPr>
        <p:spPr>
          <a:xfrm>
            <a:off x="6553200" y="2127250"/>
            <a:ext cx="4826000" cy="3302000"/>
          </a:xfrm>
          <a:prstGeom prst="roundRect">
            <a:avLst>
              <a:gd name="adj" fmla="val 3846"/>
            </a:avLst>
          </a:prstGeom>
          <a:solidFill>
            <a:srgbClr val="0D2A5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noAutofit/>
          </a:bodyPr>
          <a:lstStyle/>
          <a:p>
            <a:pPr algn="l">
              <a:lnSpc>
                <a:spcPct val="125000"/>
              </a:lnSpc>
            </a:pPr>
            <a:r>
              <a:rPr sz="1200" b="0" i="0">
                <a:solidFill>
                  <a:srgbClr val="8FA9CC"/>
                </a:solidFill>
                <a:latin typeface="Courier New"/>
              </a:rPr>
              <a:t>agent → KBC Weer-API</a:t>
            </a:r>
          </a:p>
          <a:p>
            <a:pPr algn="l">
              <a:lnSpc>
                <a:spcPct val="130000"/>
              </a:lnSpc>
              <a:spcBef>
                <a:spcPts val="700"/>
              </a:spcBef>
            </a:pPr>
            <a:r>
              <a:rPr sz="1300" b="0" i="0">
                <a:solidFill>
                  <a:srgbClr val="FFFFFF"/>
                </a:solidFill>
                <a:latin typeface="Courier New"/>
              </a:rPr>
              <a:t>“Hoe ziet het weer eruit als mijn eigenaar volgende maand verhuist?”</a:t>
            </a:r>
          </a:p>
          <a:p>
            <a:pPr algn="l">
              <a:lnSpc>
                <a:spcPct val="125000"/>
              </a:lnSpc>
              <a:spcBef>
                <a:spcPts val="700"/>
              </a:spcBef>
            </a:pPr>
            <a:r>
              <a:rPr sz="1200" b="0" i="0">
                <a:solidFill>
                  <a:srgbClr val="46ADE0"/>
                </a:solidFill>
                <a:latin typeface="Courier New"/>
              </a:rPr>
              <a:t>GET /weer?scenario=verhuis</a:t>
            </a:r>
          </a:p>
          <a:p>
            <a:pPr algn="l">
              <a:lnSpc>
                <a:spcPct val="125000"/>
              </a:lnSpc>
            </a:pPr>
            <a:r>
              <a:rPr sz="1200" b="0" i="0">
                <a:solidFill>
                  <a:srgbClr val="46ADE0"/>
                </a:solidFill>
                <a:latin typeface="Courier New"/>
              </a:rPr>
              <a:t>scope: enkel-lezen</a:t>
            </a:r>
          </a:p>
          <a:p>
            <a:pPr algn="l">
              <a:lnSpc>
                <a:spcPct val="130000"/>
              </a:lnSpc>
              <a:spcBef>
                <a:spcPts val="700"/>
              </a:spcBef>
            </a:pPr>
            <a:r>
              <a:rPr sz="1200" b="0" i="0">
                <a:solidFill>
                  <a:srgbClr val="FECC00"/>
                </a:solidFill>
                <a:latin typeface="Courier New"/>
              </a:rPr>
              <a:t>→ wk 1 zon · wk 2 storm · wk 3 regen · wk 4 zon</a:t>
            </a:r>
          </a:p>
          <a:p>
            <a:pPr algn="l">
              <a:lnSpc>
                <a:spcPct val="130000"/>
              </a:lnSpc>
              <a:spcBef>
                <a:spcPts val="1000"/>
              </a:spcBef>
            </a:pPr>
            <a:r>
              <a:rPr sz="1200" b="0" i="0">
                <a:solidFill>
                  <a:srgbClr val="BFDAFF"/>
                </a:solidFill>
                <a:latin typeface="Nunito Sans"/>
              </a:rPr>
              <a:t>De klant bepaalt welke agents het weer mogen lezen: enkel kijken, of ook handelen binnen grenzen die de klant zet.</a:t>
            </a:r>
          </a:p>
        </p:txBody>
      </p:sp>
      <p:sp>
        <p:nvSpPr>
          <p:cNvPr id="11" name="TextBox 10"/>
          <p:cNvSpPr txBox="1"/>
          <p:nvPr/>
        </p:nvSpPr>
        <p:spPr>
          <a:xfrm>
            <a:off x="812800" y="6350000"/>
            <a:ext cx="8890000" cy="215900"/>
          </a:xfrm>
          <a:prstGeom prst="rect">
            <a:avLst/>
          </a:prstGeom>
          <a:noFill/>
        </p:spPr>
        <p:txBody>
          <a:bodyPr wrap="square" anchor="t" lIns="0" rIns="0" tIns="0" bIns="0">
            <a:noAutofit/>
          </a:bodyPr>
          <a:lstStyle/>
          <a:p>
            <a:pPr algn="l">
              <a:lnSpc>
                <a:spcPct val="125000"/>
              </a:lnSpc>
            </a:pPr>
            <a:r>
              <a:rPr sz="1100" b="0" i="0">
                <a:solidFill>
                  <a:srgbClr val="45658F"/>
                </a:solidFill>
                <a:latin typeface="Nunito Sans"/>
              </a:rPr>
              <a:t>Context: EU-verordening FiDA gefaseerd vanaf 2027 · KBC: Kate voert niets uit zonder goedkeuring klant (11/2025)</a:t>
            </a:r>
          </a:p>
        </p:txBody>
      </p:sp>
      <p:sp>
        <p:nvSpPr>
          <p:cNvPr id="12" name="TextBox 11"/>
          <p:cNvSpPr txBox="1"/>
          <p:nvPr/>
        </p:nvSpPr>
        <p:spPr>
          <a:xfrm>
            <a:off x="10109200" y="6350000"/>
            <a:ext cx="1270000" cy="215900"/>
          </a:xfrm>
          <a:prstGeom prst="rect">
            <a:avLst/>
          </a:prstGeom>
          <a:noFill/>
        </p:spPr>
        <p:txBody>
          <a:bodyPr wrap="square" anchor="t" lIns="0" rIns="0" tIns="0" bIns="0">
            <a:noAutofit/>
          </a:bodyPr>
          <a:lstStyle/>
          <a:p>
            <a:pPr algn="r">
              <a:lnSpc>
                <a:spcPct val="125000"/>
              </a:lnSpc>
            </a:pPr>
            <a:r>
              <a:rPr sz="1100" b="0" i="0">
                <a:solidFill>
                  <a:srgbClr val="45658F"/>
                </a:solidFill>
                <a:latin typeface="Nunito Sans"/>
              </a:rPr>
              <a:t>16 / 23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4" fill="hold">
                            <p:stCondLst>
                              <p:cond delay="0"/>
                            </p:stCondLst>
                            <p:childTnLst>
                              <p:par>
                                <p:cTn id="4" presetID="42"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ppt_y+.08"/>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p:cTn id="12" dur="500" fill="hold"/>
                                        <p:tgtEl>
                                          <p:spTgt spid="3"/>
                                        </p:tgtEl>
                                        <p:attrNameLst>
                                          <p:attrName>ppt_x</p:attrName>
                                        </p:attrNameLst>
                                      </p:cBhvr>
                                      <p:tavLst>
                                        <p:tav tm="0">
                                          <p:val>
                                            <p:strVal val="#ppt_x"/>
                                          </p:val>
                                        </p:tav>
                                        <p:tav tm="100000">
                                          <p:val>
                                            <p:strVal val="#ppt_x"/>
                                          </p:val>
                                        </p:tav>
                                      </p:tavLst>
                                    </p:anim>
                                    <p:anim calcmode="lin" valueType="num">
                                      <p:cBhvr>
                                        <p:cTn id="13" dur="500" fill="hold"/>
                                        <p:tgtEl>
                                          <p:spTgt spid="3"/>
                                        </p:tgtEl>
                                        <p:attrNameLst>
                                          <p:attrName>ppt_y</p:attrName>
                                        </p:attrNameLst>
                                      </p:cBhvr>
                                      <p:tavLst>
                                        <p:tav tm="0">
                                          <p:val>
                                            <p:strVal val="#ppt_y+.08"/>
                                          </p:val>
                                        </p:tav>
                                        <p:tav tm="100000">
                                          <p:val>
                                            <p:strVal val="#ppt_y"/>
                                          </p:val>
                                        </p:tav>
                                      </p:tavLst>
                                    </p:anim>
                                  </p:childTnLst>
                                </p:cTn>
                              </p:par>
                            </p:childTnLst>
                          </p:cTn>
                        </p:par>
                        <p:par>
                          <p:cTn id="25" fill="hold">
                            <p:stCondLst>
                              <p:cond delay="350"/>
                            </p:stCondLst>
                            <p:childTnLst>
                              <p:par>
                                <p:cTn id="15" presetID="42" presetClass="entr" presetSubtype="0"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400"/>
                                        <p:tgtEl>
                                          <p:spTgt spid="4"/>
                                        </p:tgtEl>
                                      </p:cBhvr>
                                    </p:animEffect>
                                    <p:anim calcmode="lin" valueType="num">
                                      <p:cBhvr>
                                        <p:cTn id="18" dur="400" fill="hold"/>
                                        <p:tgtEl>
                                          <p:spTgt spid="4"/>
                                        </p:tgtEl>
                                        <p:attrNameLst>
                                          <p:attrName>ppt_x</p:attrName>
                                        </p:attrNameLst>
                                      </p:cBhvr>
                                      <p:tavLst>
                                        <p:tav tm="0">
                                          <p:val>
                                            <p:strVal val="#ppt_x"/>
                                          </p:val>
                                        </p:tav>
                                        <p:tav tm="100000">
                                          <p:val>
                                            <p:strVal val="#ppt_x"/>
                                          </p:val>
                                        </p:tav>
                                      </p:tavLst>
                                    </p:anim>
                                    <p:anim calcmode="lin" valueType="num">
                                      <p:cBhvr>
                                        <p:cTn id="19" dur="400" fill="hold"/>
                                        <p:tgtEl>
                                          <p:spTgt spid="4"/>
                                        </p:tgtEl>
                                        <p:attrNameLst>
                                          <p:attrName>ppt_y</p:attrName>
                                        </p:attrNameLst>
                                      </p:cBhvr>
                                      <p:tavLst>
                                        <p:tav tm="0">
                                          <p:val>
                                            <p:strVal val="#ppt_y+.08"/>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400"/>
                                        <p:tgtEl>
                                          <p:spTgt spid="5"/>
                                        </p:tgtEl>
                                      </p:cBhvr>
                                    </p:animEffect>
                                    <p:anim calcmode="lin" valueType="num">
                                      <p:cBhvr>
                                        <p:cTn id="23" dur="400" fill="hold"/>
                                        <p:tgtEl>
                                          <p:spTgt spid="5"/>
                                        </p:tgtEl>
                                        <p:attrNameLst>
                                          <p:attrName>ppt_x</p:attrName>
                                        </p:attrNameLst>
                                      </p:cBhvr>
                                      <p:tavLst>
                                        <p:tav tm="0">
                                          <p:val>
                                            <p:strVal val="#ppt_x"/>
                                          </p:val>
                                        </p:tav>
                                        <p:tav tm="100000">
                                          <p:val>
                                            <p:strVal val="#ppt_x"/>
                                          </p:val>
                                        </p:tav>
                                      </p:tavLst>
                                    </p:anim>
                                    <p:anim calcmode="lin" valueType="num">
                                      <p:cBhvr>
                                        <p:cTn id="24" dur="400" fill="hold"/>
                                        <p:tgtEl>
                                          <p:spTgt spid="5"/>
                                        </p:tgtEl>
                                        <p:attrNameLst>
                                          <p:attrName>ppt_y</p:attrName>
                                        </p:attrNameLst>
                                      </p:cBhvr>
                                      <p:tavLst>
                                        <p:tav tm="0">
                                          <p:val>
                                            <p:strVal val="#ppt_y+.08"/>
                                          </p:val>
                                        </p:tav>
                                        <p:tav tm="100000">
                                          <p:val>
                                            <p:strVal val="#ppt_y"/>
                                          </p:val>
                                        </p:tav>
                                      </p:tavLst>
                                    </p:anim>
                                  </p:childTnLst>
                                </p:cTn>
                              </p:par>
                            </p:childTnLst>
                          </p:cTn>
                        </p:par>
                        <p:par>
                          <p:cTn id="36" fill="hold">
                            <p:stCondLst>
                              <p:cond delay="630"/>
                            </p:stCondLst>
                            <p:childTnLst>
                              <p:par>
                                <p:cTn id="26" presetID="42" presetClass="entr" presetSubtype="0" fill="hold" grpId="0"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400"/>
                                        <p:tgtEl>
                                          <p:spTgt spid="6"/>
                                        </p:tgtEl>
                                      </p:cBhvr>
                                    </p:animEffect>
                                    <p:anim calcmode="lin" valueType="num">
                                      <p:cBhvr>
                                        <p:cTn id="29" dur="400" fill="hold"/>
                                        <p:tgtEl>
                                          <p:spTgt spid="6"/>
                                        </p:tgtEl>
                                        <p:attrNameLst>
                                          <p:attrName>ppt_x</p:attrName>
                                        </p:attrNameLst>
                                      </p:cBhvr>
                                      <p:tavLst>
                                        <p:tav tm="0">
                                          <p:val>
                                            <p:strVal val="#ppt_x"/>
                                          </p:val>
                                        </p:tav>
                                        <p:tav tm="100000">
                                          <p:val>
                                            <p:strVal val="#ppt_x"/>
                                          </p:val>
                                        </p:tav>
                                      </p:tavLst>
                                    </p:anim>
                                    <p:anim calcmode="lin" valueType="num">
                                      <p:cBhvr>
                                        <p:cTn id="30" dur="400" fill="hold"/>
                                        <p:tgtEl>
                                          <p:spTgt spid="6"/>
                                        </p:tgtEl>
                                        <p:attrNameLst>
                                          <p:attrName>ppt_y</p:attrName>
                                        </p:attrNameLst>
                                      </p:cBhvr>
                                      <p:tavLst>
                                        <p:tav tm="0">
                                          <p:val>
                                            <p:strVal val="#ppt_y+.08"/>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400"/>
                                        <p:tgtEl>
                                          <p:spTgt spid="7"/>
                                        </p:tgtEl>
                                      </p:cBhvr>
                                    </p:animEffect>
                                    <p:anim calcmode="lin" valueType="num">
                                      <p:cBhvr>
                                        <p:cTn id="34" dur="400" fill="hold"/>
                                        <p:tgtEl>
                                          <p:spTgt spid="7"/>
                                        </p:tgtEl>
                                        <p:attrNameLst>
                                          <p:attrName>ppt_x</p:attrName>
                                        </p:attrNameLst>
                                      </p:cBhvr>
                                      <p:tavLst>
                                        <p:tav tm="0">
                                          <p:val>
                                            <p:strVal val="#ppt_x"/>
                                          </p:val>
                                        </p:tav>
                                        <p:tav tm="100000">
                                          <p:val>
                                            <p:strVal val="#ppt_x"/>
                                          </p:val>
                                        </p:tav>
                                      </p:tavLst>
                                    </p:anim>
                                    <p:anim calcmode="lin" valueType="num">
                                      <p:cBhvr>
                                        <p:cTn id="35" dur="400" fill="hold"/>
                                        <p:tgtEl>
                                          <p:spTgt spid="7"/>
                                        </p:tgtEl>
                                        <p:attrNameLst>
                                          <p:attrName>ppt_y</p:attrName>
                                        </p:attrNameLst>
                                      </p:cBhvr>
                                      <p:tavLst>
                                        <p:tav tm="0">
                                          <p:val>
                                            <p:strVal val="#ppt_y+.08"/>
                                          </p:val>
                                        </p:tav>
                                        <p:tav tm="100000">
                                          <p:val>
                                            <p:strVal val="#ppt_y"/>
                                          </p:val>
                                        </p:tav>
                                      </p:tavLst>
                                    </p:anim>
                                  </p:childTnLst>
                                </p:cTn>
                              </p:par>
                            </p:childTnLst>
                          </p:cTn>
                        </p:par>
                        <p:par>
                          <p:cTn id="47" fill="hold">
                            <p:stCondLst>
                              <p:cond delay="910"/>
                            </p:stCondLst>
                            <p:childTnLst>
                              <p:par>
                                <p:cTn id="37" presetID="42" presetClass="entr" presetSubtype="0" fill="hold" grpId="0" nodeType="after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400"/>
                                        <p:tgtEl>
                                          <p:spTgt spid="8"/>
                                        </p:tgtEl>
                                      </p:cBhvr>
                                    </p:animEffect>
                                    <p:anim calcmode="lin" valueType="num">
                                      <p:cBhvr>
                                        <p:cTn id="40" dur="400" fill="hold"/>
                                        <p:tgtEl>
                                          <p:spTgt spid="8"/>
                                        </p:tgtEl>
                                        <p:attrNameLst>
                                          <p:attrName>ppt_x</p:attrName>
                                        </p:attrNameLst>
                                      </p:cBhvr>
                                      <p:tavLst>
                                        <p:tav tm="0">
                                          <p:val>
                                            <p:strVal val="#ppt_x"/>
                                          </p:val>
                                        </p:tav>
                                        <p:tav tm="100000">
                                          <p:val>
                                            <p:strVal val="#ppt_x"/>
                                          </p:val>
                                        </p:tav>
                                      </p:tavLst>
                                    </p:anim>
                                    <p:anim calcmode="lin" valueType="num">
                                      <p:cBhvr>
                                        <p:cTn id="41" dur="400" fill="hold"/>
                                        <p:tgtEl>
                                          <p:spTgt spid="8"/>
                                        </p:tgtEl>
                                        <p:attrNameLst>
                                          <p:attrName>ppt_y</p:attrName>
                                        </p:attrNameLst>
                                      </p:cBhvr>
                                      <p:tavLst>
                                        <p:tav tm="0">
                                          <p:val>
                                            <p:strVal val="#ppt_y+.08"/>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400"/>
                                        <p:tgtEl>
                                          <p:spTgt spid="9"/>
                                        </p:tgtEl>
                                      </p:cBhvr>
                                    </p:animEffect>
                                    <p:anim calcmode="lin" valueType="num">
                                      <p:cBhvr>
                                        <p:cTn id="45" dur="400" fill="hold"/>
                                        <p:tgtEl>
                                          <p:spTgt spid="9"/>
                                        </p:tgtEl>
                                        <p:attrNameLst>
                                          <p:attrName>ppt_x</p:attrName>
                                        </p:attrNameLst>
                                      </p:cBhvr>
                                      <p:tavLst>
                                        <p:tav tm="0">
                                          <p:val>
                                            <p:strVal val="#ppt_x"/>
                                          </p:val>
                                        </p:tav>
                                        <p:tav tm="100000">
                                          <p:val>
                                            <p:strVal val="#ppt_x"/>
                                          </p:val>
                                        </p:tav>
                                      </p:tavLst>
                                    </p:anim>
                                    <p:anim calcmode="lin" valueType="num">
                                      <p:cBhvr>
                                        <p:cTn id="46" dur="400" fill="hold"/>
                                        <p:tgtEl>
                                          <p:spTgt spid="9"/>
                                        </p:tgtEl>
                                        <p:attrNameLst>
                                          <p:attrName>ppt_y</p:attrName>
                                        </p:attrNameLst>
                                      </p:cBhvr>
                                      <p:tavLst>
                                        <p:tav tm="0">
                                          <p:val>
                                            <p:strVal val="#ppt_y+.08"/>
                                          </p:val>
                                        </p:tav>
                                        <p:tav tm="100000">
                                          <p:val>
                                            <p:strVal val="#ppt_y"/>
                                          </p:val>
                                        </p:tav>
                                      </p:tavLst>
                                    </p:anim>
                                  </p:childTnLst>
                                </p:cTn>
                              </p:par>
                            </p:childTnLst>
                          </p:cTn>
                        </p:par>
                        <p:par>
                          <p:cTn id="51" fill="hold">
                            <p:stCondLst>
                              <p:cond delay="1190"/>
                            </p:stCondLst>
                            <p:childTnLst>
                              <p:par>
                                <p:cTn id="48" presetID="10" presetClass="entr" presetSubtype="0" fill="hold" grpId="0" nodeType="after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6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FF6FF"/>
        </a:solidFill>
        <a:effectLst/>
      </p:bgPr>
    </p:bg>
    <p:spTree>
      <p:nvGrpSpPr>
        <p:cNvPr id="1" name=""/>
        <p:cNvGrpSpPr/>
        <p:nvPr/>
      </p:nvGrpSpPr>
      <p:grpSpPr/>
      <p:sp>
        <p:nvSpPr>
          <p:cNvPr id="2" name="TextBox 1"/>
          <p:cNvSpPr txBox="1"/>
          <p:nvPr/>
        </p:nvSpPr>
        <p:spPr>
          <a:xfrm>
            <a:off x="812800" y="711200"/>
            <a:ext cx="10566400" cy="228600"/>
          </a:xfrm>
          <a:prstGeom prst="rect">
            <a:avLst/>
          </a:prstGeom>
          <a:noFill/>
        </p:spPr>
        <p:txBody>
          <a:bodyPr wrap="square" anchor="t" lIns="0" rIns="0" tIns="0" bIns="0">
            <a:noAutofit/>
          </a:bodyPr>
          <a:lstStyle/>
          <a:p>
            <a:pPr algn="l">
              <a:lnSpc>
                <a:spcPct val="125000"/>
              </a:lnSpc>
            </a:pPr>
            <a:r>
              <a:rPr sz="1200" b="1" i="0" cap="all" spc="300">
                <a:solidFill>
                  <a:srgbClr val="007AB1"/>
                </a:solidFill>
                <a:latin typeface="Nunito Sans"/>
              </a:rPr>
              <a:t>Onder de motorkap · moments engine</a:t>
            </a:r>
          </a:p>
        </p:txBody>
      </p:sp>
      <p:sp>
        <p:nvSpPr>
          <p:cNvPr id="3" name="TextBox 2"/>
          <p:cNvSpPr txBox="1"/>
          <p:nvPr/>
        </p:nvSpPr>
        <p:spPr>
          <a:xfrm>
            <a:off x="812800" y="990600"/>
            <a:ext cx="10566400" cy="793750"/>
          </a:xfrm>
          <a:prstGeom prst="rect">
            <a:avLst/>
          </a:prstGeom>
          <a:noFill/>
        </p:spPr>
        <p:txBody>
          <a:bodyPr wrap="square" anchor="t" lIns="0" rIns="0" tIns="0" bIns="0">
            <a:noAutofit/>
          </a:bodyPr>
          <a:lstStyle/>
          <a:p>
            <a:pPr algn="l">
              <a:lnSpc>
                <a:spcPct val="105000"/>
              </a:lnSpc>
            </a:pPr>
            <a:r>
              <a:rPr sz="2800" b="1" i="0">
                <a:solidFill>
                  <a:srgbClr val="0D2A50"/>
                </a:solidFill>
                <a:latin typeface="Nunito Sans"/>
              </a:rPr>
              <a:t>Rekenen voor iedereen, het taalmodel enkel voor wie een melding krijgt</a:t>
            </a:r>
          </a:p>
        </p:txBody>
      </p:sp>
      <p:sp>
        <p:nvSpPr>
          <p:cNvPr id="4" name="Rounded Rectangle 3"/>
          <p:cNvSpPr/>
          <p:nvPr/>
        </p:nvSpPr>
        <p:spPr>
          <a:xfrm>
            <a:off x="812800" y="2286000"/>
            <a:ext cx="1587500" cy="1905000"/>
          </a:xfrm>
          <a:prstGeom prst="roundRect">
            <a:avLst>
              <a:gd name="adj" fmla="val 6400"/>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t" wrap="square" lIns="127000" rIns="127000" tIns="127000" bIns="127000">
            <a:noAutofit/>
          </a:bodyPr>
          <a:lstStyle/>
          <a:p>
            <a:pPr algn="l">
              <a:lnSpc>
                <a:spcPct val="125000"/>
              </a:lnSpc>
            </a:pPr>
            <a:r>
              <a:rPr sz="1200" b="1" i="0">
                <a:solidFill>
                  <a:srgbClr val="007AB1"/>
                </a:solidFill>
                <a:latin typeface="Nunito Sans"/>
              </a:rPr>
              <a:t>1</a:t>
            </a:r>
          </a:p>
          <a:p>
            <a:pPr algn="l">
              <a:lnSpc>
                <a:spcPct val="110000"/>
              </a:lnSpc>
              <a:spcBef>
                <a:spcPts val="300"/>
              </a:spcBef>
            </a:pPr>
            <a:r>
              <a:rPr sz="1400" b="1" i="0">
                <a:solidFill>
                  <a:srgbClr val="0D2A50"/>
                </a:solidFill>
                <a:latin typeface="Nunito Sans"/>
              </a:rPr>
              <a:t>Signalen</a:t>
            </a:r>
          </a:p>
          <a:p>
            <a:pPr algn="l">
              <a:lnSpc>
                <a:spcPct val="120000"/>
              </a:lnSpc>
              <a:spcBef>
                <a:spcPts val="400"/>
              </a:spcBef>
            </a:pPr>
            <a:r>
              <a:rPr sz="1200" b="0" i="0">
                <a:solidFill>
                  <a:srgbClr val="45658F"/>
                </a:solidFill>
                <a:latin typeface="Nunito Sans"/>
              </a:rPr>
              <a:t>Transacties, app-gedrag en bevestigingen van de klant</a:t>
            </a:r>
          </a:p>
        </p:txBody>
      </p:sp>
      <p:cxnSp>
        <p:nvCxnSpPr>
          <p:cNvPr id="5" name="Connector 4"/>
          <p:cNvCxnSpPr/>
          <p:nvPr/>
        </p:nvCxnSpPr>
        <p:spPr>
          <a:xfrm>
            <a:off x="2400300" y="3238500"/>
            <a:ext cx="203200" cy="0"/>
          </a:xfrm>
          <a:prstGeom prst="line">
            <a:avLst/>
          </a:prstGeom>
          <a:ln w="19050">
            <a:solidFill>
              <a:srgbClr val="4565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603500" y="2286000"/>
            <a:ext cx="1587500" cy="1905000"/>
          </a:xfrm>
          <a:prstGeom prst="roundRect">
            <a:avLst>
              <a:gd name="adj" fmla="val 6400"/>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t" wrap="square" lIns="127000" rIns="127000" tIns="127000" bIns="127000">
            <a:noAutofit/>
          </a:bodyPr>
          <a:lstStyle/>
          <a:p>
            <a:pPr algn="l">
              <a:lnSpc>
                <a:spcPct val="125000"/>
              </a:lnSpc>
            </a:pPr>
            <a:r>
              <a:rPr sz="1200" b="1" i="0">
                <a:solidFill>
                  <a:srgbClr val="007AB1"/>
                </a:solidFill>
                <a:latin typeface="Nunito Sans"/>
              </a:rPr>
              <a:t>2</a:t>
            </a:r>
          </a:p>
          <a:p>
            <a:pPr algn="l">
              <a:lnSpc>
                <a:spcPct val="110000"/>
              </a:lnSpc>
              <a:spcBef>
                <a:spcPts val="300"/>
              </a:spcBef>
            </a:pPr>
            <a:r>
              <a:rPr sz="1400" b="1" i="0">
                <a:solidFill>
                  <a:srgbClr val="0D2A50"/>
                </a:solidFill>
                <a:latin typeface="Nunito Sans"/>
              </a:rPr>
              <a:t>Momenten</a:t>
            </a:r>
          </a:p>
          <a:p>
            <a:pPr algn="l">
              <a:lnSpc>
                <a:spcPct val="120000"/>
              </a:lnSpc>
              <a:spcBef>
                <a:spcPts val="400"/>
              </a:spcBef>
            </a:pPr>
            <a:r>
              <a:rPr sz="1200" b="0" i="0">
                <a:solidFill>
                  <a:srgbClr val="45658F"/>
                </a:solidFill>
                <a:latin typeface="Nunito Sans"/>
              </a:rPr>
              <a:t>Regels en lichte ML op de stroom, goedkoop per klant</a:t>
            </a:r>
          </a:p>
        </p:txBody>
      </p:sp>
      <p:cxnSp>
        <p:nvCxnSpPr>
          <p:cNvPr id="7" name="Connector 6"/>
          <p:cNvCxnSpPr/>
          <p:nvPr/>
        </p:nvCxnSpPr>
        <p:spPr>
          <a:xfrm>
            <a:off x="4191000" y="3238500"/>
            <a:ext cx="203200" cy="0"/>
          </a:xfrm>
          <a:prstGeom prst="line">
            <a:avLst/>
          </a:prstGeom>
          <a:ln w="19050">
            <a:solidFill>
              <a:srgbClr val="4565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394200" y="2286000"/>
            <a:ext cx="1587500" cy="1905000"/>
          </a:xfrm>
          <a:prstGeom prst="roundRect">
            <a:avLst>
              <a:gd name="adj" fmla="val 6400"/>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t" wrap="square" lIns="127000" rIns="127000" tIns="127000" bIns="127000">
            <a:noAutofit/>
          </a:bodyPr>
          <a:lstStyle/>
          <a:p>
            <a:pPr algn="l">
              <a:lnSpc>
                <a:spcPct val="125000"/>
              </a:lnSpc>
            </a:pPr>
            <a:r>
              <a:rPr sz="1200" b="1" i="0">
                <a:solidFill>
                  <a:srgbClr val="007AB1"/>
                </a:solidFill>
                <a:latin typeface="Nunito Sans"/>
              </a:rPr>
              <a:t>3</a:t>
            </a:r>
          </a:p>
          <a:p>
            <a:pPr algn="l">
              <a:lnSpc>
                <a:spcPct val="110000"/>
              </a:lnSpc>
              <a:spcBef>
                <a:spcPts val="300"/>
              </a:spcBef>
            </a:pPr>
            <a:r>
              <a:rPr sz="1400" b="1" i="0">
                <a:solidFill>
                  <a:srgbClr val="0D2A50"/>
                </a:solidFill>
                <a:latin typeface="Nunito Sans"/>
              </a:rPr>
              <a:t>Voorspelling</a:t>
            </a:r>
          </a:p>
          <a:p>
            <a:pPr algn="l">
              <a:lnSpc>
                <a:spcPct val="120000"/>
              </a:lnSpc>
              <a:spcBef>
                <a:spcPts val="400"/>
              </a:spcBef>
            </a:pPr>
            <a:r>
              <a:rPr sz="1200" b="0" i="0">
                <a:solidFill>
                  <a:srgbClr val="45658F"/>
                </a:solidFill>
                <a:latin typeface="Nunito Sans"/>
              </a:rPr>
              <a:t>14 dagen per klant: nachtelijke batch, bijgewerkt bij events</a:t>
            </a:r>
          </a:p>
        </p:txBody>
      </p:sp>
      <p:cxnSp>
        <p:nvCxnSpPr>
          <p:cNvPr id="9" name="Connector 8"/>
          <p:cNvCxnSpPr/>
          <p:nvPr/>
        </p:nvCxnSpPr>
        <p:spPr>
          <a:xfrm>
            <a:off x="5981700" y="3238500"/>
            <a:ext cx="203200" cy="0"/>
          </a:xfrm>
          <a:prstGeom prst="line">
            <a:avLst/>
          </a:prstGeom>
          <a:ln w="19050">
            <a:solidFill>
              <a:srgbClr val="4565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184900" y="2286000"/>
            <a:ext cx="1587500" cy="1905000"/>
          </a:xfrm>
          <a:prstGeom prst="roundRect">
            <a:avLst>
              <a:gd name="adj" fmla="val 6400"/>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t" wrap="square" lIns="127000" rIns="127000" tIns="127000" bIns="127000">
            <a:noAutofit/>
          </a:bodyPr>
          <a:lstStyle/>
          <a:p>
            <a:pPr algn="l">
              <a:lnSpc>
                <a:spcPct val="125000"/>
              </a:lnSpc>
            </a:pPr>
            <a:r>
              <a:rPr sz="1200" b="1" i="0">
                <a:solidFill>
                  <a:srgbClr val="007AB1"/>
                </a:solidFill>
                <a:latin typeface="Nunito Sans"/>
              </a:rPr>
              <a:t>4</a:t>
            </a:r>
          </a:p>
          <a:p>
            <a:pPr algn="l">
              <a:lnSpc>
                <a:spcPct val="110000"/>
              </a:lnSpc>
              <a:spcBef>
                <a:spcPts val="300"/>
              </a:spcBef>
            </a:pPr>
            <a:r>
              <a:rPr sz="1400" b="1" i="0">
                <a:solidFill>
                  <a:srgbClr val="0D2A50"/>
                </a:solidFill>
                <a:latin typeface="Nunito Sans"/>
              </a:rPr>
              <a:t>Playbooks</a:t>
            </a:r>
          </a:p>
          <a:p>
            <a:pPr algn="l">
              <a:lnSpc>
                <a:spcPct val="120000"/>
              </a:lnSpc>
              <a:spcBef>
                <a:spcPts val="400"/>
              </a:spcBef>
            </a:pPr>
            <a:r>
              <a:rPr sz="1200" b="0" i="0">
                <a:solidFill>
                  <a:srgbClr val="45658F"/>
                </a:solidFill>
                <a:latin typeface="Nunito Sans"/>
              </a:rPr>
              <a:t>Seizoen kiezen, advies rangschikken op klantbelang, of zwijgen</a:t>
            </a:r>
          </a:p>
        </p:txBody>
      </p:sp>
      <p:cxnSp>
        <p:nvCxnSpPr>
          <p:cNvPr id="11" name="Connector 10"/>
          <p:cNvCxnSpPr/>
          <p:nvPr/>
        </p:nvCxnSpPr>
        <p:spPr>
          <a:xfrm>
            <a:off x="7772400" y="3238500"/>
            <a:ext cx="203200" cy="0"/>
          </a:xfrm>
          <a:prstGeom prst="line">
            <a:avLst/>
          </a:prstGeom>
          <a:ln w="19050">
            <a:solidFill>
              <a:srgbClr val="4565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975600" y="2286000"/>
            <a:ext cx="1587500" cy="1905000"/>
          </a:xfrm>
          <a:prstGeom prst="roundRect">
            <a:avLst>
              <a:gd name="adj" fmla="val 6400"/>
            </a:avLst>
          </a:prstGeom>
          <a:solidFill>
            <a:srgbClr val="E5F4FF"/>
          </a:solidFill>
          <a:ln w="12700">
            <a:solidFill>
              <a:srgbClr val="007AB1"/>
            </a:solidFill>
          </a:ln>
          <a:effectLst/>
        </p:spPr>
        <p:style>
          <a:lnRef idx="1">
            <a:schemeClr val="accent1"/>
          </a:lnRef>
          <a:fillRef idx="3">
            <a:schemeClr val="accent1"/>
          </a:fillRef>
          <a:effectRef idx="2">
            <a:schemeClr val="accent1"/>
          </a:effectRef>
          <a:fontRef idx="minor">
            <a:schemeClr val="lt1"/>
          </a:fontRef>
        </p:style>
        <p:txBody>
          <a:bodyPr rtlCol="0" anchor="t" wrap="square" lIns="127000" rIns="127000" tIns="127000" bIns="127000">
            <a:noAutofit/>
          </a:bodyPr>
          <a:lstStyle/>
          <a:p>
            <a:pPr algn="l">
              <a:lnSpc>
                <a:spcPct val="125000"/>
              </a:lnSpc>
            </a:pPr>
            <a:r>
              <a:rPr sz="1200" b="1" i="0">
                <a:solidFill>
                  <a:srgbClr val="007AB1"/>
                </a:solidFill>
                <a:latin typeface="Nunito Sans"/>
              </a:rPr>
              <a:t>5</a:t>
            </a:r>
          </a:p>
          <a:p>
            <a:pPr algn="l">
              <a:lnSpc>
                <a:spcPct val="110000"/>
              </a:lnSpc>
              <a:spcBef>
                <a:spcPts val="300"/>
              </a:spcBef>
            </a:pPr>
            <a:r>
              <a:rPr sz="1400" b="1" i="0">
                <a:solidFill>
                  <a:srgbClr val="0D2A50"/>
                </a:solidFill>
                <a:latin typeface="Nunito Sans"/>
              </a:rPr>
              <a:t>Kate (Gemini)</a:t>
            </a:r>
          </a:p>
          <a:p>
            <a:pPr algn="l">
              <a:lnSpc>
                <a:spcPct val="120000"/>
              </a:lnSpc>
              <a:spcBef>
                <a:spcPts val="400"/>
              </a:spcBef>
            </a:pPr>
            <a:r>
              <a:rPr sz="1200" b="0" i="0">
                <a:solidFill>
                  <a:srgbClr val="45658F"/>
                </a:solidFill>
                <a:latin typeface="Nunito Sans"/>
              </a:rPr>
              <a:t>Formuleert de boodschap, enkel voor wie vandaag een melding krijgt</a:t>
            </a:r>
          </a:p>
        </p:txBody>
      </p:sp>
      <p:cxnSp>
        <p:nvCxnSpPr>
          <p:cNvPr id="13" name="Connector 12"/>
          <p:cNvCxnSpPr/>
          <p:nvPr/>
        </p:nvCxnSpPr>
        <p:spPr>
          <a:xfrm>
            <a:off x="9563100" y="3238500"/>
            <a:ext cx="203200" cy="0"/>
          </a:xfrm>
          <a:prstGeom prst="line">
            <a:avLst/>
          </a:prstGeom>
          <a:ln w="19050">
            <a:solidFill>
              <a:srgbClr val="4565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766300" y="2286000"/>
            <a:ext cx="1587500" cy="1905000"/>
          </a:xfrm>
          <a:prstGeom prst="roundRect">
            <a:avLst>
              <a:gd name="adj" fmla="val 6400"/>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t" wrap="square" lIns="127000" rIns="127000" tIns="127000" bIns="127000">
            <a:noAutofit/>
          </a:bodyPr>
          <a:lstStyle/>
          <a:p>
            <a:pPr algn="l">
              <a:lnSpc>
                <a:spcPct val="125000"/>
              </a:lnSpc>
            </a:pPr>
            <a:r>
              <a:rPr sz="1200" b="1" i="0">
                <a:solidFill>
                  <a:srgbClr val="007AB1"/>
                </a:solidFill>
                <a:latin typeface="Nunito Sans"/>
              </a:rPr>
              <a:t>6</a:t>
            </a:r>
          </a:p>
          <a:p>
            <a:pPr algn="l">
              <a:lnSpc>
                <a:spcPct val="110000"/>
              </a:lnSpc>
              <a:spcBef>
                <a:spcPts val="300"/>
              </a:spcBef>
            </a:pPr>
            <a:r>
              <a:rPr sz="1400" b="1" i="0">
                <a:solidFill>
                  <a:srgbClr val="0D2A50"/>
                </a:solidFill>
                <a:latin typeface="Nunito Sans"/>
              </a:rPr>
              <a:t>Kanalen</a:t>
            </a:r>
          </a:p>
          <a:p>
            <a:pPr algn="l">
              <a:lnSpc>
                <a:spcPct val="120000"/>
              </a:lnSpc>
              <a:spcBef>
                <a:spcPts val="400"/>
              </a:spcBef>
            </a:pPr>
            <a:r>
              <a:rPr sz="1200" b="0" i="0">
                <a:solidFill>
                  <a:srgbClr val="45658F"/>
                </a:solidFill>
                <a:latin typeface="Nunito Sans"/>
              </a:rPr>
              <a:t>App, Kate in woord en stem, Weer-API voor agents</a:t>
            </a:r>
          </a:p>
        </p:txBody>
      </p:sp>
      <p:cxnSp>
        <p:nvCxnSpPr>
          <p:cNvPr id="15" name="Connector 14"/>
          <p:cNvCxnSpPr/>
          <p:nvPr/>
        </p:nvCxnSpPr>
        <p:spPr>
          <a:xfrm>
            <a:off x="10560050" y="4191000"/>
            <a:ext cx="0" cy="1079500"/>
          </a:xfrm>
          <a:prstGeom prst="line">
            <a:avLst/>
          </a:prstGeom>
          <a:ln w="19050">
            <a:solidFill>
              <a:srgbClr val="45658F"/>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7937500" y="5270500"/>
            <a:ext cx="2622550" cy="0"/>
          </a:xfrm>
          <a:prstGeom prst="line">
            <a:avLst/>
          </a:prstGeom>
          <a:ln w="19050">
            <a:solidFill>
              <a:srgbClr val="45658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381500" y="4762500"/>
            <a:ext cx="3556000" cy="1016000"/>
          </a:xfrm>
          <a:prstGeom prst="roundRect">
            <a:avLst>
              <a:gd name="adj" fmla="val 10000"/>
            </a:avLst>
          </a:prstGeom>
          <a:solidFill>
            <a:srgbClr val="FFF7D6"/>
          </a:solidFill>
          <a:ln w="12700">
            <a:solidFill>
              <a:srgbClr val="FECC00"/>
            </a:solidFill>
          </a:ln>
          <a:effectLst/>
        </p:spPr>
        <p:style>
          <a:lnRef idx="1">
            <a:schemeClr val="accent1"/>
          </a:lnRef>
          <a:fillRef idx="3">
            <a:schemeClr val="accent1"/>
          </a:fillRef>
          <a:effectRef idx="2">
            <a:schemeClr val="accent1"/>
          </a:effectRef>
          <a:fontRef idx="minor">
            <a:schemeClr val="lt1"/>
          </a:fontRef>
        </p:style>
        <p:txBody>
          <a:bodyPr rtlCol="0" anchor="t" wrap="square" lIns="177800" rIns="177800" tIns="114300" bIns="114300">
            <a:noAutofit/>
          </a:bodyPr>
          <a:lstStyle/>
          <a:p>
            <a:pPr algn="l">
              <a:lnSpc>
                <a:spcPct val="110000"/>
              </a:lnSpc>
            </a:pPr>
            <a:r>
              <a:rPr sz="1500" b="1" i="0">
                <a:solidFill>
                  <a:srgbClr val="0D2A50"/>
                </a:solidFill>
                <a:latin typeface="Nunito Sans"/>
              </a:rPr>
              <a:t>Klant corrigeert</a:t>
            </a:r>
          </a:p>
          <a:p>
            <a:pPr algn="l">
              <a:lnSpc>
                <a:spcPct val="125000"/>
              </a:lnSpc>
              <a:spcBef>
                <a:spcPts val="200"/>
              </a:spcBef>
            </a:pPr>
            <a:r>
              <a:rPr sz="1200" b="0" i="0">
                <a:solidFill>
                  <a:srgbClr val="45658F"/>
                </a:solidFill>
                <a:latin typeface="Nunito Sans"/>
              </a:rPr>
              <a:t>Bevestigt of verbetert een herkend moment</a:t>
            </a:r>
          </a:p>
        </p:txBody>
      </p:sp>
      <p:cxnSp>
        <p:nvCxnSpPr>
          <p:cNvPr id="18" name="Connector 17"/>
          <p:cNvCxnSpPr/>
          <p:nvPr/>
        </p:nvCxnSpPr>
        <p:spPr>
          <a:xfrm flipH="1">
            <a:off x="1606550" y="5270500"/>
            <a:ext cx="2774950" cy="0"/>
          </a:xfrm>
          <a:prstGeom prst="line">
            <a:avLst/>
          </a:prstGeom>
          <a:ln w="19050">
            <a:solidFill>
              <a:srgbClr val="45658F"/>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606550" y="4191000"/>
            <a:ext cx="0" cy="1079500"/>
          </a:xfrm>
          <a:prstGeom prst="line">
            <a:avLst/>
          </a:prstGeom>
          <a:ln w="19050">
            <a:solidFill>
              <a:srgbClr val="45658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191500" y="5346700"/>
            <a:ext cx="1397000" cy="228600"/>
          </a:xfrm>
          <a:prstGeom prst="rect">
            <a:avLst/>
          </a:prstGeom>
          <a:noFill/>
        </p:spPr>
        <p:txBody>
          <a:bodyPr wrap="square" anchor="t" lIns="0" rIns="0" tIns="0" bIns="0">
            <a:noAutofit/>
          </a:bodyPr>
          <a:lstStyle/>
          <a:p>
            <a:pPr algn="l">
              <a:lnSpc>
                <a:spcPct val="125000"/>
              </a:lnSpc>
            </a:pPr>
            <a:r>
              <a:rPr sz="1200" b="0" i="0">
                <a:solidFill>
                  <a:srgbClr val="45658F"/>
                </a:solidFill>
                <a:latin typeface="Nunito Sans"/>
              </a:rPr>
              <a:t>reactie</a:t>
            </a:r>
          </a:p>
        </p:txBody>
      </p:sp>
      <p:sp>
        <p:nvSpPr>
          <p:cNvPr id="21" name="TextBox 20"/>
          <p:cNvSpPr txBox="1"/>
          <p:nvPr/>
        </p:nvSpPr>
        <p:spPr>
          <a:xfrm>
            <a:off x="1905000" y="5346700"/>
            <a:ext cx="1651000" cy="228600"/>
          </a:xfrm>
          <a:prstGeom prst="rect">
            <a:avLst/>
          </a:prstGeom>
          <a:noFill/>
        </p:spPr>
        <p:txBody>
          <a:bodyPr wrap="square" anchor="t" lIns="0" rIns="0" tIns="0" bIns="0">
            <a:noAutofit/>
          </a:bodyPr>
          <a:lstStyle/>
          <a:p>
            <a:pPr algn="l">
              <a:lnSpc>
                <a:spcPct val="125000"/>
              </a:lnSpc>
            </a:pPr>
            <a:r>
              <a:rPr sz="1200" b="0" i="0">
                <a:solidFill>
                  <a:srgbClr val="45658F"/>
                </a:solidFill>
                <a:latin typeface="Nunito Sans"/>
              </a:rPr>
              <a:t>nieuw signaal</a:t>
            </a:r>
          </a:p>
        </p:txBody>
      </p:sp>
      <p:sp>
        <p:nvSpPr>
          <p:cNvPr id="22" name="TextBox 21"/>
          <p:cNvSpPr txBox="1"/>
          <p:nvPr/>
        </p:nvSpPr>
        <p:spPr>
          <a:xfrm>
            <a:off x="812800" y="6350000"/>
            <a:ext cx="8890000" cy="215900"/>
          </a:xfrm>
          <a:prstGeom prst="rect">
            <a:avLst/>
          </a:prstGeom>
          <a:noFill/>
        </p:spPr>
        <p:txBody>
          <a:bodyPr wrap="square" anchor="t" lIns="0" rIns="0" tIns="0" bIns="0">
            <a:noAutofit/>
          </a:bodyPr>
          <a:lstStyle/>
          <a:p>
            <a:pPr algn="l">
              <a:lnSpc>
                <a:spcPct val="125000"/>
              </a:lnSpc>
            </a:pPr>
            <a:r>
              <a:rPr sz="1100" b="0" i="0">
                <a:solidFill>
                  <a:srgbClr val="45658F"/>
                </a:solidFill>
                <a:latin typeface="Nunito Sans"/>
              </a:rPr>
              <a:t>Playbooks zijn plug-ins · Stilte is de standaard · Demo: teller met duizenden synthetische klanten</a:t>
            </a:r>
          </a:p>
        </p:txBody>
      </p:sp>
      <p:sp>
        <p:nvSpPr>
          <p:cNvPr id="23" name="TextBox 22"/>
          <p:cNvSpPr txBox="1"/>
          <p:nvPr/>
        </p:nvSpPr>
        <p:spPr>
          <a:xfrm>
            <a:off x="10109200" y="6350000"/>
            <a:ext cx="1270000" cy="215900"/>
          </a:xfrm>
          <a:prstGeom prst="rect">
            <a:avLst/>
          </a:prstGeom>
          <a:noFill/>
        </p:spPr>
        <p:txBody>
          <a:bodyPr wrap="square" anchor="t" lIns="0" rIns="0" tIns="0" bIns="0">
            <a:noAutofit/>
          </a:bodyPr>
          <a:lstStyle/>
          <a:p>
            <a:pPr algn="r">
              <a:lnSpc>
                <a:spcPct val="125000"/>
              </a:lnSpc>
            </a:pPr>
            <a:r>
              <a:rPr sz="1100" b="0" i="0">
                <a:solidFill>
                  <a:srgbClr val="45658F"/>
                </a:solidFill>
                <a:latin typeface="Nunito Sans"/>
              </a:rPr>
              <a:t>17 / 23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4" fill="hold">
                            <p:stCondLst>
                              <p:cond delay="0"/>
                            </p:stCondLst>
                            <p:childTnLst>
                              <p:par>
                                <p:cTn id="4" presetID="42"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ppt_y+.08"/>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p:cTn id="12" dur="500" fill="hold"/>
                                        <p:tgtEl>
                                          <p:spTgt spid="3"/>
                                        </p:tgtEl>
                                        <p:attrNameLst>
                                          <p:attrName>ppt_x</p:attrName>
                                        </p:attrNameLst>
                                      </p:cBhvr>
                                      <p:tavLst>
                                        <p:tav tm="0">
                                          <p:val>
                                            <p:strVal val="#ppt_x"/>
                                          </p:val>
                                        </p:tav>
                                        <p:tav tm="100000">
                                          <p:val>
                                            <p:strVal val="#ppt_x"/>
                                          </p:val>
                                        </p:tav>
                                      </p:tavLst>
                                    </p:anim>
                                    <p:anim calcmode="lin" valueType="num">
                                      <p:cBhvr>
                                        <p:cTn id="13" dur="500" fill="hold"/>
                                        <p:tgtEl>
                                          <p:spTgt spid="3"/>
                                        </p:tgtEl>
                                        <p:attrNameLst>
                                          <p:attrName>ppt_y</p:attrName>
                                        </p:attrNameLst>
                                      </p:cBhvr>
                                      <p:tavLst>
                                        <p:tav tm="0">
                                          <p:val>
                                            <p:strVal val="#ppt_y+.08"/>
                                          </p:val>
                                        </p:tav>
                                        <p:tav tm="100000">
                                          <p:val>
                                            <p:strVal val="#ppt_y"/>
                                          </p:val>
                                        </p:tav>
                                      </p:tavLst>
                                    </p:anim>
                                  </p:childTnLst>
                                </p:cTn>
                              </p:par>
                            </p:childTnLst>
                          </p:cTn>
                        </p:par>
                        <p:par>
                          <p:cTn id="25" fill="hold">
                            <p:stCondLst>
                              <p:cond delay="350"/>
                            </p:stCondLst>
                            <p:childTnLst>
                              <p:par>
                                <p:cTn id="15" presetID="42" presetClass="entr" presetSubtype="0"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350"/>
                                        <p:tgtEl>
                                          <p:spTgt spid="4"/>
                                        </p:tgtEl>
                                      </p:cBhvr>
                                    </p:animEffect>
                                    <p:anim calcmode="lin" valueType="num">
                                      <p:cBhvr>
                                        <p:cTn id="18" dur="350" fill="hold"/>
                                        <p:tgtEl>
                                          <p:spTgt spid="4"/>
                                        </p:tgtEl>
                                        <p:attrNameLst>
                                          <p:attrName>ppt_x</p:attrName>
                                        </p:attrNameLst>
                                      </p:cBhvr>
                                      <p:tavLst>
                                        <p:tav tm="0">
                                          <p:val>
                                            <p:strVal val="#ppt_x"/>
                                          </p:val>
                                        </p:tav>
                                        <p:tav tm="100000">
                                          <p:val>
                                            <p:strVal val="#ppt_x"/>
                                          </p:val>
                                        </p:tav>
                                      </p:tavLst>
                                    </p:anim>
                                    <p:anim calcmode="lin" valueType="num">
                                      <p:cBhvr>
                                        <p:cTn id="19" dur="350" fill="hold"/>
                                        <p:tgtEl>
                                          <p:spTgt spid="4"/>
                                        </p:tgtEl>
                                        <p:attrNameLst>
                                          <p:attrName>ppt_y</p:attrName>
                                        </p:attrNameLst>
                                      </p:cBhvr>
                                      <p:tavLst>
                                        <p:tav tm="0">
                                          <p:val>
                                            <p:strVal val="#ppt_y+.08"/>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350"/>
                                        <p:tgtEl>
                                          <p:spTgt spid="5"/>
                                        </p:tgtEl>
                                      </p:cBhvr>
                                    </p:animEffect>
                                    <p:anim calcmode="lin" valueType="num">
                                      <p:cBhvr>
                                        <p:cTn id="23" dur="350" fill="hold"/>
                                        <p:tgtEl>
                                          <p:spTgt spid="5"/>
                                        </p:tgtEl>
                                        <p:attrNameLst>
                                          <p:attrName>ppt_x</p:attrName>
                                        </p:attrNameLst>
                                      </p:cBhvr>
                                      <p:tavLst>
                                        <p:tav tm="0">
                                          <p:val>
                                            <p:strVal val="#ppt_x"/>
                                          </p:val>
                                        </p:tav>
                                        <p:tav tm="100000">
                                          <p:val>
                                            <p:strVal val="#ppt_x"/>
                                          </p:val>
                                        </p:tav>
                                      </p:tavLst>
                                    </p:anim>
                                    <p:anim calcmode="lin" valueType="num">
                                      <p:cBhvr>
                                        <p:cTn id="24" dur="350" fill="hold"/>
                                        <p:tgtEl>
                                          <p:spTgt spid="5"/>
                                        </p:tgtEl>
                                        <p:attrNameLst>
                                          <p:attrName>ppt_y</p:attrName>
                                        </p:attrNameLst>
                                      </p:cBhvr>
                                      <p:tavLst>
                                        <p:tav tm="0">
                                          <p:val>
                                            <p:strVal val="#ppt_y+.08"/>
                                          </p:val>
                                        </p:tav>
                                        <p:tav tm="100000">
                                          <p:val>
                                            <p:strVal val="#ppt_y"/>
                                          </p:val>
                                        </p:tav>
                                      </p:tavLst>
                                    </p:anim>
                                  </p:childTnLst>
                                </p:cTn>
                              </p:par>
                            </p:childTnLst>
                          </p:cTn>
                        </p:par>
                        <p:par>
                          <p:cTn id="36" fill="hold">
                            <p:stCondLst>
                              <p:cond delay="550"/>
                            </p:stCondLst>
                            <p:childTnLst>
                              <p:par>
                                <p:cTn id="26" presetID="42" presetClass="entr" presetSubtype="0" fill="hold" grpId="0"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350"/>
                                        <p:tgtEl>
                                          <p:spTgt spid="6"/>
                                        </p:tgtEl>
                                      </p:cBhvr>
                                    </p:animEffect>
                                    <p:anim calcmode="lin" valueType="num">
                                      <p:cBhvr>
                                        <p:cTn id="29" dur="350" fill="hold"/>
                                        <p:tgtEl>
                                          <p:spTgt spid="6"/>
                                        </p:tgtEl>
                                        <p:attrNameLst>
                                          <p:attrName>ppt_x</p:attrName>
                                        </p:attrNameLst>
                                      </p:cBhvr>
                                      <p:tavLst>
                                        <p:tav tm="0">
                                          <p:val>
                                            <p:strVal val="#ppt_x"/>
                                          </p:val>
                                        </p:tav>
                                        <p:tav tm="100000">
                                          <p:val>
                                            <p:strVal val="#ppt_x"/>
                                          </p:val>
                                        </p:tav>
                                      </p:tavLst>
                                    </p:anim>
                                    <p:anim calcmode="lin" valueType="num">
                                      <p:cBhvr>
                                        <p:cTn id="30" dur="350" fill="hold"/>
                                        <p:tgtEl>
                                          <p:spTgt spid="6"/>
                                        </p:tgtEl>
                                        <p:attrNameLst>
                                          <p:attrName>ppt_y</p:attrName>
                                        </p:attrNameLst>
                                      </p:cBhvr>
                                      <p:tavLst>
                                        <p:tav tm="0">
                                          <p:val>
                                            <p:strVal val="#ppt_y+.08"/>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350"/>
                                        <p:tgtEl>
                                          <p:spTgt spid="7"/>
                                        </p:tgtEl>
                                      </p:cBhvr>
                                    </p:animEffect>
                                    <p:anim calcmode="lin" valueType="num">
                                      <p:cBhvr>
                                        <p:cTn id="34" dur="350" fill="hold"/>
                                        <p:tgtEl>
                                          <p:spTgt spid="7"/>
                                        </p:tgtEl>
                                        <p:attrNameLst>
                                          <p:attrName>ppt_x</p:attrName>
                                        </p:attrNameLst>
                                      </p:cBhvr>
                                      <p:tavLst>
                                        <p:tav tm="0">
                                          <p:val>
                                            <p:strVal val="#ppt_x"/>
                                          </p:val>
                                        </p:tav>
                                        <p:tav tm="100000">
                                          <p:val>
                                            <p:strVal val="#ppt_x"/>
                                          </p:val>
                                        </p:tav>
                                      </p:tavLst>
                                    </p:anim>
                                    <p:anim calcmode="lin" valueType="num">
                                      <p:cBhvr>
                                        <p:cTn id="35" dur="350" fill="hold"/>
                                        <p:tgtEl>
                                          <p:spTgt spid="7"/>
                                        </p:tgtEl>
                                        <p:attrNameLst>
                                          <p:attrName>ppt_y</p:attrName>
                                        </p:attrNameLst>
                                      </p:cBhvr>
                                      <p:tavLst>
                                        <p:tav tm="0">
                                          <p:val>
                                            <p:strVal val="#ppt_y+.08"/>
                                          </p:val>
                                        </p:tav>
                                        <p:tav tm="100000">
                                          <p:val>
                                            <p:strVal val="#ppt_y"/>
                                          </p:val>
                                        </p:tav>
                                      </p:tavLst>
                                    </p:anim>
                                  </p:childTnLst>
                                </p:cTn>
                              </p:par>
                            </p:childTnLst>
                          </p:cTn>
                        </p:par>
                        <p:par>
                          <p:cTn id="47" fill="hold">
                            <p:stCondLst>
                              <p:cond delay="750"/>
                            </p:stCondLst>
                            <p:childTnLst>
                              <p:par>
                                <p:cTn id="37" presetID="42" presetClass="entr" presetSubtype="0" fill="hold" grpId="0" nodeType="after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350"/>
                                        <p:tgtEl>
                                          <p:spTgt spid="8"/>
                                        </p:tgtEl>
                                      </p:cBhvr>
                                    </p:animEffect>
                                    <p:anim calcmode="lin" valueType="num">
                                      <p:cBhvr>
                                        <p:cTn id="40" dur="350" fill="hold"/>
                                        <p:tgtEl>
                                          <p:spTgt spid="8"/>
                                        </p:tgtEl>
                                        <p:attrNameLst>
                                          <p:attrName>ppt_x</p:attrName>
                                        </p:attrNameLst>
                                      </p:cBhvr>
                                      <p:tavLst>
                                        <p:tav tm="0">
                                          <p:val>
                                            <p:strVal val="#ppt_x"/>
                                          </p:val>
                                        </p:tav>
                                        <p:tav tm="100000">
                                          <p:val>
                                            <p:strVal val="#ppt_x"/>
                                          </p:val>
                                        </p:tav>
                                      </p:tavLst>
                                    </p:anim>
                                    <p:anim calcmode="lin" valueType="num">
                                      <p:cBhvr>
                                        <p:cTn id="41" dur="350" fill="hold"/>
                                        <p:tgtEl>
                                          <p:spTgt spid="8"/>
                                        </p:tgtEl>
                                        <p:attrNameLst>
                                          <p:attrName>ppt_y</p:attrName>
                                        </p:attrNameLst>
                                      </p:cBhvr>
                                      <p:tavLst>
                                        <p:tav tm="0">
                                          <p:val>
                                            <p:strVal val="#ppt_y+.08"/>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350"/>
                                        <p:tgtEl>
                                          <p:spTgt spid="9"/>
                                        </p:tgtEl>
                                      </p:cBhvr>
                                    </p:animEffect>
                                    <p:anim calcmode="lin" valueType="num">
                                      <p:cBhvr>
                                        <p:cTn id="45" dur="350" fill="hold"/>
                                        <p:tgtEl>
                                          <p:spTgt spid="9"/>
                                        </p:tgtEl>
                                        <p:attrNameLst>
                                          <p:attrName>ppt_x</p:attrName>
                                        </p:attrNameLst>
                                      </p:cBhvr>
                                      <p:tavLst>
                                        <p:tav tm="0">
                                          <p:val>
                                            <p:strVal val="#ppt_x"/>
                                          </p:val>
                                        </p:tav>
                                        <p:tav tm="100000">
                                          <p:val>
                                            <p:strVal val="#ppt_x"/>
                                          </p:val>
                                        </p:tav>
                                      </p:tavLst>
                                    </p:anim>
                                    <p:anim calcmode="lin" valueType="num">
                                      <p:cBhvr>
                                        <p:cTn id="46" dur="350" fill="hold"/>
                                        <p:tgtEl>
                                          <p:spTgt spid="9"/>
                                        </p:tgtEl>
                                        <p:attrNameLst>
                                          <p:attrName>ppt_y</p:attrName>
                                        </p:attrNameLst>
                                      </p:cBhvr>
                                      <p:tavLst>
                                        <p:tav tm="0">
                                          <p:val>
                                            <p:strVal val="#ppt_y+.08"/>
                                          </p:val>
                                        </p:tav>
                                        <p:tav tm="100000">
                                          <p:val>
                                            <p:strVal val="#ppt_y"/>
                                          </p:val>
                                        </p:tav>
                                      </p:tavLst>
                                    </p:anim>
                                  </p:childTnLst>
                                </p:cTn>
                              </p:par>
                            </p:childTnLst>
                          </p:cTn>
                        </p:par>
                        <p:par>
                          <p:cTn id="58" fill="hold">
                            <p:stCondLst>
                              <p:cond delay="950"/>
                            </p:stCondLst>
                            <p:childTnLst>
                              <p:par>
                                <p:cTn id="48" presetID="42" presetClass="entr" presetSubtype="0" fill="hold" grpId="0" nodeType="after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350"/>
                                        <p:tgtEl>
                                          <p:spTgt spid="10"/>
                                        </p:tgtEl>
                                      </p:cBhvr>
                                    </p:animEffect>
                                    <p:anim calcmode="lin" valueType="num">
                                      <p:cBhvr>
                                        <p:cTn id="51" dur="350" fill="hold"/>
                                        <p:tgtEl>
                                          <p:spTgt spid="10"/>
                                        </p:tgtEl>
                                        <p:attrNameLst>
                                          <p:attrName>ppt_x</p:attrName>
                                        </p:attrNameLst>
                                      </p:cBhvr>
                                      <p:tavLst>
                                        <p:tav tm="0">
                                          <p:val>
                                            <p:strVal val="#ppt_x"/>
                                          </p:val>
                                        </p:tav>
                                        <p:tav tm="100000">
                                          <p:val>
                                            <p:strVal val="#ppt_x"/>
                                          </p:val>
                                        </p:tav>
                                      </p:tavLst>
                                    </p:anim>
                                    <p:anim calcmode="lin" valueType="num">
                                      <p:cBhvr>
                                        <p:cTn id="52" dur="350" fill="hold"/>
                                        <p:tgtEl>
                                          <p:spTgt spid="10"/>
                                        </p:tgtEl>
                                        <p:attrNameLst>
                                          <p:attrName>ppt_y</p:attrName>
                                        </p:attrNameLst>
                                      </p:cBhvr>
                                      <p:tavLst>
                                        <p:tav tm="0">
                                          <p:val>
                                            <p:strVal val="#ppt_y+.08"/>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350"/>
                                        <p:tgtEl>
                                          <p:spTgt spid="11"/>
                                        </p:tgtEl>
                                      </p:cBhvr>
                                    </p:animEffect>
                                    <p:anim calcmode="lin" valueType="num">
                                      <p:cBhvr>
                                        <p:cTn id="56" dur="350" fill="hold"/>
                                        <p:tgtEl>
                                          <p:spTgt spid="11"/>
                                        </p:tgtEl>
                                        <p:attrNameLst>
                                          <p:attrName>ppt_x</p:attrName>
                                        </p:attrNameLst>
                                      </p:cBhvr>
                                      <p:tavLst>
                                        <p:tav tm="0">
                                          <p:val>
                                            <p:strVal val="#ppt_x"/>
                                          </p:val>
                                        </p:tav>
                                        <p:tav tm="100000">
                                          <p:val>
                                            <p:strVal val="#ppt_x"/>
                                          </p:val>
                                        </p:tav>
                                      </p:tavLst>
                                    </p:anim>
                                    <p:anim calcmode="lin" valueType="num">
                                      <p:cBhvr>
                                        <p:cTn id="57" dur="350" fill="hold"/>
                                        <p:tgtEl>
                                          <p:spTgt spid="11"/>
                                        </p:tgtEl>
                                        <p:attrNameLst>
                                          <p:attrName>ppt_y</p:attrName>
                                        </p:attrNameLst>
                                      </p:cBhvr>
                                      <p:tavLst>
                                        <p:tav tm="0">
                                          <p:val>
                                            <p:strVal val="#ppt_y+.08"/>
                                          </p:val>
                                        </p:tav>
                                        <p:tav tm="100000">
                                          <p:val>
                                            <p:strVal val="#ppt_y"/>
                                          </p:val>
                                        </p:tav>
                                      </p:tavLst>
                                    </p:anim>
                                  </p:childTnLst>
                                </p:cTn>
                              </p:par>
                            </p:childTnLst>
                          </p:cTn>
                        </p:par>
                        <p:par>
                          <p:cTn id="69" fill="hold">
                            <p:stCondLst>
                              <p:cond delay="1150"/>
                            </p:stCondLst>
                            <p:childTnLst>
                              <p:par>
                                <p:cTn id="59" presetID="42" presetClass="entr" presetSubtype="0" fill="hold" grpId="0" nodeType="after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350"/>
                                        <p:tgtEl>
                                          <p:spTgt spid="12"/>
                                        </p:tgtEl>
                                      </p:cBhvr>
                                    </p:animEffect>
                                    <p:anim calcmode="lin" valueType="num">
                                      <p:cBhvr>
                                        <p:cTn id="62" dur="350" fill="hold"/>
                                        <p:tgtEl>
                                          <p:spTgt spid="12"/>
                                        </p:tgtEl>
                                        <p:attrNameLst>
                                          <p:attrName>ppt_x</p:attrName>
                                        </p:attrNameLst>
                                      </p:cBhvr>
                                      <p:tavLst>
                                        <p:tav tm="0">
                                          <p:val>
                                            <p:strVal val="#ppt_x"/>
                                          </p:val>
                                        </p:tav>
                                        <p:tav tm="100000">
                                          <p:val>
                                            <p:strVal val="#ppt_x"/>
                                          </p:val>
                                        </p:tav>
                                      </p:tavLst>
                                    </p:anim>
                                    <p:anim calcmode="lin" valueType="num">
                                      <p:cBhvr>
                                        <p:cTn id="63" dur="350" fill="hold"/>
                                        <p:tgtEl>
                                          <p:spTgt spid="12"/>
                                        </p:tgtEl>
                                        <p:attrNameLst>
                                          <p:attrName>ppt_y</p:attrName>
                                        </p:attrNameLst>
                                      </p:cBhvr>
                                      <p:tavLst>
                                        <p:tav tm="0">
                                          <p:val>
                                            <p:strVal val="#ppt_y+.08"/>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350"/>
                                        <p:tgtEl>
                                          <p:spTgt spid="13"/>
                                        </p:tgtEl>
                                      </p:cBhvr>
                                    </p:animEffect>
                                    <p:anim calcmode="lin" valueType="num">
                                      <p:cBhvr>
                                        <p:cTn id="67" dur="350" fill="hold"/>
                                        <p:tgtEl>
                                          <p:spTgt spid="13"/>
                                        </p:tgtEl>
                                        <p:attrNameLst>
                                          <p:attrName>ppt_x</p:attrName>
                                        </p:attrNameLst>
                                      </p:cBhvr>
                                      <p:tavLst>
                                        <p:tav tm="0">
                                          <p:val>
                                            <p:strVal val="#ppt_x"/>
                                          </p:val>
                                        </p:tav>
                                        <p:tav tm="100000">
                                          <p:val>
                                            <p:strVal val="#ppt_x"/>
                                          </p:val>
                                        </p:tav>
                                      </p:tavLst>
                                    </p:anim>
                                    <p:anim calcmode="lin" valueType="num">
                                      <p:cBhvr>
                                        <p:cTn id="68" dur="350" fill="hold"/>
                                        <p:tgtEl>
                                          <p:spTgt spid="13"/>
                                        </p:tgtEl>
                                        <p:attrNameLst>
                                          <p:attrName>ppt_y</p:attrName>
                                        </p:attrNameLst>
                                      </p:cBhvr>
                                      <p:tavLst>
                                        <p:tav tm="0">
                                          <p:val>
                                            <p:strVal val="#ppt_y+.08"/>
                                          </p:val>
                                        </p:tav>
                                        <p:tav tm="100000">
                                          <p:val>
                                            <p:strVal val="#ppt_y"/>
                                          </p:val>
                                        </p:tav>
                                      </p:tavLst>
                                    </p:anim>
                                  </p:childTnLst>
                                </p:cTn>
                              </p:par>
                            </p:childTnLst>
                          </p:cTn>
                        </p:par>
                        <p:par>
                          <p:cTn id="75" fill="hold">
                            <p:stCondLst>
                              <p:cond delay="1350"/>
                            </p:stCondLst>
                            <p:childTnLst>
                              <p:par>
                                <p:cTn id="70" presetID="42" presetClass="entr" presetSubtype="0" fill="hold" grpId="0" nodeType="afterEffect">
                                  <p:stCondLst>
                                    <p:cond delay="0"/>
                                  </p:stCondLst>
                                  <p:childTnLst>
                                    <p:set>
                                      <p:cBhvr>
                                        <p:cTn id="71" dur="1" fill="hold">
                                          <p:stCondLst>
                                            <p:cond delay="0"/>
                                          </p:stCondLst>
                                        </p:cTn>
                                        <p:tgtEl>
                                          <p:spTgt spid="14"/>
                                        </p:tgtEl>
                                        <p:attrNameLst>
                                          <p:attrName>style.visibility</p:attrName>
                                        </p:attrNameLst>
                                      </p:cBhvr>
                                      <p:to>
                                        <p:strVal val="visible"/>
                                      </p:to>
                                    </p:set>
                                    <p:animEffect transition="in" filter="fade">
                                      <p:cBhvr>
                                        <p:cTn id="72" dur="350"/>
                                        <p:tgtEl>
                                          <p:spTgt spid="14"/>
                                        </p:tgtEl>
                                      </p:cBhvr>
                                    </p:animEffect>
                                    <p:anim calcmode="lin" valueType="num">
                                      <p:cBhvr>
                                        <p:cTn id="73" dur="350" fill="hold"/>
                                        <p:tgtEl>
                                          <p:spTgt spid="14"/>
                                        </p:tgtEl>
                                        <p:attrNameLst>
                                          <p:attrName>ppt_x</p:attrName>
                                        </p:attrNameLst>
                                      </p:cBhvr>
                                      <p:tavLst>
                                        <p:tav tm="0">
                                          <p:val>
                                            <p:strVal val="#ppt_x"/>
                                          </p:val>
                                        </p:tav>
                                        <p:tav tm="100000">
                                          <p:val>
                                            <p:strVal val="#ppt_x"/>
                                          </p:val>
                                        </p:tav>
                                      </p:tavLst>
                                    </p:anim>
                                    <p:anim calcmode="lin" valueType="num">
                                      <p:cBhvr>
                                        <p:cTn id="74" dur="350" fill="hold"/>
                                        <p:tgtEl>
                                          <p:spTgt spid="14"/>
                                        </p:tgtEl>
                                        <p:attrNameLst>
                                          <p:attrName>ppt_y</p:attrName>
                                        </p:attrNameLst>
                                      </p:cBhvr>
                                      <p:tavLst>
                                        <p:tav tm="0">
                                          <p:val>
                                            <p:strVal val="#ppt_y+.08"/>
                                          </p:val>
                                        </p:tav>
                                        <p:tav tm="100000">
                                          <p:val>
                                            <p:strVal val="#ppt_y"/>
                                          </p:val>
                                        </p:tav>
                                      </p:tavLst>
                                    </p:anim>
                                  </p:childTnLst>
                                </p:cTn>
                              </p:par>
                            </p:childTnLst>
                          </p:cTn>
                        </p:par>
                        <p:par>
                          <p:cTn id="85" fill="hold">
                            <p:stCondLst>
                              <p:cond delay="1550"/>
                            </p:stCondLst>
                            <p:childTnLst>
                              <p:par>
                                <p:cTn id="76" presetID="10" presetClass="entr" presetSubtype="0" fill="hold" grpId="0" nodeType="afterEffect">
                                  <p:stCondLst>
                                    <p:cond delay="0"/>
                                  </p:stCondLst>
                                  <p:childTnLst>
                                    <p:set>
                                      <p:cBhvr>
                                        <p:cTn id="77" dur="1" fill="hold">
                                          <p:stCondLst>
                                            <p:cond delay="0"/>
                                          </p:stCondLst>
                                        </p:cTn>
                                        <p:tgtEl>
                                          <p:spTgt spid="15"/>
                                        </p:tgtEl>
                                        <p:attrNameLst>
                                          <p:attrName>style.visibility</p:attrName>
                                        </p:attrNameLst>
                                      </p:cBhvr>
                                      <p:to>
                                        <p:strVal val="visible"/>
                                      </p:to>
                                    </p:set>
                                    <p:animEffect transition="in" filter="fade">
                                      <p:cBhvr>
                                        <p:cTn id="78" dur="400"/>
                                        <p:tgtEl>
                                          <p:spTgt spid="1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16"/>
                                        </p:tgtEl>
                                        <p:attrNameLst>
                                          <p:attrName>style.visibility</p:attrName>
                                        </p:attrNameLst>
                                      </p:cBhvr>
                                      <p:to>
                                        <p:strVal val="visible"/>
                                      </p:to>
                                    </p:set>
                                    <p:animEffect transition="in" filter="fade">
                                      <p:cBhvr>
                                        <p:cTn id="81" dur="400"/>
                                        <p:tgtEl>
                                          <p:spTgt spid="16"/>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0"/>
                                        </p:tgtEl>
                                        <p:attrNameLst>
                                          <p:attrName>style.visibility</p:attrName>
                                        </p:attrNameLst>
                                      </p:cBhvr>
                                      <p:to>
                                        <p:strVal val="visible"/>
                                      </p:to>
                                    </p:set>
                                    <p:animEffect transition="in" filter="fade">
                                      <p:cBhvr>
                                        <p:cTn id="84" dur="400"/>
                                        <p:tgtEl>
                                          <p:spTgt spid="20"/>
                                        </p:tgtEl>
                                      </p:cBhvr>
                                    </p:animEffect>
                                  </p:childTnLst>
                                </p:cTn>
                              </p:par>
                            </p:childTnLst>
                          </p:cTn>
                        </p:par>
                        <p:par>
                          <p:cTn id="91" fill="hold">
                            <p:stCondLst>
                              <p:cond delay="1830"/>
                            </p:stCondLst>
                            <p:childTnLst>
                              <p:par>
                                <p:cTn id="86" presetID="53" presetClass="entr" presetSubtype="16" fill="hold" grpId="0" nodeType="afterEffect">
                                  <p:stCondLst>
                                    <p:cond delay="0"/>
                                  </p:stCondLst>
                                  <p:childTnLst>
                                    <p:set>
                                      <p:cBhvr>
                                        <p:cTn id="87" dur="1" fill="hold">
                                          <p:stCondLst>
                                            <p:cond delay="0"/>
                                          </p:stCondLst>
                                        </p:cTn>
                                        <p:tgtEl>
                                          <p:spTgt spid="17"/>
                                        </p:tgtEl>
                                        <p:attrNameLst>
                                          <p:attrName>style.visibility</p:attrName>
                                        </p:attrNameLst>
                                      </p:cBhvr>
                                      <p:to>
                                        <p:strVal val="visible"/>
                                      </p:to>
                                    </p:set>
                                    <p:animEffect transition="in" filter="fade">
                                      <p:cBhvr>
                                        <p:cTn id="88" dur="400"/>
                                        <p:tgtEl>
                                          <p:spTgt spid="17"/>
                                        </p:tgtEl>
                                      </p:cBhvr>
                                    </p:animEffect>
                                    <p:anim calcmode="lin" valueType="num">
                                      <p:cBhvr>
                                        <p:cTn id="89" dur="400" fill="hold"/>
                                        <p:tgtEl>
                                          <p:spTgt spid="17"/>
                                        </p:tgtEl>
                                        <p:attrNameLst>
                                          <p:attrName>ppt_w</p:attrName>
                                        </p:attrNameLst>
                                      </p:cBhvr>
                                      <p:tavLst>
                                        <p:tav tm="0">
                                          <p:val>
                                            <p:strVal val="#ppt_w*0.3"/>
                                          </p:val>
                                        </p:tav>
                                        <p:tav tm="100000">
                                          <p:val>
                                            <p:strVal val="#ppt_w"/>
                                          </p:val>
                                        </p:tav>
                                      </p:tavLst>
                                    </p:anim>
                                    <p:anim calcmode="lin" valueType="num">
                                      <p:cBhvr>
                                        <p:cTn id="90" dur="400" fill="hold"/>
                                        <p:tgtEl>
                                          <p:spTgt spid="17"/>
                                        </p:tgtEl>
                                        <p:attrNameLst>
                                          <p:attrName>ppt_h</p:attrName>
                                        </p:attrNameLst>
                                      </p:cBhvr>
                                      <p:tavLst>
                                        <p:tav tm="0">
                                          <p:val>
                                            <p:strVal val="#ppt_h*0.3"/>
                                          </p:val>
                                        </p:tav>
                                        <p:tav tm="100000">
                                          <p:val>
                                            <p:strVal val="#ppt_h"/>
                                          </p:val>
                                        </p:tav>
                                      </p:tavLst>
                                    </p:anim>
                                  </p:childTnLst>
                                </p:cTn>
                              </p:par>
                            </p:childTnLst>
                          </p:cTn>
                        </p:par>
                        <p:par>
                          <p:cTn id="101" fill="hold">
                            <p:stCondLst>
                              <p:cond delay="2110"/>
                            </p:stCondLst>
                            <p:childTnLst>
                              <p:par>
                                <p:cTn id="92" presetID="10" presetClass="entr" presetSubtype="0" fill="hold" grpId="0" nodeType="afterEffect">
                                  <p:stCondLst>
                                    <p:cond delay="0"/>
                                  </p:stCondLst>
                                  <p:childTnLst>
                                    <p:set>
                                      <p:cBhvr>
                                        <p:cTn id="93" dur="1" fill="hold">
                                          <p:stCondLst>
                                            <p:cond delay="0"/>
                                          </p:stCondLst>
                                        </p:cTn>
                                        <p:tgtEl>
                                          <p:spTgt spid="18"/>
                                        </p:tgtEl>
                                        <p:attrNameLst>
                                          <p:attrName>style.visibility</p:attrName>
                                        </p:attrNameLst>
                                      </p:cBhvr>
                                      <p:to>
                                        <p:strVal val="visible"/>
                                      </p:to>
                                    </p:set>
                                    <p:animEffect transition="in" filter="fade">
                                      <p:cBhvr>
                                        <p:cTn id="94" dur="400"/>
                                        <p:tgtEl>
                                          <p:spTgt spid="18"/>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19"/>
                                        </p:tgtEl>
                                        <p:attrNameLst>
                                          <p:attrName>style.visibility</p:attrName>
                                        </p:attrNameLst>
                                      </p:cBhvr>
                                      <p:to>
                                        <p:strVal val="visible"/>
                                      </p:to>
                                    </p:set>
                                    <p:animEffect transition="in" filter="fade">
                                      <p:cBhvr>
                                        <p:cTn id="97" dur="400"/>
                                        <p:tgtEl>
                                          <p:spTgt spid="19"/>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21"/>
                                        </p:tgtEl>
                                        <p:attrNameLst>
                                          <p:attrName>style.visibility</p:attrName>
                                        </p:attrNameLst>
                                      </p:cBhvr>
                                      <p:to>
                                        <p:strVal val="visible"/>
                                      </p:to>
                                    </p:set>
                                    <p:animEffect transition="in" filter="fade">
                                      <p:cBhvr>
                                        <p:cTn id="100"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2A50"/>
        </a:solidFill>
        <a:effectLst/>
      </p:bgPr>
    </p:bg>
    <p:spTree>
      <p:nvGrpSpPr>
        <p:cNvPr id="1" name=""/>
        <p:cNvGrpSpPr/>
        <p:nvPr/>
      </p:nvGrpSpPr>
      <p:grpSpPr/>
      <p:sp>
        <p:nvSpPr>
          <p:cNvPr id="2" name="TextBox 1"/>
          <p:cNvSpPr txBox="1"/>
          <p:nvPr/>
        </p:nvSpPr>
        <p:spPr>
          <a:xfrm>
            <a:off x="812800" y="711200"/>
            <a:ext cx="10566400" cy="228600"/>
          </a:xfrm>
          <a:prstGeom prst="rect">
            <a:avLst/>
          </a:prstGeom>
          <a:noFill/>
        </p:spPr>
        <p:txBody>
          <a:bodyPr wrap="square" anchor="t" lIns="0" rIns="0" tIns="0" bIns="0">
            <a:noAutofit/>
          </a:bodyPr>
          <a:lstStyle/>
          <a:p>
            <a:pPr algn="l">
              <a:lnSpc>
                <a:spcPct val="125000"/>
              </a:lnSpc>
            </a:pPr>
            <a:r>
              <a:rPr sz="1200" b="1" i="0" cap="all" spc="300">
                <a:solidFill>
                  <a:srgbClr val="46ADE0"/>
                </a:solidFill>
                <a:latin typeface="Nunito Sans"/>
              </a:rPr>
              <a:t>Vertrouwen en privacy</a:t>
            </a:r>
          </a:p>
        </p:txBody>
      </p:sp>
      <p:sp>
        <p:nvSpPr>
          <p:cNvPr id="3" name="TextBox 2"/>
          <p:cNvSpPr txBox="1"/>
          <p:nvPr/>
        </p:nvSpPr>
        <p:spPr>
          <a:xfrm>
            <a:off x="812800" y="990600"/>
            <a:ext cx="10566400" cy="508000"/>
          </a:xfrm>
          <a:prstGeom prst="rect">
            <a:avLst/>
          </a:prstGeom>
          <a:noFill/>
        </p:spPr>
        <p:txBody>
          <a:bodyPr wrap="square" anchor="t" lIns="0" rIns="0" tIns="0" bIns="0">
            <a:noAutofit/>
          </a:bodyPr>
          <a:lstStyle/>
          <a:p>
            <a:pPr algn="l">
              <a:lnSpc>
                <a:spcPct val="105000"/>
              </a:lnSpc>
            </a:pPr>
            <a:r>
              <a:rPr sz="3600" b="1" i="0">
                <a:solidFill>
                  <a:srgbClr val="FFFFFF"/>
                </a:solidFill>
                <a:latin typeface="Nunito Sans"/>
              </a:rPr>
              <a:t>Controle ligt bij de klant</a:t>
            </a:r>
          </a:p>
        </p:txBody>
      </p:sp>
      <p:sp>
        <p:nvSpPr>
          <p:cNvPr id="4" name="Rounded Rectangle 3"/>
          <p:cNvSpPr/>
          <p:nvPr/>
        </p:nvSpPr>
        <p:spPr>
          <a:xfrm>
            <a:off x="812800" y="1752600"/>
            <a:ext cx="5181600" cy="1905000"/>
          </a:xfrm>
          <a:prstGeom prst="roundRect">
            <a:avLst>
              <a:gd name="adj" fmla="val 5333"/>
            </a:avLst>
          </a:prstGeom>
          <a:solidFill>
            <a:srgbClr val="021E43"/>
          </a:solidFill>
          <a:ln w="12700">
            <a:solidFill>
              <a:srgbClr val="1E4474"/>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03200" bIns="203200">
            <a:noAutofit/>
          </a:bodyPr>
          <a:lstStyle/>
          <a:p>
            <a:pPr algn="l">
              <a:lnSpc>
                <a:spcPct val="110000"/>
              </a:lnSpc>
            </a:pPr>
            <a:r>
              <a:rPr sz="1700" b="1" i="0">
                <a:solidFill>
                  <a:srgbClr val="FFFFFF"/>
                </a:solidFill>
                <a:latin typeface="Nunito Sans"/>
              </a:rPr>
              <a:t>Altijd een waarom</a:t>
            </a:r>
          </a:p>
          <a:p>
            <a:pPr algn="l">
              <a:lnSpc>
                <a:spcPct val="130000"/>
              </a:lnSpc>
              <a:spcBef>
                <a:spcPts val="600"/>
              </a:spcBef>
            </a:pPr>
            <a:r>
              <a:rPr sz="1400" b="0" i="0">
                <a:solidFill>
                  <a:srgbClr val="BFDAFF"/>
                </a:solidFill>
                <a:latin typeface="Nunito Sans"/>
              </a:rPr>
              <a:t>Bij elke voorspelling en elk advies een knop “Waarom zie ik dit?” met de signalen die meespeelden.</a:t>
            </a:r>
          </a:p>
        </p:txBody>
      </p:sp>
      <p:sp>
        <p:nvSpPr>
          <p:cNvPr id="5" name="Rounded Rectangle 4"/>
          <p:cNvSpPr/>
          <p:nvPr/>
        </p:nvSpPr>
        <p:spPr>
          <a:xfrm>
            <a:off x="6197600" y="1752600"/>
            <a:ext cx="5181600" cy="1905000"/>
          </a:xfrm>
          <a:prstGeom prst="roundRect">
            <a:avLst>
              <a:gd name="adj" fmla="val 5333"/>
            </a:avLst>
          </a:prstGeom>
          <a:solidFill>
            <a:srgbClr val="021E43"/>
          </a:solidFill>
          <a:ln w="12700">
            <a:solidFill>
              <a:srgbClr val="1E4474"/>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03200" bIns="203200">
            <a:noAutofit/>
          </a:bodyPr>
          <a:lstStyle/>
          <a:p>
            <a:pPr algn="l">
              <a:lnSpc>
                <a:spcPct val="110000"/>
              </a:lnSpc>
            </a:pPr>
            <a:r>
              <a:rPr sz="1700" b="1" i="0">
                <a:solidFill>
                  <a:srgbClr val="FFFFFF"/>
                </a:solidFill>
                <a:latin typeface="Nunito Sans"/>
              </a:rPr>
              <a:t>De klant corrigeert het model</a:t>
            </a:r>
          </a:p>
          <a:p>
            <a:pPr algn="l">
              <a:lnSpc>
                <a:spcPct val="130000"/>
              </a:lnSpc>
              <a:spcBef>
                <a:spcPts val="600"/>
              </a:spcBef>
            </a:pPr>
            <a:r>
              <a:rPr sz="1400" b="0" i="0">
                <a:solidFill>
                  <a:srgbClr val="BFDAFF"/>
                </a:solidFill>
                <a:latin typeface="Nunito Sans"/>
              </a:rPr>
              <a:t>“Klopt het dat je kind op kot gaat?” Bevestigen, verbeteren of “hier wil ik niets over horen”.</a:t>
            </a:r>
          </a:p>
        </p:txBody>
      </p:sp>
      <p:sp>
        <p:nvSpPr>
          <p:cNvPr id="6" name="Rounded Rectangle 5"/>
          <p:cNvSpPr/>
          <p:nvPr/>
        </p:nvSpPr>
        <p:spPr>
          <a:xfrm>
            <a:off x="812800" y="3784600"/>
            <a:ext cx="5181600" cy="1905000"/>
          </a:xfrm>
          <a:prstGeom prst="roundRect">
            <a:avLst>
              <a:gd name="adj" fmla="val 5333"/>
            </a:avLst>
          </a:prstGeom>
          <a:solidFill>
            <a:srgbClr val="021E43"/>
          </a:solidFill>
          <a:ln w="12700">
            <a:solidFill>
              <a:srgbClr val="1E4474"/>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03200" bIns="203200">
            <a:noAutofit/>
          </a:bodyPr>
          <a:lstStyle/>
          <a:p>
            <a:pPr algn="l">
              <a:lnSpc>
                <a:spcPct val="110000"/>
              </a:lnSpc>
            </a:pPr>
            <a:r>
              <a:rPr sz="1700" b="1" i="0">
                <a:solidFill>
                  <a:srgbClr val="FFFFFF"/>
                </a:solidFill>
                <a:latin typeface="Nunito Sans"/>
              </a:rPr>
              <a:t>Gevoelige momenten enkel met toestemming</a:t>
            </a:r>
          </a:p>
          <a:p>
            <a:pPr algn="l">
              <a:lnSpc>
                <a:spcPct val="130000"/>
              </a:lnSpc>
              <a:spcBef>
                <a:spcPts val="600"/>
              </a:spcBef>
            </a:pPr>
            <a:r>
              <a:rPr sz="1400" b="0" i="0">
                <a:solidFill>
                  <a:srgbClr val="BFDAFF"/>
                </a:solidFill>
                <a:latin typeface="Nunito Sans"/>
              </a:rPr>
              <a:t>Een zwangerschap of scheiding raadt de bank niet luidop. Ze vraagt eerst of de klant hulp wil.</a:t>
            </a:r>
          </a:p>
        </p:txBody>
      </p:sp>
      <p:sp>
        <p:nvSpPr>
          <p:cNvPr id="7" name="Rounded Rectangle 6"/>
          <p:cNvSpPr/>
          <p:nvPr/>
        </p:nvSpPr>
        <p:spPr>
          <a:xfrm>
            <a:off x="6197600" y="3784600"/>
            <a:ext cx="5181600" cy="1905000"/>
          </a:xfrm>
          <a:prstGeom prst="roundRect">
            <a:avLst>
              <a:gd name="adj" fmla="val 5333"/>
            </a:avLst>
          </a:prstGeom>
          <a:solidFill>
            <a:srgbClr val="021E43"/>
          </a:solidFill>
          <a:ln w="12700">
            <a:solidFill>
              <a:srgbClr val="1E4474"/>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03200" bIns="203200">
            <a:noAutofit/>
          </a:bodyPr>
          <a:lstStyle/>
          <a:p>
            <a:pPr algn="l">
              <a:lnSpc>
                <a:spcPct val="110000"/>
              </a:lnSpc>
            </a:pPr>
            <a:r>
              <a:rPr sz="1700" b="1" i="0">
                <a:solidFill>
                  <a:srgbClr val="FFFFFF"/>
                </a:solidFill>
                <a:latin typeface="Nunito Sans"/>
              </a:rPr>
              <a:t>Security by design</a:t>
            </a:r>
          </a:p>
          <a:p>
            <a:pPr algn="l">
              <a:lnSpc>
                <a:spcPct val="130000"/>
              </a:lnSpc>
              <a:spcBef>
                <a:spcPts val="600"/>
              </a:spcBef>
            </a:pPr>
            <a:r>
              <a:rPr sz="1400" b="0" i="0">
                <a:solidFill>
                  <a:srgbClr val="BFDAFF"/>
                </a:solidFill>
                <a:latin typeface="Nunito Sans"/>
              </a:rPr>
              <a:t>Elke klant ziet enkel zijn eigen weer, elke agent enkel wat de klant toeliet. Aikido controleert: geen IDOR, strikte autorisatie.</a:t>
            </a:r>
          </a:p>
        </p:txBody>
      </p:sp>
      <p:sp>
        <p:nvSpPr>
          <p:cNvPr id="8" name="TextBox 7"/>
          <p:cNvSpPr txBox="1"/>
          <p:nvPr/>
        </p:nvSpPr>
        <p:spPr>
          <a:xfrm>
            <a:off x="812800" y="6350000"/>
            <a:ext cx="8890000" cy="215900"/>
          </a:xfrm>
          <a:prstGeom prst="rect">
            <a:avLst/>
          </a:prstGeom>
          <a:noFill/>
        </p:spPr>
        <p:txBody>
          <a:bodyPr wrap="square" anchor="t" lIns="0" rIns="0" tIns="0" bIns="0">
            <a:noAutofit/>
          </a:bodyPr>
          <a:lstStyle/>
          <a:p>
            <a:pPr algn="l">
              <a:lnSpc>
                <a:spcPct val="125000"/>
              </a:lnSpc>
            </a:pPr>
            <a:r>
              <a:rPr sz="1100" b="0" i="0">
                <a:solidFill>
                  <a:srgbClr val="8FA9CC"/>
                </a:solidFill>
                <a:latin typeface="Nunito Sans"/>
              </a:rPr>
              <a:t>KBC Weerbericht · Jij kiest het weer · Team Trojan Horse</a:t>
            </a:r>
          </a:p>
        </p:txBody>
      </p:sp>
      <p:sp>
        <p:nvSpPr>
          <p:cNvPr id="9" name="TextBox 8"/>
          <p:cNvSpPr txBox="1"/>
          <p:nvPr/>
        </p:nvSpPr>
        <p:spPr>
          <a:xfrm>
            <a:off x="10109200" y="6350000"/>
            <a:ext cx="1270000" cy="215900"/>
          </a:xfrm>
          <a:prstGeom prst="rect">
            <a:avLst/>
          </a:prstGeom>
          <a:noFill/>
        </p:spPr>
        <p:txBody>
          <a:bodyPr wrap="square" anchor="t" lIns="0" rIns="0" tIns="0" bIns="0">
            <a:noAutofit/>
          </a:bodyPr>
          <a:lstStyle/>
          <a:p>
            <a:pPr algn="r">
              <a:lnSpc>
                <a:spcPct val="125000"/>
              </a:lnSpc>
            </a:pPr>
            <a:r>
              <a:rPr sz="1100" b="0" i="0">
                <a:solidFill>
                  <a:srgbClr val="8FA9CC"/>
                </a:solidFill>
                <a:latin typeface="Nunito Sans"/>
              </a:rPr>
              <a:t>18 / 23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4" fill="hold">
                            <p:stCondLst>
                              <p:cond delay="0"/>
                            </p:stCondLst>
                            <p:childTnLst>
                              <p:par>
                                <p:cTn id="4" presetID="42"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ppt_y+.08"/>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p:cTn id="12" dur="500" fill="hold"/>
                                        <p:tgtEl>
                                          <p:spTgt spid="3"/>
                                        </p:tgtEl>
                                        <p:attrNameLst>
                                          <p:attrName>ppt_x</p:attrName>
                                        </p:attrNameLst>
                                      </p:cBhvr>
                                      <p:tavLst>
                                        <p:tav tm="0">
                                          <p:val>
                                            <p:strVal val="#ppt_x"/>
                                          </p:val>
                                        </p:tav>
                                        <p:tav tm="100000">
                                          <p:val>
                                            <p:strVal val="#ppt_x"/>
                                          </p:val>
                                        </p:tav>
                                      </p:tavLst>
                                    </p:anim>
                                    <p:anim calcmode="lin" valueType="num">
                                      <p:cBhvr>
                                        <p:cTn id="13" dur="500" fill="hold"/>
                                        <p:tgtEl>
                                          <p:spTgt spid="3"/>
                                        </p:tgtEl>
                                        <p:attrNameLst>
                                          <p:attrName>ppt_y</p:attrName>
                                        </p:attrNameLst>
                                      </p:cBhvr>
                                      <p:tavLst>
                                        <p:tav tm="0">
                                          <p:val>
                                            <p:strVal val="#ppt_y+.08"/>
                                          </p:val>
                                        </p:tav>
                                        <p:tav tm="100000">
                                          <p:val>
                                            <p:strVal val="#ppt_y"/>
                                          </p:val>
                                        </p:tav>
                                      </p:tavLst>
                                    </p:anim>
                                  </p:childTnLst>
                                </p:cTn>
                              </p:par>
                            </p:childTnLst>
                          </p:cTn>
                        </p:par>
                        <p:par>
                          <p:cTn id="20" fill="hold">
                            <p:stCondLst>
                              <p:cond delay="350"/>
                            </p:stCondLst>
                            <p:childTnLst>
                              <p:par>
                                <p:cTn id="15" presetID="42" presetClass="entr" presetSubtype="0"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400"/>
                                        <p:tgtEl>
                                          <p:spTgt spid="4"/>
                                        </p:tgtEl>
                                      </p:cBhvr>
                                    </p:animEffect>
                                    <p:anim calcmode="lin" valueType="num">
                                      <p:cBhvr>
                                        <p:cTn id="18" dur="400" fill="hold"/>
                                        <p:tgtEl>
                                          <p:spTgt spid="4"/>
                                        </p:tgtEl>
                                        <p:attrNameLst>
                                          <p:attrName>ppt_x</p:attrName>
                                        </p:attrNameLst>
                                      </p:cBhvr>
                                      <p:tavLst>
                                        <p:tav tm="0">
                                          <p:val>
                                            <p:strVal val="#ppt_x"/>
                                          </p:val>
                                        </p:tav>
                                        <p:tav tm="100000">
                                          <p:val>
                                            <p:strVal val="#ppt_x"/>
                                          </p:val>
                                        </p:tav>
                                      </p:tavLst>
                                    </p:anim>
                                    <p:anim calcmode="lin" valueType="num">
                                      <p:cBhvr>
                                        <p:cTn id="19" dur="400" fill="hold"/>
                                        <p:tgtEl>
                                          <p:spTgt spid="4"/>
                                        </p:tgtEl>
                                        <p:attrNameLst>
                                          <p:attrName>ppt_y</p:attrName>
                                        </p:attrNameLst>
                                      </p:cBhvr>
                                      <p:tavLst>
                                        <p:tav tm="0">
                                          <p:val>
                                            <p:strVal val="#ppt_y+.08"/>
                                          </p:val>
                                        </p:tav>
                                        <p:tav tm="100000">
                                          <p:val>
                                            <p:strVal val="#ppt_y"/>
                                          </p:val>
                                        </p:tav>
                                      </p:tavLst>
                                    </p:anim>
                                  </p:childTnLst>
                                </p:cTn>
                              </p:par>
                            </p:childTnLst>
                          </p:cTn>
                        </p:par>
                        <p:par>
                          <p:cTn id="26" fill="hold">
                            <p:stCondLst>
                              <p:cond delay="630"/>
                            </p:stCondLst>
                            <p:childTnLst>
                              <p:par>
                                <p:cTn id="21" presetID="42" presetClass="entr" presetSubtype="0"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400"/>
                                        <p:tgtEl>
                                          <p:spTgt spid="5"/>
                                        </p:tgtEl>
                                      </p:cBhvr>
                                    </p:animEffect>
                                    <p:anim calcmode="lin" valueType="num">
                                      <p:cBhvr>
                                        <p:cTn id="24" dur="400" fill="hold"/>
                                        <p:tgtEl>
                                          <p:spTgt spid="5"/>
                                        </p:tgtEl>
                                        <p:attrNameLst>
                                          <p:attrName>ppt_x</p:attrName>
                                        </p:attrNameLst>
                                      </p:cBhvr>
                                      <p:tavLst>
                                        <p:tav tm="0">
                                          <p:val>
                                            <p:strVal val="#ppt_x"/>
                                          </p:val>
                                        </p:tav>
                                        <p:tav tm="100000">
                                          <p:val>
                                            <p:strVal val="#ppt_x"/>
                                          </p:val>
                                        </p:tav>
                                      </p:tavLst>
                                    </p:anim>
                                    <p:anim calcmode="lin" valueType="num">
                                      <p:cBhvr>
                                        <p:cTn id="25" dur="400" fill="hold"/>
                                        <p:tgtEl>
                                          <p:spTgt spid="5"/>
                                        </p:tgtEl>
                                        <p:attrNameLst>
                                          <p:attrName>ppt_y</p:attrName>
                                        </p:attrNameLst>
                                      </p:cBhvr>
                                      <p:tavLst>
                                        <p:tav tm="0">
                                          <p:val>
                                            <p:strVal val="#ppt_y+.08"/>
                                          </p:val>
                                        </p:tav>
                                        <p:tav tm="100000">
                                          <p:val>
                                            <p:strVal val="#ppt_y"/>
                                          </p:val>
                                        </p:tav>
                                      </p:tavLst>
                                    </p:anim>
                                  </p:childTnLst>
                                </p:cTn>
                              </p:par>
                            </p:childTnLst>
                          </p:cTn>
                        </p:par>
                        <p:par>
                          <p:cTn id="32" fill="hold">
                            <p:stCondLst>
                              <p:cond delay="910"/>
                            </p:stCondLst>
                            <p:childTnLst>
                              <p:par>
                                <p:cTn id="27" presetID="42" presetClass="entr" presetSubtype="0" fill="hold" grpId="0"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400"/>
                                        <p:tgtEl>
                                          <p:spTgt spid="6"/>
                                        </p:tgtEl>
                                      </p:cBhvr>
                                    </p:animEffect>
                                    <p:anim calcmode="lin" valueType="num">
                                      <p:cBhvr>
                                        <p:cTn id="30" dur="400" fill="hold"/>
                                        <p:tgtEl>
                                          <p:spTgt spid="6"/>
                                        </p:tgtEl>
                                        <p:attrNameLst>
                                          <p:attrName>ppt_x</p:attrName>
                                        </p:attrNameLst>
                                      </p:cBhvr>
                                      <p:tavLst>
                                        <p:tav tm="0">
                                          <p:val>
                                            <p:strVal val="#ppt_x"/>
                                          </p:val>
                                        </p:tav>
                                        <p:tav tm="100000">
                                          <p:val>
                                            <p:strVal val="#ppt_x"/>
                                          </p:val>
                                        </p:tav>
                                      </p:tavLst>
                                    </p:anim>
                                    <p:anim calcmode="lin" valueType="num">
                                      <p:cBhvr>
                                        <p:cTn id="31" dur="400" fill="hold"/>
                                        <p:tgtEl>
                                          <p:spTgt spid="6"/>
                                        </p:tgtEl>
                                        <p:attrNameLst>
                                          <p:attrName>ppt_y</p:attrName>
                                        </p:attrNameLst>
                                      </p:cBhvr>
                                      <p:tavLst>
                                        <p:tav tm="0">
                                          <p:val>
                                            <p:strVal val="#ppt_y+.08"/>
                                          </p:val>
                                        </p:tav>
                                        <p:tav tm="100000">
                                          <p:val>
                                            <p:strVal val="#ppt_y"/>
                                          </p:val>
                                        </p:tav>
                                      </p:tavLst>
                                    </p:anim>
                                  </p:childTnLst>
                                </p:cTn>
                              </p:par>
                            </p:childTnLst>
                          </p:cTn>
                        </p:par>
                        <p:par>
                          <p:cTn id="38" fill="hold">
                            <p:stCondLst>
                              <p:cond delay="1190"/>
                            </p:stCondLst>
                            <p:childTnLst>
                              <p:par>
                                <p:cTn id="33" presetID="42" presetClass="entr" presetSubtype="0" fill="hold" grpId="0"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400"/>
                                        <p:tgtEl>
                                          <p:spTgt spid="7"/>
                                        </p:tgtEl>
                                      </p:cBhvr>
                                    </p:animEffect>
                                    <p:anim calcmode="lin" valueType="num">
                                      <p:cBhvr>
                                        <p:cTn id="36" dur="400" fill="hold"/>
                                        <p:tgtEl>
                                          <p:spTgt spid="7"/>
                                        </p:tgtEl>
                                        <p:attrNameLst>
                                          <p:attrName>ppt_x</p:attrName>
                                        </p:attrNameLst>
                                      </p:cBhvr>
                                      <p:tavLst>
                                        <p:tav tm="0">
                                          <p:val>
                                            <p:strVal val="#ppt_x"/>
                                          </p:val>
                                        </p:tav>
                                        <p:tav tm="100000">
                                          <p:val>
                                            <p:strVal val="#ppt_x"/>
                                          </p:val>
                                        </p:tav>
                                      </p:tavLst>
                                    </p:anim>
                                    <p:anim calcmode="lin" valueType="num">
                                      <p:cBhvr>
                                        <p:cTn id="37" dur="400" fill="hold"/>
                                        <p:tgtEl>
                                          <p:spTgt spid="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FF6FF"/>
        </a:solidFill>
        <a:effectLst/>
      </p:bgPr>
    </p:bg>
    <p:spTree>
      <p:nvGrpSpPr>
        <p:cNvPr id="1" name=""/>
        <p:cNvGrpSpPr/>
        <p:nvPr/>
      </p:nvGrpSpPr>
      <p:grpSpPr/>
      <p:sp>
        <p:nvSpPr>
          <p:cNvPr id="2" name="TextBox 1"/>
          <p:cNvSpPr txBox="1"/>
          <p:nvPr/>
        </p:nvSpPr>
        <p:spPr>
          <a:xfrm>
            <a:off x="812800" y="711200"/>
            <a:ext cx="10566400" cy="228600"/>
          </a:xfrm>
          <a:prstGeom prst="rect">
            <a:avLst/>
          </a:prstGeom>
          <a:noFill/>
        </p:spPr>
        <p:txBody>
          <a:bodyPr wrap="square" anchor="t" lIns="0" rIns="0" tIns="0" bIns="0">
            <a:noAutofit/>
          </a:bodyPr>
          <a:lstStyle/>
          <a:p>
            <a:pPr algn="l">
              <a:lnSpc>
                <a:spcPct val="125000"/>
              </a:lnSpc>
            </a:pPr>
            <a:r>
              <a:rPr sz="1200" b="1" i="0" cap="all" spc="300">
                <a:solidFill>
                  <a:srgbClr val="007AB1"/>
                </a:solidFill>
                <a:latin typeface="Nunito Sans"/>
              </a:rPr>
              <a:t>Demo</a:t>
            </a:r>
          </a:p>
        </p:txBody>
      </p:sp>
      <p:sp>
        <p:nvSpPr>
          <p:cNvPr id="3" name="TextBox 2"/>
          <p:cNvSpPr txBox="1"/>
          <p:nvPr/>
        </p:nvSpPr>
        <p:spPr>
          <a:xfrm>
            <a:off x="812800" y="990600"/>
            <a:ext cx="10566400" cy="508000"/>
          </a:xfrm>
          <a:prstGeom prst="rect">
            <a:avLst/>
          </a:prstGeom>
          <a:noFill/>
        </p:spPr>
        <p:txBody>
          <a:bodyPr wrap="square" anchor="t" lIns="0" rIns="0" tIns="0" bIns="0">
            <a:noAutofit/>
          </a:bodyPr>
          <a:lstStyle/>
          <a:p>
            <a:pPr algn="l">
              <a:lnSpc>
                <a:spcPct val="105000"/>
              </a:lnSpc>
            </a:pPr>
            <a:r>
              <a:rPr sz="3600" b="1" i="0">
                <a:solidFill>
                  <a:srgbClr val="0D2A50"/>
                </a:solidFill>
                <a:latin typeface="Nunito Sans"/>
              </a:rPr>
              <a:t>Drie persona's, drie minuten</a:t>
            </a:r>
          </a:p>
        </p:txBody>
      </p:sp>
      <p:sp>
        <p:nvSpPr>
          <p:cNvPr id="4" name="Rounded Rectangle 3"/>
          <p:cNvSpPr/>
          <p:nvPr/>
        </p:nvSpPr>
        <p:spPr>
          <a:xfrm>
            <a:off x="812800" y="1752600"/>
            <a:ext cx="3384550" cy="4064000"/>
          </a:xfrm>
          <a:prstGeom prst="roundRect">
            <a:avLst>
              <a:gd name="adj" fmla="val 3001"/>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onder_w.gif"/>
          <p:cNvPicPr>
            <a:picLocks noChangeAspect="1"/>
          </p:cNvPicPr>
          <p:nvPr/>
        </p:nvPicPr>
        <p:blipFill>
          <a:blip r:embed="rId3"/>
          <a:stretch>
            <a:fillRect/>
          </a:stretch>
        </p:blipFill>
        <p:spPr>
          <a:xfrm>
            <a:off x="1162050" y="1905000"/>
            <a:ext cx="1206500" cy="1206500"/>
          </a:xfrm>
          <a:prstGeom prst="rect">
            <a:avLst/>
          </a:prstGeom>
        </p:spPr>
      </p:pic>
      <p:sp>
        <p:nvSpPr>
          <p:cNvPr id="6" name="TextBox 5"/>
          <p:cNvSpPr txBox="1"/>
          <p:nvPr/>
        </p:nvSpPr>
        <p:spPr>
          <a:xfrm>
            <a:off x="1041400" y="3213100"/>
            <a:ext cx="2927350" cy="2476500"/>
          </a:xfrm>
          <a:prstGeom prst="rect">
            <a:avLst/>
          </a:prstGeom>
          <a:noFill/>
        </p:spPr>
        <p:txBody>
          <a:bodyPr wrap="square" anchor="t" lIns="0" rIns="0" tIns="0" bIns="0">
            <a:noAutofit/>
          </a:bodyPr>
          <a:lstStyle/>
          <a:p>
            <a:pPr algn="l">
              <a:lnSpc>
                <a:spcPct val="110000"/>
              </a:lnSpc>
            </a:pPr>
            <a:r>
              <a:rPr sz="2200" b="1" i="0">
                <a:solidFill>
                  <a:srgbClr val="0D2A50"/>
                </a:solidFill>
                <a:latin typeface="Nunito Sans"/>
              </a:rPr>
              <a:t>Lotte, 23</a:t>
            </a:r>
          </a:p>
          <a:p>
            <a:pPr algn="l">
              <a:lnSpc>
                <a:spcPct val="130000"/>
              </a:lnSpc>
              <a:spcBef>
                <a:spcPts val="600"/>
              </a:spcBef>
            </a:pPr>
            <a:r>
              <a:rPr sz="1400" b="0" i="0">
                <a:solidFill>
                  <a:srgbClr val="45658F"/>
                </a:solidFill>
                <a:latin typeface="Nunito Sans"/>
              </a:rPr>
              <a:t>Eerste job, gaat graag uit, spaart voor een reis.</a:t>
            </a:r>
          </a:p>
          <a:p>
            <a:pPr algn="l">
              <a:lnSpc>
                <a:spcPct val="130000"/>
              </a:lnSpc>
              <a:spcBef>
                <a:spcPts val="1200"/>
              </a:spcBef>
            </a:pPr>
            <a:r>
              <a:rPr sz="1400" b="1" i="0">
                <a:solidFill>
                  <a:srgbClr val="0D2A50"/>
                </a:solidFill>
                <a:latin typeface="Nunito Sans"/>
              </a:rPr>
              <a:t>Jij kiest het weer, en na donder komt zon.</a:t>
            </a:r>
          </a:p>
        </p:txBody>
      </p:sp>
      <p:sp>
        <p:nvSpPr>
          <p:cNvPr id="7" name="Rounded Rectangle 6"/>
          <p:cNvSpPr/>
          <p:nvPr/>
        </p:nvSpPr>
        <p:spPr>
          <a:xfrm>
            <a:off x="4400550" y="1752600"/>
            <a:ext cx="3384550" cy="4064000"/>
          </a:xfrm>
          <a:prstGeom prst="roundRect">
            <a:avLst>
              <a:gd name="adj" fmla="val 3001"/>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torm_w.gif"/>
          <p:cNvPicPr>
            <a:picLocks noChangeAspect="1"/>
          </p:cNvPicPr>
          <p:nvPr/>
        </p:nvPicPr>
        <p:blipFill>
          <a:blip r:embed="rId4"/>
          <a:stretch>
            <a:fillRect/>
          </a:stretch>
        </p:blipFill>
        <p:spPr>
          <a:xfrm>
            <a:off x="4830233" y="1905000"/>
            <a:ext cx="1045633" cy="1206500"/>
          </a:xfrm>
          <a:prstGeom prst="rect">
            <a:avLst/>
          </a:prstGeom>
        </p:spPr>
      </p:pic>
      <p:sp>
        <p:nvSpPr>
          <p:cNvPr id="9" name="TextBox 8"/>
          <p:cNvSpPr txBox="1"/>
          <p:nvPr/>
        </p:nvSpPr>
        <p:spPr>
          <a:xfrm>
            <a:off x="4629150" y="3213100"/>
            <a:ext cx="2927350" cy="2476500"/>
          </a:xfrm>
          <a:prstGeom prst="rect">
            <a:avLst/>
          </a:prstGeom>
          <a:noFill/>
        </p:spPr>
        <p:txBody>
          <a:bodyPr wrap="square" anchor="t" lIns="0" rIns="0" tIns="0" bIns="0">
            <a:noAutofit/>
          </a:bodyPr>
          <a:lstStyle/>
          <a:p>
            <a:pPr algn="l">
              <a:lnSpc>
                <a:spcPct val="110000"/>
              </a:lnSpc>
            </a:pPr>
            <a:r>
              <a:rPr sz="2200" b="1" i="0">
                <a:solidFill>
                  <a:srgbClr val="0D2A50"/>
                </a:solidFill>
                <a:latin typeface="Nunito Sans"/>
              </a:rPr>
              <a:t>Familie Peeters</a:t>
            </a:r>
          </a:p>
          <a:p>
            <a:pPr algn="l">
              <a:lnSpc>
                <a:spcPct val="130000"/>
              </a:lnSpc>
              <a:spcBef>
                <a:spcPts val="600"/>
              </a:spcBef>
            </a:pPr>
            <a:r>
              <a:rPr sz="1400" b="0" i="0">
                <a:solidFill>
                  <a:srgbClr val="45658F"/>
                </a:solidFill>
                <a:latin typeface="Nunito Sans"/>
              </a:rPr>
              <a:t>Dochter vertrekt in september op kot in Gent.</a:t>
            </a:r>
          </a:p>
          <a:p>
            <a:pPr algn="l">
              <a:lnSpc>
                <a:spcPct val="130000"/>
              </a:lnSpc>
              <a:spcBef>
                <a:spcPts val="1200"/>
              </a:spcBef>
            </a:pPr>
            <a:r>
              <a:rPr sz="1400" b="1" i="0">
                <a:solidFill>
                  <a:srgbClr val="0D2A50"/>
                </a:solidFill>
                <a:latin typeface="Nunito Sans"/>
              </a:rPr>
              <a:t>Seizoenswissel, storm voorspeld, Kate raadt een eigen KBC-product af.</a:t>
            </a:r>
          </a:p>
        </p:txBody>
      </p:sp>
      <p:sp>
        <p:nvSpPr>
          <p:cNvPr id="10" name="Rounded Rectangle 9"/>
          <p:cNvSpPr/>
          <p:nvPr/>
        </p:nvSpPr>
        <p:spPr>
          <a:xfrm>
            <a:off x="7988300" y="1752600"/>
            <a:ext cx="3384550" cy="4064000"/>
          </a:xfrm>
          <a:prstGeom prst="roundRect">
            <a:avLst>
              <a:gd name="adj" fmla="val 3001"/>
            </a:avLst>
          </a:prstGeom>
          <a:solidFill>
            <a:srgbClr val="FFFFFF"/>
          </a:solidFill>
          <a:ln w="12700">
            <a:solidFill>
              <a:srgbClr val="BFDA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mist_w.gif"/>
          <p:cNvPicPr>
            <a:picLocks noChangeAspect="1"/>
          </p:cNvPicPr>
          <p:nvPr/>
        </p:nvPicPr>
        <p:blipFill>
          <a:blip r:embed="rId5"/>
          <a:stretch>
            <a:fillRect/>
          </a:stretch>
        </p:blipFill>
        <p:spPr>
          <a:xfrm>
            <a:off x="8224311" y="1905000"/>
            <a:ext cx="1432976" cy="1206500"/>
          </a:xfrm>
          <a:prstGeom prst="rect">
            <a:avLst/>
          </a:prstGeom>
        </p:spPr>
      </p:pic>
      <p:sp>
        <p:nvSpPr>
          <p:cNvPr id="12" name="TextBox 11"/>
          <p:cNvSpPr txBox="1"/>
          <p:nvPr/>
        </p:nvSpPr>
        <p:spPr>
          <a:xfrm>
            <a:off x="8216900" y="3213100"/>
            <a:ext cx="2927350" cy="2476500"/>
          </a:xfrm>
          <a:prstGeom prst="rect">
            <a:avLst/>
          </a:prstGeom>
          <a:noFill/>
        </p:spPr>
        <p:txBody>
          <a:bodyPr wrap="square" anchor="t" lIns="0" rIns="0" tIns="0" bIns="0">
            <a:noAutofit/>
          </a:bodyPr>
          <a:lstStyle/>
          <a:p>
            <a:pPr algn="l">
              <a:lnSpc>
                <a:spcPct val="110000"/>
              </a:lnSpc>
            </a:pPr>
            <a:r>
              <a:rPr sz="2200" b="1" i="0">
                <a:solidFill>
                  <a:srgbClr val="0D2A50"/>
                </a:solidFill>
                <a:latin typeface="Nunito Sans"/>
              </a:rPr>
              <a:t>Jos, 74</a:t>
            </a:r>
          </a:p>
          <a:p>
            <a:pPr algn="l">
              <a:lnSpc>
                <a:spcPct val="130000"/>
              </a:lnSpc>
              <a:spcBef>
                <a:spcPts val="600"/>
              </a:spcBef>
            </a:pPr>
            <a:r>
              <a:rPr sz="1400" b="0" i="0">
                <a:solidFill>
                  <a:srgbClr val="45658F"/>
                </a:solidFill>
                <a:latin typeface="Nunito Sans"/>
              </a:rPr>
              <a:t>Weduwnaar, woont alleen.</a:t>
            </a:r>
          </a:p>
          <a:p>
            <a:pPr algn="l">
              <a:lnSpc>
                <a:spcPct val="130000"/>
              </a:lnSpc>
              <a:spcBef>
                <a:spcPts val="1200"/>
              </a:spcBef>
            </a:pPr>
            <a:r>
              <a:rPr sz="1400" b="1" i="0">
                <a:solidFill>
                  <a:srgbClr val="0D2A50"/>
                </a:solidFill>
                <a:latin typeface="Nunito Sans"/>
              </a:rPr>
              <a:t>Weerwaarschuwing code rood bij een fraudepoging.</a:t>
            </a:r>
          </a:p>
        </p:txBody>
      </p:sp>
      <p:sp>
        <p:nvSpPr>
          <p:cNvPr id="13" name="TextBox 12"/>
          <p:cNvSpPr txBox="1"/>
          <p:nvPr/>
        </p:nvSpPr>
        <p:spPr>
          <a:xfrm>
            <a:off x="812800" y="6350000"/>
            <a:ext cx="8890000" cy="215900"/>
          </a:xfrm>
          <a:prstGeom prst="rect">
            <a:avLst/>
          </a:prstGeom>
          <a:noFill/>
        </p:spPr>
        <p:txBody>
          <a:bodyPr wrap="square" anchor="t" lIns="0" rIns="0" tIns="0" bIns="0">
            <a:noAutofit/>
          </a:bodyPr>
          <a:lstStyle/>
          <a:p>
            <a:pPr algn="l">
              <a:lnSpc>
                <a:spcPct val="125000"/>
              </a:lnSpc>
            </a:pPr>
            <a:r>
              <a:rPr sz="1100" b="0" i="0">
                <a:solidFill>
                  <a:srgbClr val="45658F"/>
                </a:solidFill>
                <a:latin typeface="Nunito Sans"/>
              </a:rPr>
              <a:t>Alle data is synthetisch. Elke persona heeft een tijdlijn van transacties die we in de demo vooruitspoelen.</a:t>
            </a:r>
          </a:p>
        </p:txBody>
      </p:sp>
      <p:sp>
        <p:nvSpPr>
          <p:cNvPr id="14" name="TextBox 13"/>
          <p:cNvSpPr txBox="1"/>
          <p:nvPr/>
        </p:nvSpPr>
        <p:spPr>
          <a:xfrm>
            <a:off x="10109200" y="6350000"/>
            <a:ext cx="1270000" cy="215900"/>
          </a:xfrm>
          <a:prstGeom prst="rect">
            <a:avLst/>
          </a:prstGeom>
          <a:noFill/>
        </p:spPr>
        <p:txBody>
          <a:bodyPr wrap="square" anchor="t" lIns="0" rIns="0" tIns="0" bIns="0">
            <a:noAutofit/>
          </a:bodyPr>
          <a:lstStyle/>
          <a:p>
            <a:pPr algn="r">
              <a:lnSpc>
                <a:spcPct val="125000"/>
              </a:lnSpc>
            </a:pPr>
            <a:r>
              <a:rPr sz="1100" b="0" i="0">
                <a:solidFill>
                  <a:srgbClr val="45658F"/>
                </a:solidFill>
                <a:latin typeface="Nunito Sans"/>
              </a:rPr>
              <a:t>19 / 23</a:t>
            </a: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4" fill="hold">
                            <p:stCondLst>
                              <p:cond delay="0"/>
                            </p:stCondLst>
                            <p:childTnLst>
                              <p:par>
                                <p:cTn id="4" presetID="42"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ppt_y+.08"/>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p:cTn id="12" dur="500" fill="hold"/>
                                        <p:tgtEl>
                                          <p:spTgt spid="3"/>
                                        </p:tgtEl>
                                        <p:attrNameLst>
                                          <p:attrName>ppt_x</p:attrName>
                                        </p:attrNameLst>
                                      </p:cBhvr>
                                      <p:tavLst>
                                        <p:tav tm="0">
                                          <p:val>
                                            <p:strVal val="#ppt_x"/>
                                          </p:val>
                                        </p:tav>
                                        <p:tav tm="100000">
                                          <p:val>
                                            <p:strVal val="#ppt_x"/>
                                          </p:val>
                                        </p:tav>
                                      </p:tavLst>
                                    </p:anim>
                                    <p:anim calcmode="lin" valueType="num">
                                      <p:cBhvr>
                                        <p:cTn id="13" dur="500" fill="hold"/>
                                        <p:tgtEl>
                                          <p:spTgt spid="3"/>
                                        </p:tgtEl>
                                        <p:attrNameLst>
                                          <p:attrName>ppt_y</p:attrName>
                                        </p:attrNameLst>
                                      </p:cBhvr>
                                      <p:tavLst>
                                        <p:tav tm="0">
                                          <p:val>
                                            <p:strVal val="#ppt_y+.08"/>
                                          </p:val>
                                        </p:tav>
                                        <p:tav tm="100000">
                                          <p:val>
                                            <p:strVal val="#ppt_y"/>
                                          </p:val>
                                        </p:tav>
                                      </p:tavLst>
                                    </p:anim>
                                  </p:childTnLst>
                                </p:cTn>
                              </p:par>
                            </p:childTnLst>
                          </p:cTn>
                        </p:par>
                        <p:par>
                          <p:cTn id="30" fill="hold">
                            <p:stCondLst>
                              <p:cond delay="350"/>
                            </p:stCondLst>
                            <p:childTnLst>
                              <p:par>
                                <p:cTn id="15" presetID="42" presetClass="entr" presetSubtype="0"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450"/>
                                        <p:tgtEl>
                                          <p:spTgt spid="4"/>
                                        </p:tgtEl>
                                      </p:cBhvr>
                                    </p:animEffect>
                                    <p:anim calcmode="lin" valueType="num">
                                      <p:cBhvr>
                                        <p:cTn id="18" dur="450" fill="hold"/>
                                        <p:tgtEl>
                                          <p:spTgt spid="4"/>
                                        </p:tgtEl>
                                        <p:attrNameLst>
                                          <p:attrName>ppt_x</p:attrName>
                                        </p:attrNameLst>
                                      </p:cBhvr>
                                      <p:tavLst>
                                        <p:tav tm="0">
                                          <p:val>
                                            <p:strVal val="#ppt_x"/>
                                          </p:val>
                                        </p:tav>
                                        <p:tav tm="100000">
                                          <p:val>
                                            <p:strVal val="#ppt_x"/>
                                          </p:val>
                                        </p:tav>
                                      </p:tavLst>
                                    </p:anim>
                                    <p:anim calcmode="lin" valueType="num">
                                      <p:cBhvr>
                                        <p:cTn id="19" dur="450" fill="hold"/>
                                        <p:tgtEl>
                                          <p:spTgt spid="4"/>
                                        </p:tgtEl>
                                        <p:attrNameLst>
                                          <p:attrName>ppt_y</p:attrName>
                                        </p:attrNameLst>
                                      </p:cBhvr>
                                      <p:tavLst>
                                        <p:tav tm="0">
                                          <p:val>
                                            <p:strVal val="#ppt_y+.08"/>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450"/>
                                        <p:tgtEl>
                                          <p:spTgt spid="5"/>
                                        </p:tgtEl>
                                      </p:cBhvr>
                                    </p:animEffect>
                                    <p:anim calcmode="lin" valueType="num">
                                      <p:cBhvr>
                                        <p:cTn id="23" dur="450" fill="hold"/>
                                        <p:tgtEl>
                                          <p:spTgt spid="5"/>
                                        </p:tgtEl>
                                        <p:attrNameLst>
                                          <p:attrName>ppt_x</p:attrName>
                                        </p:attrNameLst>
                                      </p:cBhvr>
                                      <p:tavLst>
                                        <p:tav tm="0">
                                          <p:val>
                                            <p:strVal val="#ppt_x"/>
                                          </p:val>
                                        </p:tav>
                                        <p:tav tm="100000">
                                          <p:val>
                                            <p:strVal val="#ppt_x"/>
                                          </p:val>
                                        </p:tav>
                                      </p:tavLst>
                                    </p:anim>
                                    <p:anim calcmode="lin" valueType="num">
                                      <p:cBhvr>
                                        <p:cTn id="24" dur="450" fill="hold"/>
                                        <p:tgtEl>
                                          <p:spTgt spid="5"/>
                                        </p:tgtEl>
                                        <p:attrNameLst>
                                          <p:attrName>ppt_y</p:attrName>
                                        </p:attrNameLst>
                                      </p:cBhvr>
                                      <p:tavLst>
                                        <p:tav tm="0">
                                          <p:val>
                                            <p:strVal val="#ppt_y+.08"/>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450"/>
                                        <p:tgtEl>
                                          <p:spTgt spid="6"/>
                                        </p:tgtEl>
                                      </p:cBhvr>
                                    </p:animEffect>
                                    <p:anim calcmode="lin" valueType="num">
                                      <p:cBhvr>
                                        <p:cTn id="28" dur="450" fill="hold"/>
                                        <p:tgtEl>
                                          <p:spTgt spid="6"/>
                                        </p:tgtEl>
                                        <p:attrNameLst>
                                          <p:attrName>ppt_x</p:attrName>
                                        </p:attrNameLst>
                                      </p:cBhvr>
                                      <p:tavLst>
                                        <p:tav tm="0">
                                          <p:val>
                                            <p:strVal val="#ppt_x"/>
                                          </p:val>
                                        </p:tav>
                                        <p:tav tm="100000">
                                          <p:val>
                                            <p:strVal val="#ppt_x"/>
                                          </p:val>
                                        </p:tav>
                                      </p:tavLst>
                                    </p:anim>
                                    <p:anim calcmode="lin" valueType="num">
                                      <p:cBhvr>
                                        <p:cTn id="29" dur="450" fill="hold"/>
                                        <p:tgtEl>
                                          <p:spTgt spid="6"/>
                                        </p:tgtEl>
                                        <p:attrNameLst>
                                          <p:attrName>ppt_y</p:attrName>
                                        </p:attrNameLst>
                                      </p:cBhvr>
                                      <p:tavLst>
                                        <p:tav tm="0">
                                          <p:val>
                                            <p:strVal val="#ppt_y+.08"/>
                                          </p:val>
                                        </p:tav>
                                        <p:tav tm="100000">
                                          <p:val>
                                            <p:strVal val="#ppt_y"/>
                                          </p:val>
                                        </p:tav>
                                      </p:tavLst>
                                    </p:anim>
                                  </p:childTnLst>
                                </p:cTn>
                              </p:par>
                            </p:childTnLst>
                          </p:cTn>
                        </p:par>
                        <p:par>
                          <p:cTn id="46" fill="hold">
                            <p:stCondLst>
                              <p:cond delay="665"/>
                            </p:stCondLst>
                            <p:childTnLst>
                              <p:par>
                                <p:cTn id="31" presetID="42" presetClass="entr" presetSubtype="0" fill="hold" grpId="0" nodeType="after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450"/>
                                        <p:tgtEl>
                                          <p:spTgt spid="7"/>
                                        </p:tgtEl>
                                      </p:cBhvr>
                                    </p:animEffect>
                                    <p:anim calcmode="lin" valueType="num">
                                      <p:cBhvr>
                                        <p:cTn id="34" dur="450" fill="hold"/>
                                        <p:tgtEl>
                                          <p:spTgt spid="7"/>
                                        </p:tgtEl>
                                        <p:attrNameLst>
                                          <p:attrName>ppt_x</p:attrName>
                                        </p:attrNameLst>
                                      </p:cBhvr>
                                      <p:tavLst>
                                        <p:tav tm="0">
                                          <p:val>
                                            <p:strVal val="#ppt_x"/>
                                          </p:val>
                                        </p:tav>
                                        <p:tav tm="100000">
                                          <p:val>
                                            <p:strVal val="#ppt_x"/>
                                          </p:val>
                                        </p:tav>
                                      </p:tavLst>
                                    </p:anim>
                                    <p:anim calcmode="lin" valueType="num">
                                      <p:cBhvr>
                                        <p:cTn id="35" dur="450" fill="hold"/>
                                        <p:tgtEl>
                                          <p:spTgt spid="7"/>
                                        </p:tgtEl>
                                        <p:attrNameLst>
                                          <p:attrName>ppt_y</p:attrName>
                                        </p:attrNameLst>
                                      </p:cBhvr>
                                      <p:tavLst>
                                        <p:tav tm="0">
                                          <p:val>
                                            <p:strVal val="#ppt_y+.08"/>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450"/>
                                        <p:tgtEl>
                                          <p:spTgt spid="8"/>
                                        </p:tgtEl>
                                      </p:cBhvr>
                                    </p:animEffect>
                                    <p:anim calcmode="lin" valueType="num">
                                      <p:cBhvr>
                                        <p:cTn id="39" dur="450" fill="hold"/>
                                        <p:tgtEl>
                                          <p:spTgt spid="8"/>
                                        </p:tgtEl>
                                        <p:attrNameLst>
                                          <p:attrName>ppt_x</p:attrName>
                                        </p:attrNameLst>
                                      </p:cBhvr>
                                      <p:tavLst>
                                        <p:tav tm="0">
                                          <p:val>
                                            <p:strVal val="#ppt_x"/>
                                          </p:val>
                                        </p:tav>
                                        <p:tav tm="100000">
                                          <p:val>
                                            <p:strVal val="#ppt_x"/>
                                          </p:val>
                                        </p:tav>
                                      </p:tavLst>
                                    </p:anim>
                                    <p:anim calcmode="lin" valueType="num">
                                      <p:cBhvr>
                                        <p:cTn id="40" dur="450" fill="hold"/>
                                        <p:tgtEl>
                                          <p:spTgt spid="8"/>
                                        </p:tgtEl>
                                        <p:attrNameLst>
                                          <p:attrName>ppt_y</p:attrName>
                                        </p:attrNameLst>
                                      </p:cBhvr>
                                      <p:tavLst>
                                        <p:tav tm="0">
                                          <p:val>
                                            <p:strVal val="#ppt_y+.08"/>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450"/>
                                        <p:tgtEl>
                                          <p:spTgt spid="9"/>
                                        </p:tgtEl>
                                      </p:cBhvr>
                                    </p:animEffect>
                                    <p:anim calcmode="lin" valueType="num">
                                      <p:cBhvr>
                                        <p:cTn id="44" dur="450" fill="hold"/>
                                        <p:tgtEl>
                                          <p:spTgt spid="9"/>
                                        </p:tgtEl>
                                        <p:attrNameLst>
                                          <p:attrName>ppt_x</p:attrName>
                                        </p:attrNameLst>
                                      </p:cBhvr>
                                      <p:tavLst>
                                        <p:tav tm="0">
                                          <p:val>
                                            <p:strVal val="#ppt_x"/>
                                          </p:val>
                                        </p:tav>
                                        <p:tav tm="100000">
                                          <p:val>
                                            <p:strVal val="#ppt_x"/>
                                          </p:val>
                                        </p:tav>
                                      </p:tavLst>
                                    </p:anim>
                                    <p:anim calcmode="lin" valueType="num">
                                      <p:cBhvr>
                                        <p:cTn id="45" dur="450" fill="hold"/>
                                        <p:tgtEl>
                                          <p:spTgt spid="9"/>
                                        </p:tgtEl>
                                        <p:attrNameLst>
                                          <p:attrName>ppt_y</p:attrName>
                                        </p:attrNameLst>
                                      </p:cBhvr>
                                      <p:tavLst>
                                        <p:tav tm="0">
                                          <p:val>
                                            <p:strVal val="#ppt_y+.08"/>
                                          </p:val>
                                        </p:tav>
                                        <p:tav tm="100000">
                                          <p:val>
                                            <p:strVal val="#ppt_y"/>
                                          </p:val>
                                        </p:tav>
                                      </p:tavLst>
                                    </p:anim>
                                  </p:childTnLst>
                                </p:cTn>
                              </p:par>
                            </p:childTnLst>
                          </p:cTn>
                        </p:par>
                        <p:par>
                          <p:cTn id="62" fill="hold">
                            <p:stCondLst>
                              <p:cond delay="980"/>
                            </p:stCondLst>
                            <p:childTnLst>
                              <p:par>
                                <p:cTn id="47" presetID="42" presetClass="entr" presetSubtype="0" fill="hold" grpId="0" nodeType="after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450"/>
                                        <p:tgtEl>
                                          <p:spTgt spid="10"/>
                                        </p:tgtEl>
                                      </p:cBhvr>
                                    </p:animEffect>
                                    <p:anim calcmode="lin" valueType="num">
                                      <p:cBhvr>
                                        <p:cTn id="50" dur="450" fill="hold"/>
                                        <p:tgtEl>
                                          <p:spTgt spid="10"/>
                                        </p:tgtEl>
                                        <p:attrNameLst>
                                          <p:attrName>ppt_x</p:attrName>
                                        </p:attrNameLst>
                                      </p:cBhvr>
                                      <p:tavLst>
                                        <p:tav tm="0">
                                          <p:val>
                                            <p:strVal val="#ppt_x"/>
                                          </p:val>
                                        </p:tav>
                                        <p:tav tm="100000">
                                          <p:val>
                                            <p:strVal val="#ppt_x"/>
                                          </p:val>
                                        </p:tav>
                                      </p:tavLst>
                                    </p:anim>
                                    <p:anim calcmode="lin" valueType="num">
                                      <p:cBhvr>
                                        <p:cTn id="51" dur="450" fill="hold"/>
                                        <p:tgtEl>
                                          <p:spTgt spid="10"/>
                                        </p:tgtEl>
                                        <p:attrNameLst>
                                          <p:attrName>ppt_y</p:attrName>
                                        </p:attrNameLst>
                                      </p:cBhvr>
                                      <p:tavLst>
                                        <p:tav tm="0">
                                          <p:val>
                                            <p:strVal val="#ppt_y+.08"/>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450"/>
                                        <p:tgtEl>
                                          <p:spTgt spid="11"/>
                                        </p:tgtEl>
                                      </p:cBhvr>
                                    </p:animEffect>
                                    <p:anim calcmode="lin" valueType="num">
                                      <p:cBhvr>
                                        <p:cTn id="55" dur="450" fill="hold"/>
                                        <p:tgtEl>
                                          <p:spTgt spid="11"/>
                                        </p:tgtEl>
                                        <p:attrNameLst>
                                          <p:attrName>ppt_x</p:attrName>
                                        </p:attrNameLst>
                                      </p:cBhvr>
                                      <p:tavLst>
                                        <p:tav tm="0">
                                          <p:val>
                                            <p:strVal val="#ppt_x"/>
                                          </p:val>
                                        </p:tav>
                                        <p:tav tm="100000">
                                          <p:val>
                                            <p:strVal val="#ppt_x"/>
                                          </p:val>
                                        </p:tav>
                                      </p:tavLst>
                                    </p:anim>
                                    <p:anim calcmode="lin" valueType="num">
                                      <p:cBhvr>
                                        <p:cTn id="56" dur="450" fill="hold"/>
                                        <p:tgtEl>
                                          <p:spTgt spid="11"/>
                                        </p:tgtEl>
                                        <p:attrNameLst>
                                          <p:attrName>ppt_y</p:attrName>
                                        </p:attrNameLst>
                                      </p:cBhvr>
                                      <p:tavLst>
                                        <p:tav tm="0">
                                          <p:val>
                                            <p:strVal val="#ppt_y+.08"/>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450"/>
                                        <p:tgtEl>
                                          <p:spTgt spid="12"/>
                                        </p:tgtEl>
                                      </p:cBhvr>
                                    </p:animEffect>
                                    <p:anim calcmode="lin" valueType="num">
                                      <p:cBhvr>
                                        <p:cTn id="60" dur="450" fill="hold"/>
                                        <p:tgtEl>
                                          <p:spTgt spid="12"/>
                                        </p:tgtEl>
                                        <p:attrNameLst>
                                          <p:attrName>ppt_x</p:attrName>
                                        </p:attrNameLst>
                                      </p:cBhvr>
                                      <p:tavLst>
                                        <p:tav tm="0">
                                          <p:val>
                                            <p:strVal val="#ppt_x"/>
                                          </p:val>
                                        </p:tav>
                                        <p:tav tm="100000">
                                          <p:val>
                                            <p:strVal val="#ppt_x"/>
                                          </p:val>
                                        </p:tav>
                                      </p:tavLst>
                                    </p:anim>
                                    <p:anim calcmode="lin" valueType="num">
                                      <p:cBhvr>
                                        <p:cTn id="61" dur="450" fill="hold"/>
                                        <p:tgtEl>
                                          <p:spTgt spid="12"/>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FF6FF"/>
        </a:solidFill>
        <a:effectLst/>
      </p:bgPr>
    </p:bg>
    <p:spTree>
      <p:nvGrpSpPr>
        <p:cNvPr id="1" name=""/>
        <p:cNvGrpSpPr/>
        <p:nvPr/>
      </p:nvGrpSpPr>
      <p:grpSpPr/>
      <p:sp>
        <p:nvSpPr>
          <p:cNvPr id="2" name="TextBox 1"/>
          <p:cNvSpPr txBox="1"/>
          <p:nvPr/>
        </p:nvSpPr>
        <p:spPr>
          <a:xfrm>
            <a:off x="812800" y="711200"/>
            <a:ext cx="10566400" cy="228600"/>
          </a:xfrm>
          <a:prstGeom prst="rect">
            <a:avLst/>
          </a:prstGeom>
          <a:noFill/>
        </p:spPr>
        <p:txBody>
          <a:bodyPr wrap="square" anchor="t" lIns="0" rIns="0" tIns="0" bIns="0">
            <a:noAutofit/>
          </a:bodyPr>
          <a:lstStyle/>
          <a:p>
            <a:pPr algn="l">
              <a:lnSpc>
                <a:spcPct val="125000"/>
              </a:lnSpc>
            </a:pPr>
            <a:r>
              <a:rPr sz="1200" b="1" i="0" cap="all" spc="300">
                <a:solidFill>
                  <a:srgbClr val="007AB1"/>
                </a:solidFill>
                <a:latin typeface="Nunito Sans"/>
              </a:rPr>
              <a:t>Demo</a:t>
            </a:r>
          </a:p>
        </p:txBody>
      </p:sp>
      <p:sp>
        <p:nvSpPr>
          <p:cNvPr id="3" name="TextBox 2"/>
          <p:cNvSpPr txBox="1"/>
          <p:nvPr/>
        </p:nvSpPr>
        <p:spPr>
          <a:xfrm>
            <a:off x="812800" y="990600"/>
            <a:ext cx="10566400" cy="508000"/>
          </a:xfrm>
          <a:prstGeom prst="rect">
            <a:avLst/>
          </a:prstGeom>
          <a:noFill/>
        </p:spPr>
        <p:txBody>
          <a:bodyPr wrap="square" anchor="t" lIns="0" rIns="0" tIns="0" bIns="0">
            <a:noAutofit/>
          </a:bodyPr>
          <a:lstStyle/>
          <a:p>
            <a:pPr algn="l">
              <a:lnSpc>
                <a:spcPct val="105000"/>
              </a:lnSpc>
            </a:pPr>
            <a:r>
              <a:rPr sz="3600" b="1" i="0">
                <a:solidFill>
                  <a:srgbClr val="0D2A50"/>
                </a:solidFill>
                <a:latin typeface="Nunito Sans"/>
              </a:rPr>
              <a:t>Het script in drie minuten</a:t>
            </a:r>
          </a:p>
        </p:txBody>
      </p:sp>
      <p:graphicFrame>
        <p:nvGraphicFramePr>
          <p:cNvPr id="4" name="Table 3"/>
          <p:cNvGraphicFramePr>
            <a:graphicFrameLocks noGrp="1"/>
          </p:cNvGraphicFramePr>
          <p:nvPr/>
        </p:nvGraphicFramePr>
        <p:xfrm>
          <a:off x="812800" y="1727200"/>
          <a:ext cx="10566400" cy="4013200"/>
        </p:xfrm>
        <a:graphic>
          <a:graphicData uri="http://schemas.openxmlformats.org/drawingml/2006/table">
            <a:tbl>
              <a:tblPr firstRow="1" bandRow="1">
                <a:tableStyleId>{5C22544A-7EE6-4342-B048-85BDC9FD1C3A}</a:tableStyleId>
              </a:tblPr>
              <a:tblGrid>
                <a:gridCol w="1397000"/>
                <a:gridCol w="5080000"/>
                <a:gridCol w="4089400"/>
              </a:tblGrid>
              <a:tr h="355600">
                <a:tc>
                  <a:txBody>
                    <a:bodyPr wrap="square" anchor="ctr" lIns="0" rIns="0" tIns="0" bIns="0">
                      <a:noAutofit/>
                    </a:bodyPr>
                    <a:lstStyle/>
                    <a:p>
                      <a:pPr algn="l">
                        <a:lnSpc>
                          <a:spcPct val="115000"/>
                        </a:lnSpc>
                      </a:pPr>
                      <a:r>
                        <a:rPr sz="1200" b="1" i="0">
                          <a:solidFill>
                            <a:srgbClr val="FFFFFF"/>
                          </a:solidFill>
                          <a:latin typeface="Nunito Sans"/>
                        </a:rPr>
                        <a:t>Tijd</a:t>
                      </a:r>
                    </a:p>
                  </a:txBody>
                  <a:tcPr marL="114300" marR="114300" marT="63500" marB="63500" anchor="ctr">
                    <a:solidFill>
                      <a:srgbClr val="0D2A50"/>
                    </a:solidFill>
                  </a:tcPr>
                </a:tc>
                <a:tc>
                  <a:txBody>
                    <a:bodyPr wrap="square" anchor="ctr" lIns="0" rIns="0" tIns="0" bIns="0">
                      <a:noAutofit/>
                    </a:bodyPr>
                    <a:lstStyle/>
                    <a:p>
                      <a:pPr algn="l">
                        <a:lnSpc>
                          <a:spcPct val="115000"/>
                        </a:lnSpc>
                      </a:pPr>
                      <a:r>
                        <a:rPr sz="1200" b="1" i="0">
                          <a:solidFill>
                            <a:srgbClr val="FFFFFF"/>
                          </a:solidFill>
                          <a:latin typeface="Nunito Sans"/>
                        </a:rPr>
                        <a:t>Scène</a:t>
                      </a:r>
                    </a:p>
                  </a:txBody>
                  <a:tcPr marL="114300" marR="114300" marT="63500" marB="63500" anchor="ctr">
                    <a:solidFill>
                      <a:srgbClr val="0D2A50"/>
                    </a:solidFill>
                  </a:tcPr>
                </a:tc>
                <a:tc>
                  <a:txBody>
                    <a:bodyPr wrap="square" anchor="ctr" lIns="0" rIns="0" tIns="0" bIns="0">
                      <a:noAutofit/>
                    </a:bodyPr>
                    <a:lstStyle/>
                    <a:p>
                      <a:pPr algn="l">
                        <a:lnSpc>
                          <a:spcPct val="115000"/>
                        </a:lnSpc>
                      </a:pPr>
                      <a:r>
                        <a:rPr sz="1200" b="1" i="0">
                          <a:solidFill>
                            <a:srgbClr val="FFFFFF"/>
                          </a:solidFill>
                          <a:latin typeface="Nunito Sans"/>
                        </a:rPr>
                        <a:t>Wat we zeggen</a:t>
                      </a:r>
                    </a:p>
                  </a:txBody>
                  <a:tcPr marL="114300" marR="114300" marT="63500" marB="63500" anchor="ctr">
                    <a:solidFill>
                      <a:srgbClr val="0D2A50"/>
                    </a:solidFill>
                  </a:tcPr>
                </a:tc>
              </a:tr>
              <a:tr h="609600">
                <a:tc>
                  <a:txBody>
                    <a:bodyPr wrap="square" anchor="ctr" lIns="0" rIns="0" tIns="0" bIns="0">
                      <a:noAutofit/>
                    </a:bodyPr>
                    <a:lstStyle/>
                    <a:p>
                      <a:pPr algn="l">
                        <a:lnSpc>
                          <a:spcPct val="115000"/>
                        </a:lnSpc>
                      </a:pPr>
                      <a:r>
                        <a:rPr sz="1200" b="1" i="0">
                          <a:solidFill>
                            <a:srgbClr val="0D2A50"/>
                          </a:solidFill>
                          <a:latin typeface="Nunito Sans"/>
                        </a:rPr>
                        <a:t>0:00–0:20</a:t>
                      </a:r>
                    </a:p>
                  </a:txBody>
                  <a:tcPr marL="114300" marR="114300" marT="63500" marB="63500" anchor="ctr">
                    <a:solidFill>
                      <a:srgbClr val="FFFFFF"/>
                    </a:solidFill>
                  </a:tcPr>
                </a:tc>
                <a:tc>
                  <a:txBody>
                    <a:bodyPr wrap="square" anchor="ctr" lIns="0" rIns="0" tIns="0" bIns="0">
                      <a:noAutofit/>
                    </a:bodyPr>
                    <a:lstStyle/>
                    <a:p>
                      <a:pPr algn="l">
                        <a:lnSpc>
                          <a:spcPct val="115000"/>
                        </a:lnSpc>
                      </a:pPr>
                      <a:r>
                        <a:rPr sz="1200" b="0" i="0">
                          <a:solidFill>
                            <a:srgbClr val="0D2A50"/>
                          </a:solidFill>
                          <a:latin typeface="Nunito Sans"/>
                        </a:rPr>
                        <a:t>Een saldo-melding die te laat komt</a:t>
                      </a:r>
                    </a:p>
                  </a:txBody>
                  <a:tcPr marL="114300" marR="114300" marT="63500" marB="63500" anchor="ctr">
                    <a:solidFill>
                      <a:srgbClr val="FFFFFF"/>
                    </a:solidFill>
                  </a:tcPr>
                </a:tc>
                <a:tc>
                  <a:txBody>
                    <a:bodyPr wrap="square" anchor="ctr" lIns="0" rIns="0" tIns="0" bIns="0">
                      <a:noAutofit/>
                    </a:bodyPr>
                    <a:lstStyle/>
                    <a:p>
                      <a:pPr algn="l">
                        <a:lnSpc>
                          <a:spcPct val="115000"/>
                        </a:lnSpc>
                      </a:pPr>
                      <a:r>
                        <a:rPr sz="1200" b="0" i="0">
                          <a:solidFill>
                            <a:srgbClr val="0D2A50"/>
                          </a:solidFill>
                          <a:latin typeface="Nunito Sans"/>
                        </a:rPr>
                        <a:t>“Je bank vertelt je wat er gebeurd is. Wij vertellen je wat er komt.”</a:t>
                      </a:r>
                    </a:p>
                  </a:txBody>
                  <a:tcPr marL="114300" marR="114300" marT="63500" marB="63500" anchor="ctr">
                    <a:solidFill>
                      <a:srgbClr val="FFFFFF"/>
                    </a:solidFill>
                  </a:tcPr>
                </a:tc>
              </a:tr>
              <a:tr h="609600">
                <a:tc>
                  <a:txBody>
                    <a:bodyPr wrap="square" anchor="ctr" lIns="0" rIns="0" tIns="0" bIns="0">
                      <a:noAutofit/>
                    </a:bodyPr>
                    <a:lstStyle/>
                    <a:p>
                      <a:pPr algn="l">
                        <a:lnSpc>
                          <a:spcPct val="115000"/>
                        </a:lnSpc>
                      </a:pPr>
                      <a:r>
                        <a:rPr sz="1200" b="1" i="0">
                          <a:solidFill>
                            <a:srgbClr val="0D2A50"/>
                          </a:solidFill>
                          <a:latin typeface="Nunito Sans"/>
                        </a:rPr>
                        <a:t>0:20–1:05</a:t>
                      </a:r>
                    </a:p>
                  </a:txBody>
                  <a:tcPr marL="114300" marR="114300" marT="63500" marB="63500" anchor="ctr">
                    <a:solidFill>
                      <a:srgbClr val="EFF6FF"/>
                    </a:solidFill>
                  </a:tcPr>
                </a:tc>
                <a:tc>
                  <a:txBody>
                    <a:bodyPr wrap="square" anchor="ctr" lIns="0" rIns="0" tIns="0" bIns="0">
                      <a:noAutofit/>
                    </a:bodyPr>
                    <a:lstStyle/>
                    <a:p>
                      <a:pPr algn="l">
                        <a:lnSpc>
                          <a:spcPct val="115000"/>
                        </a:lnSpc>
                      </a:pPr>
                      <a:r>
                        <a:rPr sz="1200" b="0" i="0">
                          <a:solidFill>
                            <a:srgbClr val="0D2A50"/>
                          </a:solidFill>
                          <a:latin typeface="Nunito Sans"/>
                        </a:rPr>
                        <a:t>Lotte sleept “vrijdag uitgaan, €60” in: vrijdag donder, zondag zon, zaterdag de melding van Kate</a:t>
                      </a:r>
                    </a:p>
                  </a:txBody>
                  <a:tcPr marL="114300" marR="114300" marT="63500" marB="63500" anchor="ctr">
                    <a:solidFill>
                      <a:srgbClr val="EFF6FF"/>
                    </a:solidFill>
                  </a:tcPr>
                </a:tc>
                <a:tc>
                  <a:txBody>
                    <a:bodyPr wrap="square" anchor="ctr" lIns="0" rIns="0" tIns="0" bIns="0">
                      <a:noAutofit/>
                    </a:bodyPr>
                    <a:lstStyle/>
                    <a:p>
                      <a:pPr algn="l">
                        <a:lnSpc>
                          <a:spcPct val="115000"/>
                        </a:lnSpc>
                      </a:pPr>
                      <a:r>
                        <a:rPr sz="1200" b="0" i="0">
                          <a:solidFill>
                            <a:srgbClr val="0D2A50"/>
                          </a:solidFill>
                          <a:latin typeface="Nunito Sans"/>
                        </a:rPr>
                        <a:t>“Jij kiest het weer. En na donder komt zon.”</a:t>
                      </a:r>
                    </a:p>
                  </a:txBody>
                  <a:tcPr marL="114300" marR="114300" marT="63500" marB="63500" anchor="ctr">
                    <a:solidFill>
                      <a:srgbClr val="EFF6FF"/>
                    </a:solidFill>
                  </a:tcPr>
                </a:tc>
              </a:tr>
              <a:tr h="609600">
                <a:tc>
                  <a:txBody>
                    <a:bodyPr wrap="square" anchor="ctr" lIns="0" rIns="0" tIns="0" bIns="0">
                      <a:noAutofit/>
                    </a:bodyPr>
                    <a:lstStyle/>
                    <a:p>
                      <a:pPr algn="l">
                        <a:lnSpc>
                          <a:spcPct val="115000"/>
                        </a:lnSpc>
                      </a:pPr>
                      <a:r>
                        <a:rPr sz="1200" b="1" i="0">
                          <a:solidFill>
                            <a:srgbClr val="0D2A50"/>
                          </a:solidFill>
                          <a:latin typeface="Nunito Sans"/>
                        </a:rPr>
                        <a:t>1:05–1:45</a:t>
                      </a:r>
                    </a:p>
                  </a:txBody>
                  <a:tcPr marL="114300" marR="114300" marT="63500" marB="63500" anchor="ctr">
                    <a:solidFill>
                      <a:srgbClr val="FFFFFF"/>
                    </a:solidFill>
                  </a:tcPr>
                </a:tc>
                <a:tc>
                  <a:txBody>
                    <a:bodyPr wrap="square" anchor="ctr" lIns="0" rIns="0" tIns="0" bIns="0">
                      <a:noAutofit/>
                    </a:bodyPr>
                    <a:lstStyle/>
                    <a:p>
                      <a:pPr algn="l">
                        <a:lnSpc>
                          <a:spcPct val="115000"/>
                        </a:lnSpc>
                      </a:pPr>
                      <a:r>
                        <a:rPr sz="1200" b="0" i="0">
                          <a:solidFill>
                            <a:srgbClr val="0D2A50"/>
                          </a:solidFill>
                          <a:latin typeface="Nunito Sans"/>
                        </a:rPr>
                        <a:t>Peeters: kotbetaling, seizoen “Kind op kot”, storm in september, buffer en geschrapte polis</a:t>
                      </a:r>
                    </a:p>
                  </a:txBody>
                  <a:tcPr marL="114300" marR="114300" marT="63500" marB="63500" anchor="ctr">
                    <a:solidFill>
                      <a:srgbClr val="FFFFFF"/>
                    </a:solidFill>
                  </a:tcPr>
                </a:tc>
                <a:tc>
                  <a:txBody>
                    <a:bodyPr wrap="square" anchor="ctr" lIns="0" rIns="0" tIns="0" bIns="0">
                      <a:noAutofit/>
                    </a:bodyPr>
                    <a:lstStyle/>
                    <a:p>
                      <a:pPr algn="l">
                        <a:lnSpc>
                          <a:spcPct val="115000"/>
                        </a:lnSpc>
                      </a:pPr>
                      <a:r>
                        <a:rPr sz="1200" b="0" i="0">
                          <a:solidFill>
                            <a:srgbClr val="0D2A50"/>
                          </a:solidFill>
                          <a:latin typeface="Nunito Sans"/>
                        </a:rPr>
                        <a:t>“Kate kiest jou, ook als dat ons iets kost.”</a:t>
                      </a:r>
                    </a:p>
                  </a:txBody>
                  <a:tcPr marL="114300" marR="114300" marT="63500" marB="63500" anchor="ctr">
                    <a:solidFill>
                      <a:srgbClr val="FFFFFF"/>
                    </a:solidFill>
                  </a:tcPr>
                </a:tc>
              </a:tr>
              <a:tr h="609600">
                <a:tc>
                  <a:txBody>
                    <a:bodyPr wrap="square" anchor="ctr" lIns="0" rIns="0" tIns="0" bIns="0">
                      <a:noAutofit/>
                    </a:bodyPr>
                    <a:lstStyle/>
                    <a:p>
                      <a:pPr algn="l">
                        <a:lnSpc>
                          <a:spcPct val="115000"/>
                        </a:lnSpc>
                      </a:pPr>
                      <a:r>
                        <a:rPr sz="1200" b="1" i="0">
                          <a:solidFill>
                            <a:srgbClr val="0D2A50"/>
                          </a:solidFill>
                          <a:latin typeface="Nunito Sans"/>
                        </a:rPr>
                        <a:t>1:45–2:15</a:t>
                      </a:r>
                    </a:p>
                  </a:txBody>
                  <a:tcPr marL="114300" marR="114300" marT="63500" marB="63500" anchor="ctr">
                    <a:solidFill>
                      <a:srgbClr val="EFF6FF"/>
                    </a:solidFill>
                  </a:tcPr>
                </a:tc>
                <a:tc>
                  <a:txBody>
                    <a:bodyPr wrap="square" anchor="ctr" lIns="0" rIns="0" tIns="0" bIns="0">
                      <a:noAutofit/>
                    </a:bodyPr>
                    <a:lstStyle/>
                    <a:p>
                      <a:pPr algn="l">
                        <a:lnSpc>
                          <a:spcPct val="115000"/>
                        </a:lnSpc>
                      </a:pPr>
                      <a:r>
                        <a:rPr sz="1200" b="0" i="0">
                          <a:solidFill>
                            <a:srgbClr val="0D2A50"/>
                          </a:solidFill>
                          <a:latin typeface="Nunito Sans"/>
                        </a:rPr>
                        <a:t>Jos: onbekend IBAN na verdacht bericht, code rood, Kate belt</a:t>
                      </a:r>
                    </a:p>
                  </a:txBody>
                  <a:tcPr marL="114300" marR="114300" marT="63500" marB="63500" anchor="ctr">
                    <a:solidFill>
                      <a:srgbClr val="EFF6FF"/>
                    </a:solidFill>
                  </a:tcPr>
                </a:tc>
                <a:tc>
                  <a:txBody>
                    <a:bodyPr wrap="square" anchor="ctr" lIns="0" rIns="0" tIns="0" bIns="0">
                      <a:noAutofit/>
                    </a:bodyPr>
                    <a:lstStyle/>
                    <a:p>
                      <a:pPr algn="l">
                        <a:lnSpc>
                          <a:spcPct val="115000"/>
                        </a:lnSpc>
                      </a:pPr>
                      <a:r>
                        <a:rPr sz="1200" b="0" i="0">
                          <a:solidFill>
                            <a:srgbClr val="0D2A50"/>
                          </a:solidFill>
                          <a:latin typeface="Nunito Sans"/>
                        </a:rPr>
                        <a:t>“Soms betekent personaliseren: beschermen.”</a:t>
                      </a:r>
                    </a:p>
                  </a:txBody>
                  <a:tcPr marL="114300" marR="114300" marT="63500" marB="63500" anchor="ctr">
                    <a:solidFill>
                      <a:srgbClr val="EFF6FF"/>
                    </a:solidFill>
                  </a:tcPr>
                </a:tc>
              </a:tr>
              <a:tr h="609600">
                <a:tc>
                  <a:txBody>
                    <a:bodyPr wrap="square" anchor="ctr" lIns="0" rIns="0" tIns="0" bIns="0">
                      <a:noAutofit/>
                    </a:bodyPr>
                    <a:lstStyle/>
                    <a:p>
                      <a:pPr algn="l">
                        <a:lnSpc>
                          <a:spcPct val="115000"/>
                        </a:lnSpc>
                      </a:pPr>
                      <a:r>
                        <a:rPr sz="1200" b="1" i="0">
                          <a:solidFill>
                            <a:srgbClr val="0D2A50"/>
                          </a:solidFill>
                          <a:latin typeface="Nunito Sans"/>
                        </a:rPr>
                        <a:t>2:15–2:40</a:t>
                      </a:r>
                    </a:p>
                  </a:txBody>
                  <a:tcPr marL="114300" marR="114300" marT="63500" marB="63500" anchor="ctr">
                    <a:solidFill>
                      <a:srgbClr val="FFFFFF"/>
                    </a:solidFill>
                  </a:tcPr>
                </a:tc>
                <a:tc>
                  <a:txBody>
                    <a:bodyPr wrap="square" anchor="ctr" lIns="0" rIns="0" tIns="0" bIns="0">
                      <a:noAutofit/>
                    </a:bodyPr>
                    <a:lstStyle/>
                    <a:p>
                      <a:pPr algn="l">
                        <a:lnSpc>
                          <a:spcPct val="115000"/>
                        </a:lnSpc>
                      </a:pPr>
                      <a:r>
                        <a:rPr sz="1200" b="0" i="0">
                          <a:solidFill>
                            <a:srgbClr val="0D2A50"/>
                          </a:solidFill>
                          <a:latin typeface="Nunito Sans"/>
                        </a:rPr>
                        <a:t>Schaalteller met duizenden synthetische klanten, agent bevraagt de Weer-API</a:t>
                      </a:r>
                    </a:p>
                  </a:txBody>
                  <a:tcPr marL="114300" marR="114300" marT="63500" marB="63500" anchor="ctr">
                    <a:solidFill>
                      <a:srgbClr val="FFFFFF"/>
                    </a:solidFill>
                  </a:tcPr>
                </a:tc>
                <a:tc>
                  <a:txBody>
                    <a:bodyPr wrap="square" anchor="ctr" lIns="0" rIns="0" tIns="0" bIns="0">
                      <a:noAutofit/>
                    </a:bodyPr>
                    <a:lstStyle/>
                    <a:p>
                      <a:pPr algn="l">
                        <a:lnSpc>
                          <a:spcPct val="115000"/>
                        </a:lnSpc>
                      </a:pPr>
                      <a:r>
                        <a:rPr sz="1200" b="0" i="0">
                          <a:solidFill>
                            <a:srgbClr val="0D2A50"/>
                          </a:solidFill>
                          <a:latin typeface="Nunito Sans"/>
                        </a:rPr>
                        <a:t>“Dit werkt voor 2,3 miljoen klanten, en voor hun assistenten in 2030.”</a:t>
                      </a:r>
                    </a:p>
                  </a:txBody>
                  <a:tcPr marL="114300" marR="114300" marT="63500" marB="63500" anchor="ctr">
                    <a:solidFill>
                      <a:srgbClr val="FFFFFF"/>
                    </a:solidFill>
                  </a:tcPr>
                </a:tc>
              </a:tr>
              <a:tr h="609600">
                <a:tc>
                  <a:txBody>
                    <a:bodyPr wrap="square" anchor="ctr" lIns="0" rIns="0" tIns="0" bIns="0">
                      <a:noAutofit/>
                    </a:bodyPr>
                    <a:lstStyle/>
                    <a:p>
                      <a:pPr algn="l">
                        <a:lnSpc>
                          <a:spcPct val="115000"/>
                        </a:lnSpc>
                      </a:pPr>
                      <a:r>
                        <a:rPr sz="1200" b="1" i="0">
                          <a:solidFill>
                            <a:srgbClr val="0D2A50"/>
                          </a:solidFill>
                          <a:latin typeface="Nunito Sans"/>
                        </a:rPr>
                        <a:t>2:40–3:00</a:t>
                      </a:r>
                    </a:p>
                  </a:txBody>
                  <a:tcPr marL="114300" marR="114300" marT="63500" marB="63500" anchor="ctr">
                    <a:solidFill>
                      <a:srgbClr val="EFF6FF"/>
                    </a:solidFill>
                  </a:tcPr>
                </a:tc>
                <a:tc>
                  <a:txBody>
                    <a:bodyPr wrap="square" anchor="ctr" lIns="0" rIns="0" tIns="0" bIns="0">
                      <a:noAutofit/>
                    </a:bodyPr>
                    <a:lstStyle/>
                    <a:p>
                      <a:pPr algn="l">
                        <a:lnSpc>
                          <a:spcPct val="115000"/>
                        </a:lnSpc>
                      </a:pPr>
                      <a:r>
                        <a:rPr sz="1200" b="0" i="0">
                          <a:solidFill>
                            <a:srgbClr val="0D2A50"/>
                          </a:solidFill>
                          <a:latin typeface="Nunito Sans"/>
                        </a:rPr>
                        <a:t>Toekomst-jij spreekt Lotte toe, slot met de tagline</a:t>
                      </a:r>
                    </a:p>
                  </a:txBody>
                  <a:tcPr marL="114300" marR="114300" marT="63500" marB="63500" anchor="ctr">
                    <a:solidFill>
                      <a:srgbClr val="EFF6FF"/>
                    </a:solidFill>
                  </a:tcPr>
                </a:tc>
                <a:tc>
                  <a:txBody>
                    <a:bodyPr wrap="square" anchor="ctr" lIns="0" rIns="0" tIns="0" bIns="0">
                      <a:noAutofit/>
                    </a:bodyPr>
                    <a:lstStyle/>
                    <a:p>
                      <a:pPr algn="l">
                        <a:lnSpc>
                          <a:spcPct val="115000"/>
                        </a:lnSpc>
                      </a:pPr>
                      <a:r>
                        <a:rPr sz="1200" b="0" i="0">
                          <a:solidFill>
                            <a:srgbClr val="0D2A50"/>
                          </a:solidFill>
                          <a:latin typeface="Nunito Sans"/>
                        </a:rPr>
                        <a:t>“KBC Weerbericht. Jij kiest het weer.”</a:t>
                      </a:r>
                    </a:p>
                  </a:txBody>
                  <a:tcPr marL="114300" marR="114300" marT="63500" marB="63500" anchor="ctr">
                    <a:solidFill>
                      <a:srgbClr val="EFF6FF"/>
                    </a:solidFill>
                  </a:tcPr>
                </a:tc>
              </a:tr>
            </a:tbl>
          </a:graphicData>
        </a:graphic>
      </p:graphicFrame>
      <p:sp>
        <p:nvSpPr>
          <p:cNvPr id="5" name="TextBox 4"/>
          <p:cNvSpPr txBox="1"/>
          <p:nvPr/>
        </p:nvSpPr>
        <p:spPr>
          <a:xfrm>
            <a:off x="812800" y="6350000"/>
            <a:ext cx="8890000" cy="215900"/>
          </a:xfrm>
          <a:prstGeom prst="rect">
            <a:avLst/>
          </a:prstGeom>
          <a:noFill/>
        </p:spPr>
        <p:txBody>
          <a:bodyPr wrap="square" anchor="t" lIns="0" rIns="0" tIns="0" bIns="0">
            <a:noAutofit/>
          </a:bodyPr>
          <a:lstStyle/>
          <a:p>
            <a:pPr algn="l">
              <a:lnSpc>
                <a:spcPct val="125000"/>
              </a:lnSpc>
            </a:pPr>
            <a:r>
              <a:rPr sz="1100" b="0" i="0">
                <a:solidFill>
                  <a:srgbClr val="45658F"/>
                </a:solidFill>
                <a:latin typeface="Nunito Sans"/>
              </a:rPr>
              <a:t>KBC Weerbericht · Jij kiest het weer · Team Trojan Horse</a:t>
            </a:r>
          </a:p>
        </p:txBody>
      </p:sp>
      <p:sp>
        <p:nvSpPr>
          <p:cNvPr id="6" name="TextBox 5"/>
          <p:cNvSpPr txBox="1"/>
          <p:nvPr/>
        </p:nvSpPr>
        <p:spPr>
          <a:xfrm>
            <a:off x="10109200" y="6350000"/>
            <a:ext cx="1270000" cy="215900"/>
          </a:xfrm>
          <a:prstGeom prst="rect">
            <a:avLst/>
          </a:prstGeom>
          <a:noFill/>
        </p:spPr>
        <p:txBody>
          <a:bodyPr wrap="square" anchor="t" lIns="0" rIns="0" tIns="0" bIns="0">
            <a:noAutofit/>
          </a:bodyPr>
          <a:lstStyle/>
          <a:p>
            <a:pPr algn="r">
              <a:lnSpc>
                <a:spcPct val="125000"/>
              </a:lnSpc>
            </a:pPr>
            <a:r>
              <a:rPr sz="1100" b="0" i="0">
                <a:solidFill>
                  <a:srgbClr val="45658F"/>
                </a:solidFill>
                <a:latin typeface="Nunito Sans"/>
              </a:rPr>
              <a:t>20 / 23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4" fill="hold">
                            <p:stCondLst>
                              <p:cond delay="0"/>
                            </p:stCondLst>
                            <p:childTnLst>
                              <p:par>
                                <p:cTn id="4" presetID="42"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ppt_y+.08"/>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p:cTn id="12" dur="500" fill="hold"/>
                                        <p:tgtEl>
                                          <p:spTgt spid="3"/>
                                        </p:tgtEl>
                                        <p:attrNameLst>
                                          <p:attrName>ppt_x</p:attrName>
                                        </p:attrNameLst>
                                      </p:cBhvr>
                                      <p:tavLst>
                                        <p:tav tm="0">
                                          <p:val>
                                            <p:strVal val="#ppt_x"/>
                                          </p:val>
                                        </p:tav>
                                        <p:tav tm="100000">
                                          <p:val>
                                            <p:strVal val="#ppt_x"/>
                                          </p:val>
                                        </p:tav>
                                      </p:tavLst>
                                    </p:anim>
                                    <p:anim calcmode="lin" valueType="num">
                                      <p:cBhvr>
                                        <p:cTn id="13" dur="500" fill="hold"/>
                                        <p:tgtEl>
                                          <p:spTgt spid="3"/>
                                        </p:tgtEl>
                                        <p:attrNameLst>
                                          <p:attrName>ppt_y</p:attrName>
                                        </p:attrNameLst>
                                      </p:cBhvr>
                                      <p:tavLst>
                                        <p:tav tm="0">
                                          <p:val>
                                            <p:strVal val="#ppt_y+.08"/>
                                          </p:val>
                                        </p:tav>
                                        <p:tav tm="100000">
                                          <p:val>
                                            <p:strVal val="#ppt_y"/>
                                          </p:val>
                                        </p:tav>
                                      </p:tavLst>
                                    </p:anim>
                                  </p:childTnLst>
                                </p:cTn>
                              </p:par>
                            </p:childTnLst>
                          </p:cTn>
                        </p:par>
                        <p:par>
                          <p:cTn id="18" fill="hold">
                            <p:stCondLst>
                              <p:cond delay="350"/>
                            </p:stCondLst>
                            <p:childTnLst>
                              <p:par>
                                <p:cTn id="15" presetID="10" presetClass="entr" presetSubtype="0"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FF6FF"/>
        </a:solidFill>
        <a:effectLst/>
      </p:bgPr>
    </p:bg>
    <p:spTree>
      <p:nvGrpSpPr>
        <p:cNvPr id="1" name=""/>
        <p:cNvGrpSpPr/>
        <p:nvPr/>
      </p:nvGrpSpPr>
      <p:grpSpPr/>
      <p:sp>
        <p:nvSpPr>
          <p:cNvPr id="2" name="TextBox 1"/>
          <p:cNvSpPr txBox="1"/>
          <p:nvPr/>
        </p:nvSpPr>
        <p:spPr>
          <a:xfrm>
            <a:off x="812800" y="711200"/>
            <a:ext cx="10566400" cy="228600"/>
          </a:xfrm>
          <a:prstGeom prst="rect">
            <a:avLst/>
          </a:prstGeom>
          <a:noFill/>
        </p:spPr>
        <p:txBody>
          <a:bodyPr wrap="square" anchor="t" lIns="0" rIns="0" tIns="0" bIns="0">
            <a:noAutofit/>
          </a:bodyPr>
          <a:lstStyle/>
          <a:p>
            <a:pPr algn="l">
              <a:lnSpc>
                <a:spcPct val="125000"/>
              </a:lnSpc>
            </a:pPr>
            <a:r>
              <a:rPr sz="1200" b="1" i="0" cap="all" spc="300">
                <a:solidFill>
                  <a:srgbClr val="007AB1"/>
                </a:solidFill>
                <a:latin typeface="Nunito Sans"/>
              </a:rPr>
              <a:t>Scope</a:t>
            </a:r>
          </a:p>
        </p:txBody>
      </p:sp>
      <p:sp>
        <p:nvSpPr>
          <p:cNvPr id="3" name="TextBox 2"/>
          <p:cNvSpPr txBox="1"/>
          <p:nvPr/>
        </p:nvSpPr>
        <p:spPr>
          <a:xfrm>
            <a:off x="812800" y="990600"/>
            <a:ext cx="10566400" cy="508000"/>
          </a:xfrm>
          <a:prstGeom prst="rect">
            <a:avLst/>
          </a:prstGeom>
          <a:noFill/>
        </p:spPr>
        <p:txBody>
          <a:bodyPr wrap="square" anchor="t" lIns="0" rIns="0" tIns="0" bIns="0">
            <a:noAutofit/>
          </a:bodyPr>
          <a:lstStyle/>
          <a:p>
            <a:pPr algn="l">
              <a:lnSpc>
                <a:spcPct val="105000"/>
              </a:lnSpc>
            </a:pPr>
            <a:r>
              <a:rPr sz="3600" b="1" i="0">
                <a:solidFill>
                  <a:srgbClr val="0D2A50"/>
                </a:solidFill>
                <a:latin typeface="Nunito Sans"/>
              </a:rPr>
              <a:t>Wat we vanavond bouwen, wat we pitchen</a:t>
            </a:r>
          </a:p>
        </p:txBody>
      </p:sp>
      <p:graphicFrame>
        <p:nvGraphicFramePr>
          <p:cNvPr id="4" name="Table 3"/>
          <p:cNvGraphicFramePr>
            <a:graphicFrameLocks noGrp="1"/>
          </p:cNvGraphicFramePr>
          <p:nvPr/>
        </p:nvGraphicFramePr>
        <p:xfrm>
          <a:off x="812800" y="1727200"/>
          <a:ext cx="10566400" cy="3911600"/>
        </p:xfrm>
        <a:graphic>
          <a:graphicData uri="http://schemas.openxmlformats.org/drawingml/2006/table">
            <a:tbl>
              <a:tblPr firstRow="1" bandRow="1">
                <a:tableStyleId>{5C22544A-7EE6-4342-B048-85BDC9FD1C3A}</a:tableStyleId>
              </a:tblPr>
              <a:tblGrid>
                <a:gridCol w="6756400"/>
                <a:gridCol w="3810000"/>
              </a:tblGrid>
              <a:tr h="355600">
                <a:tc>
                  <a:txBody>
                    <a:bodyPr wrap="square" anchor="ctr" lIns="0" rIns="0" tIns="0" bIns="0">
                      <a:noAutofit/>
                    </a:bodyPr>
                    <a:lstStyle/>
                    <a:p>
                      <a:pPr algn="l">
                        <a:lnSpc>
                          <a:spcPct val="115000"/>
                        </a:lnSpc>
                      </a:pPr>
                      <a:r>
                        <a:rPr sz="1200" b="1" i="0">
                          <a:solidFill>
                            <a:srgbClr val="FFFFFF"/>
                          </a:solidFill>
                          <a:latin typeface="Nunito Sans"/>
                        </a:rPr>
                        <a:t>Onderdeel</a:t>
                      </a:r>
                    </a:p>
                  </a:txBody>
                  <a:tcPr marL="114300" marR="114300" marT="63500" marB="63500" anchor="ctr">
                    <a:solidFill>
                      <a:srgbClr val="0D2A50"/>
                    </a:solidFill>
                  </a:tcPr>
                </a:tc>
                <a:tc>
                  <a:txBody>
                    <a:bodyPr wrap="square" anchor="ctr" lIns="0" rIns="0" tIns="0" bIns="0">
                      <a:noAutofit/>
                    </a:bodyPr>
                    <a:lstStyle/>
                    <a:p>
                      <a:pPr algn="l">
                        <a:lnSpc>
                          <a:spcPct val="115000"/>
                        </a:lnSpc>
                      </a:pPr>
                      <a:r>
                        <a:rPr sz="1200" b="1" i="0">
                          <a:solidFill>
                            <a:srgbClr val="FFFFFF"/>
                          </a:solidFill>
                          <a:latin typeface="Nunito Sans"/>
                        </a:rPr>
                        <a:t>Status vanavond</a:t>
                      </a:r>
                    </a:p>
                  </a:txBody>
                  <a:tcPr marL="114300" marR="114300" marT="63500" marB="63500" anchor="ctr">
                    <a:solidFill>
                      <a:srgbClr val="0D2A50"/>
                    </a:solidFill>
                  </a:tcPr>
                </a:tc>
              </a:tr>
              <a:tr h="355600">
                <a:tc>
                  <a:txBody>
                    <a:bodyPr wrap="square" anchor="ctr" lIns="0" rIns="0" tIns="0" bIns="0">
                      <a:noAutofit/>
                    </a:bodyPr>
                    <a:lstStyle/>
                    <a:p>
                      <a:pPr algn="l">
                        <a:lnSpc>
                          <a:spcPct val="115000"/>
                        </a:lnSpc>
                      </a:pPr>
                      <a:r>
                        <a:rPr sz="1200" b="0" i="0">
                          <a:solidFill>
                            <a:srgbClr val="0D2A50"/>
                          </a:solidFill>
                          <a:latin typeface="Nunito Sans"/>
                        </a:rPr>
                        <a:t>Synthetische klanten: 3 persona's + bulk voor de schaalteller</a:t>
                      </a:r>
                    </a:p>
                  </a:txBody>
                  <a:tcPr marL="114300" marR="114300" marT="63500" marB="63500" anchor="ctr">
                    <a:solidFill>
                      <a:srgbClr val="FFFFFF"/>
                    </a:solidFill>
                  </a:tcPr>
                </a:tc>
                <a:tc>
                  <a:txBody>
                    <a:bodyPr wrap="square" anchor="ctr" lIns="0" rIns="0" tIns="0" bIns="0">
                      <a:noAutofit/>
                    </a:bodyPr>
                    <a:lstStyle/>
                    <a:p>
                      <a:pPr algn="l">
                        <a:lnSpc>
                          <a:spcPct val="115000"/>
                        </a:lnSpc>
                      </a:pPr>
                      <a:r>
                        <a:rPr sz="1200" b="0" i="0">
                          <a:solidFill>
                            <a:srgbClr val="007AB1"/>
                          </a:solidFill>
                          <a:latin typeface="Nunito Sans"/>
                        </a:rPr>
                        <a:t>Bouwen</a:t>
                      </a:r>
                    </a:p>
                  </a:txBody>
                  <a:tcPr marL="114300" marR="114300" marT="63500" marB="63500" anchor="ctr">
                    <a:solidFill>
                      <a:srgbClr val="FFFFFF"/>
                    </a:solidFill>
                  </a:tcPr>
                </a:tc>
              </a:tr>
              <a:tr h="355600">
                <a:tc>
                  <a:txBody>
                    <a:bodyPr wrap="square" anchor="ctr" lIns="0" rIns="0" tIns="0" bIns="0">
                      <a:noAutofit/>
                    </a:bodyPr>
                    <a:lstStyle/>
                    <a:p>
                      <a:pPr algn="l">
                        <a:lnSpc>
                          <a:spcPct val="115000"/>
                        </a:lnSpc>
                      </a:pPr>
                      <a:r>
                        <a:rPr sz="1200" b="0" i="0">
                          <a:solidFill>
                            <a:srgbClr val="0D2A50"/>
                          </a:solidFill>
                          <a:latin typeface="Nunito Sans"/>
                        </a:rPr>
                        <a:t>Weervoorspelling per dag (14 dagen) uit transacties</a:t>
                      </a:r>
                    </a:p>
                  </a:txBody>
                  <a:tcPr marL="114300" marR="114300" marT="63500" marB="63500" anchor="ctr">
                    <a:solidFill>
                      <a:srgbClr val="EFF6FF"/>
                    </a:solidFill>
                  </a:tcPr>
                </a:tc>
                <a:tc>
                  <a:txBody>
                    <a:bodyPr wrap="square" anchor="ctr" lIns="0" rIns="0" tIns="0" bIns="0">
                      <a:noAutofit/>
                    </a:bodyPr>
                    <a:lstStyle/>
                    <a:p>
                      <a:pPr algn="l">
                        <a:lnSpc>
                          <a:spcPct val="115000"/>
                        </a:lnSpc>
                      </a:pPr>
                      <a:r>
                        <a:rPr sz="1200" b="0" i="0">
                          <a:solidFill>
                            <a:srgbClr val="007AB1"/>
                          </a:solidFill>
                          <a:latin typeface="Nunito Sans"/>
                        </a:rPr>
                        <a:t>Bouwen</a:t>
                      </a:r>
                    </a:p>
                  </a:txBody>
                  <a:tcPr marL="114300" marR="114300" marT="63500" marB="63500" anchor="ctr">
                    <a:solidFill>
                      <a:srgbClr val="EFF6FF"/>
                    </a:solidFill>
                  </a:tcPr>
                </a:tc>
              </a:tr>
              <a:tr h="355600">
                <a:tc>
                  <a:txBody>
                    <a:bodyPr wrap="square" anchor="ctr" lIns="0" rIns="0" tIns="0" bIns="0">
                      <a:noAutofit/>
                    </a:bodyPr>
                    <a:lstStyle/>
                    <a:p>
                      <a:pPr algn="l">
                        <a:lnSpc>
                          <a:spcPct val="115000"/>
                        </a:lnSpc>
                      </a:pPr>
                      <a:r>
                        <a:rPr sz="1200" b="0" i="0">
                          <a:solidFill>
                            <a:srgbClr val="0D2A50"/>
                          </a:solidFill>
                          <a:latin typeface="Nunito Sans"/>
                        </a:rPr>
                        <a:t>Jij kiest het weer: scenario's passen de voorspelling live aan</a:t>
                      </a:r>
                    </a:p>
                  </a:txBody>
                  <a:tcPr marL="114300" marR="114300" marT="63500" marB="63500" anchor="ctr">
                    <a:solidFill>
                      <a:srgbClr val="FFFFFF"/>
                    </a:solidFill>
                  </a:tcPr>
                </a:tc>
                <a:tc>
                  <a:txBody>
                    <a:bodyPr wrap="square" anchor="ctr" lIns="0" rIns="0" tIns="0" bIns="0">
                      <a:noAutofit/>
                    </a:bodyPr>
                    <a:lstStyle/>
                    <a:p>
                      <a:pPr algn="l">
                        <a:lnSpc>
                          <a:spcPct val="115000"/>
                        </a:lnSpc>
                      </a:pPr>
                      <a:r>
                        <a:rPr sz="1200" b="0" i="0">
                          <a:solidFill>
                            <a:srgbClr val="007AB1"/>
                          </a:solidFill>
                          <a:latin typeface="Nunito Sans"/>
                        </a:rPr>
                        <a:t>Bouwen</a:t>
                      </a:r>
                    </a:p>
                  </a:txBody>
                  <a:tcPr marL="114300" marR="114300" marT="63500" marB="63500" anchor="ctr">
                    <a:solidFill>
                      <a:srgbClr val="FFFFFF"/>
                    </a:solidFill>
                  </a:tcPr>
                </a:tc>
              </a:tr>
              <a:tr h="355600">
                <a:tc>
                  <a:txBody>
                    <a:bodyPr wrap="square" anchor="ctr" lIns="0" rIns="0" tIns="0" bIns="0">
                      <a:noAutofit/>
                    </a:bodyPr>
                    <a:lstStyle/>
                    <a:p>
                      <a:pPr algn="l">
                        <a:lnSpc>
                          <a:spcPct val="115000"/>
                        </a:lnSpc>
                      </a:pPr>
                      <a:r>
                        <a:rPr sz="1200" b="0" i="0">
                          <a:solidFill>
                            <a:srgbClr val="0D2A50"/>
                          </a:solidFill>
                          <a:latin typeface="Nunito Sans"/>
                        </a:rPr>
                        <a:t>Momentdetectie: kind op kot, fraudesignaal</a:t>
                      </a:r>
                    </a:p>
                  </a:txBody>
                  <a:tcPr marL="114300" marR="114300" marT="63500" marB="63500" anchor="ctr">
                    <a:solidFill>
                      <a:srgbClr val="EFF6FF"/>
                    </a:solidFill>
                  </a:tcPr>
                </a:tc>
                <a:tc>
                  <a:txBody>
                    <a:bodyPr wrap="square" anchor="ctr" lIns="0" rIns="0" tIns="0" bIns="0">
                      <a:noAutofit/>
                    </a:bodyPr>
                    <a:lstStyle/>
                    <a:p>
                      <a:pPr algn="l">
                        <a:lnSpc>
                          <a:spcPct val="115000"/>
                        </a:lnSpc>
                      </a:pPr>
                      <a:r>
                        <a:rPr sz="1200" b="0" i="0">
                          <a:solidFill>
                            <a:srgbClr val="007AB1"/>
                          </a:solidFill>
                          <a:latin typeface="Nunito Sans"/>
                        </a:rPr>
                        <a:t>Bouwen, regelgebaseerd</a:t>
                      </a:r>
                    </a:p>
                  </a:txBody>
                  <a:tcPr marL="114300" marR="114300" marT="63500" marB="63500" anchor="ctr">
                    <a:solidFill>
                      <a:srgbClr val="EFF6FF"/>
                    </a:solidFill>
                  </a:tcPr>
                </a:tc>
              </a:tr>
              <a:tr h="355600">
                <a:tc>
                  <a:txBody>
                    <a:bodyPr wrap="square" anchor="ctr" lIns="0" rIns="0" tIns="0" bIns="0">
                      <a:noAutofit/>
                    </a:bodyPr>
                    <a:lstStyle/>
                    <a:p>
                      <a:pPr algn="l">
                        <a:lnSpc>
                          <a:spcPct val="115000"/>
                        </a:lnSpc>
                      </a:pPr>
                      <a:r>
                        <a:rPr sz="1200" b="0" i="0">
                          <a:solidFill>
                            <a:srgbClr val="0D2A50"/>
                          </a:solidFill>
                          <a:latin typeface="Nunito Sans"/>
                        </a:rPr>
                        <a:t>Kate-meldingen in gewone taal via Gemini</a:t>
                      </a:r>
                    </a:p>
                  </a:txBody>
                  <a:tcPr marL="114300" marR="114300" marT="63500" marB="63500" anchor="ctr">
                    <a:solidFill>
                      <a:srgbClr val="FFFFFF"/>
                    </a:solidFill>
                  </a:tcPr>
                </a:tc>
                <a:tc>
                  <a:txBody>
                    <a:bodyPr wrap="square" anchor="ctr" lIns="0" rIns="0" tIns="0" bIns="0">
                      <a:noAutofit/>
                    </a:bodyPr>
                    <a:lstStyle/>
                    <a:p>
                      <a:pPr algn="l">
                        <a:lnSpc>
                          <a:spcPct val="115000"/>
                        </a:lnSpc>
                      </a:pPr>
                      <a:r>
                        <a:rPr sz="1200" b="0" i="0">
                          <a:solidFill>
                            <a:srgbClr val="007AB1"/>
                          </a:solidFill>
                          <a:latin typeface="Nunito Sans"/>
                        </a:rPr>
                        <a:t>Bouwen</a:t>
                      </a:r>
                    </a:p>
                  </a:txBody>
                  <a:tcPr marL="114300" marR="114300" marT="63500" marB="63500" anchor="ctr">
                    <a:solidFill>
                      <a:srgbClr val="FFFFFF"/>
                    </a:solidFill>
                  </a:tcPr>
                </a:tc>
              </a:tr>
              <a:tr h="355600">
                <a:tc>
                  <a:txBody>
                    <a:bodyPr wrap="square" anchor="ctr" lIns="0" rIns="0" tIns="0" bIns="0">
                      <a:noAutofit/>
                    </a:bodyPr>
                    <a:lstStyle/>
                    <a:p>
                      <a:pPr algn="l">
                        <a:lnSpc>
                          <a:spcPct val="115000"/>
                        </a:lnSpc>
                      </a:pPr>
                      <a:r>
                        <a:rPr sz="1200" b="0" i="0">
                          <a:solidFill>
                            <a:srgbClr val="0D2A50"/>
                          </a:solidFill>
                          <a:latin typeface="Nunito Sans"/>
                        </a:rPr>
                        <a:t>Kate raadt eigen product af (Peeters)</a:t>
                      </a:r>
                    </a:p>
                  </a:txBody>
                  <a:tcPr marL="114300" marR="114300" marT="63500" marB="63500" anchor="ctr">
                    <a:solidFill>
                      <a:srgbClr val="EFF6FF"/>
                    </a:solidFill>
                  </a:tcPr>
                </a:tc>
                <a:tc>
                  <a:txBody>
                    <a:bodyPr wrap="square" anchor="ctr" lIns="0" rIns="0" tIns="0" bIns="0">
                      <a:noAutofit/>
                    </a:bodyPr>
                    <a:lstStyle/>
                    <a:p>
                      <a:pPr algn="l">
                        <a:lnSpc>
                          <a:spcPct val="115000"/>
                        </a:lnSpc>
                      </a:pPr>
                      <a:r>
                        <a:rPr sz="1200" b="0" i="0">
                          <a:solidFill>
                            <a:srgbClr val="007AB1"/>
                          </a:solidFill>
                          <a:latin typeface="Nunito Sans"/>
                        </a:rPr>
                        <a:t>Bouwen, vaste regel in playbook</a:t>
                      </a:r>
                    </a:p>
                  </a:txBody>
                  <a:tcPr marL="114300" marR="114300" marT="63500" marB="63500" anchor="ctr">
                    <a:solidFill>
                      <a:srgbClr val="EFF6FF"/>
                    </a:solidFill>
                  </a:tcPr>
                </a:tc>
              </a:tr>
              <a:tr h="355600">
                <a:tc>
                  <a:txBody>
                    <a:bodyPr wrap="square" anchor="ctr" lIns="0" rIns="0" tIns="0" bIns="0">
                      <a:noAutofit/>
                    </a:bodyPr>
                    <a:lstStyle/>
                    <a:p>
                      <a:pPr algn="l">
                        <a:lnSpc>
                          <a:spcPct val="115000"/>
                        </a:lnSpc>
                      </a:pPr>
                      <a:r>
                        <a:rPr sz="1200" b="0" i="0">
                          <a:solidFill>
                            <a:srgbClr val="0D2A50"/>
                          </a:solidFill>
                          <a:latin typeface="Nunito Sans"/>
                        </a:rPr>
                        <a:t>Code rood met stem via ElevenLabs</a:t>
                      </a:r>
                    </a:p>
                  </a:txBody>
                  <a:tcPr marL="114300" marR="114300" marT="63500" marB="63500" anchor="ctr">
                    <a:solidFill>
                      <a:srgbClr val="FFFFFF"/>
                    </a:solidFill>
                  </a:tcPr>
                </a:tc>
                <a:tc>
                  <a:txBody>
                    <a:bodyPr wrap="square" anchor="ctr" lIns="0" rIns="0" tIns="0" bIns="0">
                      <a:noAutofit/>
                    </a:bodyPr>
                    <a:lstStyle/>
                    <a:p>
                      <a:pPr algn="l">
                        <a:lnSpc>
                          <a:spcPct val="115000"/>
                        </a:lnSpc>
                      </a:pPr>
                      <a:r>
                        <a:rPr sz="1200" b="0" i="0">
                          <a:solidFill>
                            <a:srgbClr val="007AB1"/>
                          </a:solidFill>
                          <a:latin typeface="Nunito Sans"/>
                        </a:rPr>
                        <a:t>Bouwen als het past</a:t>
                      </a:r>
                    </a:p>
                  </a:txBody>
                  <a:tcPr marL="114300" marR="114300" marT="63500" marB="63500" anchor="ctr">
                    <a:solidFill>
                      <a:srgbClr val="FFFFFF"/>
                    </a:solidFill>
                  </a:tcPr>
                </a:tc>
              </a:tr>
              <a:tr h="355600">
                <a:tc>
                  <a:txBody>
                    <a:bodyPr wrap="square" anchor="ctr" lIns="0" rIns="0" tIns="0" bIns="0">
                      <a:noAutofit/>
                    </a:bodyPr>
                    <a:lstStyle/>
                    <a:p>
                      <a:pPr algn="l">
                        <a:lnSpc>
                          <a:spcPct val="115000"/>
                        </a:lnSpc>
                      </a:pPr>
                      <a:r>
                        <a:rPr sz="1200" b="0" i="0">
                          <a:solidFill>
                            <a:srgbClr val="0D2A50"/>
                          </a:solidFill>
                          <a:latin typeface="Nunito Sans"/>
                        </a:rPr>
                        <a:t>Toekomst-jij</a:t>
                      </a:r>
                    </a:p>
                  </a:txBody>
                  <a:tcPr marL="114300" marR="114300" marT="63500" marB="63500" anchor="ctr">
                    <a:solidFill>
                      <a:srgbClr val="EFF6FF"/>
                    </a:solidFill>
                  </a:tcPr>
                </a:tc>
                <a:tc>
                  <a:txBody>
                    <a:bodyPr wrap="square" anchor="ctr" lIns="0" rIns="0" tIns="0" bIns="0">
                      <a:noAutofit/>
                    </a:bodyPr>
                    <a:lstStyle/>
                    <a:p>
                      <a:pPr algn="l">
                        <a:lnSpc>
                          <a:spcPct val="115000"/>
                        </a:lnSpc>
                      </a:pPr>
                      <a:r>
                        <a:rPr sz="1200" b="0" i="0">
                          <a:solidFill>
                            <a:srgbClr val="007AB1"/>
                          </a:solidFill>
                          <a:latin typeface="Nunito Sans"/>
                        </a:rPr>
                        <a:t>Bonus: één audiofragment</a:t>
                      </a:r>
                    </a:p>
                  </a:txBody>
                  <a:tcPr marL="114300" marR="114300" marT="63500" marB="63500" anchor="ctr">
                    <a:solidFill>
                      <a:srgbClr val="EFF6FF"/>
                    </a:solidFill>
                  </a:tcPr>
                </a:tc>
              </a:tr>
              <a:tr h="355600">
                <a:tc>
                  <a:txBody>
                    <a:bodyPr wrap="square" anchor="ctr" lIns="0" rIns="0" tIns="0" bIns="0">
                      <a:noAutofit/>
                    </a:bodyPr>
                    <a:lstStyle/>
                    <a:p>
                      <a:pPr algn="l">
                        <a:lnSpc>
                          <a:spcPct val="115000"/>
                        </a:lnSpc>
                      </a:pPr>
                      <a:r>
                        <a:rPr sz="1200" b="0" i="0">
                          <a:solidFill>
                            <a:srgbClr val="0D2A50"/>
                          </a:solidFill>
                          <a:latin typeface="Nunito Sans"/>
                        </a:rPr>
                        <a:t>Weer-API voor agents</a:t>
                      </a:r>
                    </a:p>
                  </a:txBody>
                  <a:tcPr marL="114300" marR="114300" marT="63500" marB="63500" anchor="ctr">
                    <a:solidFill>
                      <a:srgbClr val="FFFFFF"/>
                    </a:solidFill>
                  </a:tcPr>
                </a:tc>
                <a:tc>
                  <a:txBody>
                    <a:bodyPr wrap="square" anchor="ctr" lIns="0" rIns="0" tIns="0" bIns="0">
                      <a:noAutofit/>
                    </a:bodyPr>
                    <a:lstStyle/>
                    <a:p>
                      <a:pPr algn="l">
                        <a:lnSpc>
                          <a:spcPct val="115000"/>
                        </a:lnSpc>
                      </a:pPr>
                      <a:r>
                        <a:rPr sz="1200" b="0" i="0">
                          <a:solidFill>
                            <a:srgbClr val="007AB1"/>
                          </a:solidFill>
                          <a:latin typeface="Nunito Sans"/>
                        </a:rPr>
                        <a:t>Eén endpoint in de demo</a:t>
                      </a:r>
                    </a:p>
                  </a:txBody>
                  <a:tcPr marL="114300" marR="114300" marT="63500" marB="63500" anchor="ctr">
                    <a:solidFill>
                      <a:srgbClr val="FFFFFF"/>
                    </a:solidFill>
                  </a:tcPr>
                </a:tc>
              </a:tr>
              <a:tr h="355600">
                <a:tc>
                  <a:txBody>
                    <a:bodyPr wrap="square" anchor="ctr" lIns="0" rIns="0" tIns="0" bIns="0">
                      <a:noAutofit/>
                    </a:bodyPr>
                    <a:lstStyle/>
                    <a:p>
                      <a:pPr algn="l">
                        <a:lnSpc>
                          <a:spcPct val="115000"/>
                        </a:lnSpc>
                      </a:pPr>
                      <a:r>
                        <a:rPr sz="1200" b="0" i="0">
                          <a:solidFill>
                            <a:srgbClr val="0D2A50"/>
                          </a:solidFill>
                          <a:latin typeface="Nunito Sans"/>
                        </a:rPr>
                        <a:t>Zorgmodus, verhuisknop, andere playbooks</a:t>
                      </a:r>
                    </a:p>
                  </a:txBody>
                  <a:tcPr marL="114300" marR="114300" marT="63500" marB="63500" anchor="ctr">
                    <a:solidFill>
                      <a:srgbClr val="EFF6FF"/>
                    </a:solidFill>
                  </a:tcPr>
                </a:tc>
                <a:tc>
                  <a:txBody>
                    <a:bodyPr wrap="square" anchor="ctr" lIns="0" rIns="0" tIns="0" bIns="0">
                      <a:noAutofit/>
                    </a:bodyPr>
                    <a:lstStyle/>
                    <a:p>
                      <a:pPr algn="l">
                        <a:lnSpc>
                          <a:spcPct val="115000"/>
                        </a:lnSpc>
                      </a:pPr>
                      <a:r>
                        <a:rPr sz="1200" b="0" i="0">
                          <a:solidFill>
                            <a:srgbClr val="F29400"/>
                          </a:solidFill>
                          <a:latin typeface="Nunito Sans"/>
                        </a:rPr>
                        <a:t>Enkel pitch</a:t>
                      </a:r>
                    </a:p>
                  </a:txBody>
                  <a:tcPr marL="114300" marR="114300" marT="63500" marB="63500" anchor="ctr">
                    <a:solidFill>
                      <a:srgbClr val="EFF6FF"/>
                    </a:solidFill>
                  </a:tcPr>
                </a:tc>
              </a:tr>
            </a:tbl>
          </a:graphicData>
        </a:graphic>
      </p:graphicFrame>
      <p:sp>
        <p:nvSpPr>
          <p:cNvPr id="5" name="TextBox 4"/>
          <p:cNvSpPr txBox="1"/>
          <p:nvPr/>
        </p:nvSpPr>
        <p:spPr>
          <a:xfrm>
            <a:off x="812800" y="6350000"/>
            <a:ext cx="8890000" cy="215900"/>
          </a:xfrm>
          <a:prstGeom prst="rect">
            <a:avLst/>
          </a:prstGeom>
          <a:noFill/>
        </p:spPr>
        <p:txBody>
          <a:bodyPr wrap="square" anchor="t" lIns="0" rIns="0" tIns="0" bIns="0">
            <a:noAutofit/>
          </a:bodyPr>
          <a:lstStyle/>
          <a:p>
            <a:pPr algn="l">
              <a:lnSpc>
                <a:spcPct val="125000"/>
              </a:lnSpc>
            </a:pPr>
            <a:r>
              <a:rPr sz="1100" b="0" i="0">
                <a:solidFill>
                  <a:srgbClr val="45658F"/>
                </a:solidFill>
                <a:latin typeface="Nunito Sans"/>
              </a:rPr>
              <a:t>KBC Weerbericht · Jij kiest het weer · Team Trojan Horse</a:t>
            </a:r>
          </a:p>
        </p:txBody>
      </p:sp>
      <p:sp>
        <p:nvSpPr>
          <p:cNvPr id="6" name="TextBox 5"/>
          <p:cNvSpPr txBox="1"/>
          <p:nvPr/>
        </p:nvSpPr>
        <p:spPr>
          <a:xfrm>
            <a:off x="10109200" y="6350000"/>
            <a:ext cx="1270000" cy="215900"/>
          </a:xfrm>
          <a:prstGeom prst="rect">
            <a:avLst/>
          </a:prstGeom>
          <a:noFill/>
        </p:spPr>
        <p:txBody>
          <a:bodyPr wrap="square" anchor="t" lIns="0" rIns="0" tIns="0" bIns="0">
            <a:noAutofit/>
          </a:bodyPr>
          <a:lstStyle/>
          <a:p>
            <a:pPr algn="r">
              <a:lnSpc>
                <a:spcPct val="125000"/>
              </a:lnSpc>
            </a:pPr>
            <a:r>
              <a:rPr sz="1100" b="0" i="0">
                <a:solidFill>
                  <a:srgbClr val="45658F"/>
                </a:solidFill>
                <a:latin typeface="Nunito Sans"/>
              </a:rPr>
              <a:t>21 / 23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4" fill="hold">
                            <p:stCondLst>
                              <p:cond delay="0"/>
                            </p:stCondLst>
                            <p:childTnLst>
                              <p:par>
                                <p:cTn id="4" presetID="42"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ppt_y+.08"/>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p:cTn id="12" dur="500" fill="hold"/>
                                        <p:tgtEl>
                                          <p:spTgt spid="3"/>
                                        </p:tgtEl>
                                        <p:attrNameLst>
                                          <p:attrName>ppt_x</p:attrName>
                                        </p:attrNameLst>
                                      </p:cBhvr>
                                      <p:tavLst>
                                        <p:tav tm="0">
                                          <p:val>
                                            <p:strVal val="#ppt_x"/>
                                          </p:val>
                                        </p:tav>
                                        <p:tav tm="100000">
                                          <p:val>
                                            <p:strVal val="#ppt_x"/>
                                          </p:val>
                                        </p:tav>
                                      </p:tavLst>
                                    </p:anim>
                                    <p:anim calcmode="lin" valueType="num">
                                      <p:cBhvr>
                                        <p:cTn id="13" dur="500" fill="hold"/>
                                        <p:tgtEl>
                                          <p:spTgt spid="3"/>
                                        </p:tgtEl>
                                        <p:attrNameLst>
                                          <p:attrName>ppt_y</p:attrName>
                                        </p:attrNameLst>
                                      </p:cBhvr>
                                      <p:tavLst>
                                        <p:tav tm="0">
                                          <p:val>
                                            <p:strVal val="#ppt_y+.08"/>
                                          </p:val>
                                        </p:tav>
                                        <p:tav tm="100000">
                                          <p:val>
                                            <p:strVal val="#ppt_y"/>
                                          </p:val>
                                        </p:tav>
                                      </p:tavLst>
                                    </p:anim>
                                  </p:childTnLst>
                                </p:cTn>
                              </p:par>
                            </p:childTnLst>
                          </p:cTn>
                        </p:par>
                        <p:par>
                          <p:cTn id="18" fill="hold">
                            <p:stCondLst>
                              <p:cond delay="350"/>
                            </p:stCondLst>
                            <p:childTnLst>
                              <p:par>
                                <p:cTn id="15" presetID="10" presetClass="entr" presetSubtype="0"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D2A50"/>
        </a:solidFill>
        <a:effectLst/>
      </p:bgPr>
    </p:bg>
    <p:spTree>
      <p:nvGrpSpPr>
        <p:cNvPr id="1" name=""/>
        <p:cNvGrpSpPr/>
        <p:nvPr/>
      </p:nvGrpSpPr>
      <p:grpSpPr/>
      <p:pic>
        <p:nvPicPr>
          <p:cNvPr id="2" name="Picture 1" descr="zon_d.gif"/>
          <p:cNvPicPr>
            <a:picLocks noChangeAspect="1"/>
          </p:cNvPicPr>
          <p:nvPr/>
        </p:nvPicPr>
        <p:blipFill>
          <a:blip r:embed="rId3"/>
          <a:stretch>
            <a:fillRect/>
          </a:stretch>
        </p:blipFill>
        <p:spPr>
          <a:xfrm>
            <a:off x="1403131" y="1397000"/>
            <a:ext cx="1156137" cy="1143000"/>
          </a:xfrm>
          <a:prstGeom prst="rect">
            <a:avLst/>
          </a:prstGeom>
        </p:spPr>
      </p:pic>
      <p:pic>
        <p:nvPicPr>
          <p:cNvPr id="3" name="Picture 2" descr="bewolkt_d.gif"/>
          <p:cNvPicPr>
            <a:picLocks noChangeAspect="1"/>
          </p:cNvPicPr>
          <p:nvPr/>
        </p:nvPicPr>
        <p:blipFill>
          <a:blip r:embed="rId4"/>
          <a:stretch>
            <a:fillRect/>
          </a:stretch>
        </p:blipFill>
        <p:spPr>
          <a:xfrm>
            <a:off x="2717800" y="1495777"/>
            <a:ext cx="1270000" cy="945444"/>
          </a:xfrm>
          <a:prstGeom prst="rect">
            <a:avLst/>
          </a:prstGeom>
        </p:spPr>
      </p:pic>
      <p:pic>
        <p:nvPicPr>
          <p:cNvPr id="4" name="Picture 3" descr="regen_d.gif"/>
          <p:cNvPicPr>
            <a:picLocks noChangeAspect="1"/>
          </p:cNvPicPr>
          <p:nvPr/>
        </p:nvPicPr>
        <p:blipFill>
          <a:blip r:embed="rId5"/>
          <a:stretch>
            <a:fillRect/>
          </a:stretch>
        </p:blipFill>
        <p:spPr>
          <a:xfrm>
            <a:off x="4212787" y="1397000"/>
            <a:ext cx="1023224" cy="1143000"/>
          </a:xfrm>
          <a:prstGeom prst="rect">
            <a:avLst/>
          </a:prstGeom>
        </p:spPr>
      </p:pic>
      <p:pic>
        <p:nvPicPr>
          <p:cNvPr id="5" name="Picture 4" descr="donder_d.gif"/>
          <p:cNvPicPr>
            <a:picLocks noChangeAspect="1"/>
          </p:cNvPicPr>
          <p:nvPr/>
        </p:nvPicPr>
        <p:blipFill>
          <a:blip r:embed="rId6"/>
          <a:stretch>
            <a:fillRect/>
          </a:stretch>
        </p:blipFill>
        <p:spPr>
          <a:xfrm>
            <a:off x="5524500" y="1397000"/>
            <a:ext cx="1143000" cy="1143000"/>
          </a:xfrm>
          <a:prstGeom prst="rect">
            <a:avLst/>
          </a:prstGeom>
        </p:spPr>
      </p:pic>
      <p:pic>
        <p:nvPicPr>
          <p:cNvPr id="6" name="Picture 5" descr="storm_d.gif"/>
          <p:cNvPicPr>
            <a:picLocks noChangeAspect="1"/>
          </p:cNvPicPr>
          <p:nvPr/>
        </p:nvPicPr>
        <p:blipFill>
          <a:blip r:embed="rId7"/>
          <a:stretch>
            <a:fillRect/>
          </a:stretch>
        </p:blipFill>
        <p:spPr>
          <a:xfrm>
            <a:off x="6972300" y="1397000"/>
            <a:ext cx="990600" cy="1143000"/>
          </a:xfrm>
          <a:prstGeom prst="rect">
            <a:avLst/>
          </a:prstGeom>
        </p:spPr>
      </p:pic>
      <p:pic>
        <p:nvPicPr>
          <p:cNvPr id="7" name="Picture 6" descr="mist_d.gif"/>
          <p:cNvPicPr>
            <a:picLocks noChangeAspect="1"/>
          </p:cNvPicPr>
          <p:nvPr/>
        </p:nvPicPr>
        <p:blipFill>
          <a:blip r:embed="rId8"/>
          <a:stretch>
            <a:fillRect/>
          </a:stretch>
        </p:blipFill>
        <p:spPr>
          <a:xfrm>
            <a:off x="8204200" y="1433859"/>
            <a:ext cx="1270000" cy="1069281"/>
          </a:xfrm>
          <a:prstGeom prst="rect">
            <a:avLst/>
          </a:prstGeom>
        </p:spPr>
      </p:pic>
      <p:pic>
        <p:nvPicPr>
          <p:cNvPr id="8" name="Picture 7" descr="regenboog_d.gif"/>
          <p:cNvPicPr>
            <a:picLocks noChangeAspect="1"/>
          </p:cNvPicPr>
          <p:nvPr/>
        </p:nvPicPr>
        <p:blipFill>
          <a:blip r:embed="rId9"/>
          <a:stretch>
            <a:fillRect/>
          </a:stretch>
        </p:blipFill>
        <p:spPr>
          <a:xfrm>
            <a:off x="9575800" y="1624541"/>
            <a:ext cx="1270000" cy="687916"/>
          </a:xfrm>
          <a:prstGeom prst="rect">
            <a:avLst/>
          </a:prstGeom>
        </p:spPr>
      </p:pic>
      <p:sp>
        <p:nvSpPr>
          <p:cNvPr id="9" name="TextBox 8"/>
          <p:cNvSpPr txBox="1"/>
          <p:nvPr/>
        </p:nvSpPr>
        <p:spPr>
          <a:xfrm>
            <a:off x="812800" y="2857500"/>
            <a:ext cx="10566400" cy="889000"/>
          </a:xfrm>
          <a:prstGeom prst="rect">
            <a:avLst/>
          </a:prstGeom>
          <a:noFill/>
        </p:spPr>
        <p:txBody>
          <a:bodyPr wrap="square" anchor="t" lIns="0" rIns="0" tIns="0" bIns="0">
            <a:noAutofit/>
          </a:bodyPr>
          <a:lstStyle/>
          <a:p>
            <a:pPr algn="ctr">
              <a:lnSpc>
                <a:spcPct val="125000"/>
              </a:lnSpc>
            </a:pPr>
            <a:r>
              <a:rPr sz="6000" b="1" i="0">
                <a:solidFill>
                  <a:srgbClr val="FFFFFF"/>
                </a:solidFill>
                <a:latin typeface="Nunito Sans"/>
              </a:rPr>
              <a:t>KBC Weerbericht</a:t>
            </a:r>
          </a:p>
        </p:txBody>
      </p:sp>
      <p:sp>
        <p:nvSpPr>
          <p:cNvPr id="10" name="TextBox 9"/>
          <p:cNvSpPr txBox="1"/>
          <p:nvPr/>
        </p:nvSpPr>
        <p:spPr>
          <a:xfrm>
            <a:off x="812800" y="3873500"/>
            <a:ext cx="10566400" cy="635000"/>
          </a:xfrm>
          <a:prstGeom prst="rect">
            <a:avLst/>
          </a:prstGeom>
          <a:noFill/>
        </p:spPr>
        <p:txBody>
          <a:bodyPr wrap="square" anchor="t" lIns="0" rIns="0" tIns="0" bIns="0">
            <a:noAutofit/>
          </a:bodyPr>
          <a:lstStyle/>
          <a:p>
            <a:pPr algn="ctr">
              <a:lnSpc>
                <a:spcPct val="125000"/>
              </a:lnSpc>
            </a:pPr>
            <a:r>
              <a:rPr sz="3600" b="1" i="0">
                <a:solidFill>
                  <a:srgbClr val="FECC00"/>
                </a:solidFill>
                <a:latin typeface="Nunito Sans"/>
              </a:rPr>
              <a:t>Jij kiest het weer.</a:t>
            </a:r>
          </a:p>
        </p:txBody>
      </p:sp>
      <p:sp>
        <p:nvSpPr>
          <p:cNvPr id="11" name="TextBox 10"/>
          <p:cNvSpPr txBox="1"/>
          <p:nvPr/>
        </p:nvSpPr>
        <p:spPr>
          <a:xfrm>
            <a:off x="1968500" y="4762500"/>
            <a:ext cx="8255000" cy="698500"/>
          </a:xfrm>
          <a:prstGeom prst="rect">
            <a:avLst/>
          </a:prstGeom>
          <a:noFill/>
        </p:spPr>
        <p:txBody>
          <a:bodyPr wrap="square" anchor="t" lIns="0" rIns="0" tIns="0" bIns="0">
            <a:noAutofit/>
          </a:bodyPr>
          <a:lstStyle/>
          <a:p>
            <a:pPr algn="ctr">
              <a:lnSpc>
                <a:spcPct val="130000"/>
              </a:lnSpc>
            </a:pPr>
            <a:r>
              <a:rPr sz="1600" b="0" i="0">
                <a:solidFill>
                  <a:srgbClr val="BFDAFF"/>
                </a:solidFill>
                <a:latin typeface="Nunito Sans"/>
              </a:rPr>
              <a:t>Iedereen snapt een weerbericht, van student tot gepensioneerde. Daarom werkt het voor 2,3 miljoen klanten.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9" fill="hold">
                            <p:stCondLst>
                              <p:cond delay="0"/>
                            </p:stCondLst>
                            <p:childTnLst>
                              <p:par>
                                <p:cTn id="4" presetID="53" presetClass="entr" presetSubtype="16"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350"/>
                                        <p:tgtEl>
                                          <p:spTgt spid="2"/>
                                        </p:tgtEl>
                                      </p:cBhvr>
                                    </p:animEffect>
                                    <p:anim calcmode="lin" valueType="num">
                                      <p:cBhvr>
                                        <p:cTn id="7" dur="350" fill="hold"/>
                                        <p:tgtEl>
                                          <p:spTgt spid="2"/>
                                        </p:tgtEl>
                                        <p:attrNameLst>
                                          <p:attrName>ppt_w</p:attrName>
                                        </p:attrNameLst>
                                      </p:cBhvr>
                                      <p:tavLst>
                                        <p:tav tm="0">
                                          <p:val>
                                            <p:strVal val="#ppt_w*0.3"/>
                                          </p:val>
                                        </p:tav>
                                        <p:tav tm="100000">
                                          <p:val>
                                            <p:strVal val="#ppt_w"/>
                                          </p:val>
                                        </p:tav>
                                      </p:tavLst>
                                    </p:anim>
                                    <p:anim calcmode="lin" valueType="num">
                                      <p:cBhvr>
                                        <p:cTn id="8" dur="350" fill="hold"/>
                                        <p:tgtEl>
                                          <p:spTgt spid="2"/>
                                        </p:tgtEl>
                                        <p:attrNameLst>
                                          <p:attrName>ppt_h</p:attrName>
                                        </p:attrNameLst>
                                      </p:cBhvr>
                                      <p:tavLst>
                                        <p:tav tm="0">
                                          <p:val>
                                            <p:strVal val="#ppt_h*0.3"/>
                                          </p:val>
                                        </p:tav>
                                        <p:tav tm="100000">
                                          <p:val>
                                            <p:strVal val="#ppt_h"/>
                                          </p:val>
                                        </p:tav>
                                      </p:tavLst>
                                    </p:anim>
                                  </p:childTnLst>
                                </p:cTn>
                              </p:par>
                            </p:childTnLst>
                          </p:cTn>
                        </p:par>
                        <p:par>
                          <p:cTn id="15" fill="hold">
                            <p:stCondLst>
                              <p:cond delay="150"/>
                            </p:stCondLst>
                            <p:childTnLst>
                              <p:par>
                                <p:cTn id="10" presetID="53" presetClass="entr" presetSubtype="16"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350"/>
                                        <p:tgtEl>
                                          <p:spTgt spid="3"/>
                                        </p:tgtEl>
                                      </p:cBhvr>
                                    </p:animEffect>
                                    <p:anim calcmode="lin" valueType="num">
                                      <p:cBhvr>
                                        <p:cTn id="13" dur="350" fill="hold"/>
                                        <p:tgtEl>
                                          <p:spTgt spid="3"/>
                                        </p:tgtEl>
                                        <p:attrNameLst>
                                          <p:attrName>ppt_w</p:attrName>
                                        </p:attrNameLst>
                                      </p:cBhvr>
                                      <p:tavLst>
                                        <p:tav tm="0">
                                          <p:val>
                                            <p:strVal val="#ppt_w*0.3"/>
                                          </p:val>
                                        </p:tav>
                                        <p:tav tm="100000">
                                          <p:val>
                                            <p:strVal val="#ppt_w"/>
                                          </p:val>
                                        </p:tav>
                                      </p:tavLst>
                                    </p:anim>
                                    <p:anim calcmode="lin" valueType="num">
                                      <p:cBhvr>
                                        <p:cTn id="14" dur="350" fill="hold"/>
                                        <p:tgtEl>
                                          <p:spTgt spid="3"/>
                                        </p:tgtEl>
                                        <p:attrNameLst>
                                          <p:attrName>ppt_h</p:attrName>
                                        </p:attrNameLst>
                                      </p:cBhvr>
                                      <p:tavLst>
                                        <p:tav tm="0">
                                          <p:val>
                                            <p:strVal val="#ppt_h*0.3"/>
                                          </p:val>
                                        </p:tav>
                                        <p:tav tm="100000">
                                          <p:val>
                                            <p:strVal val="#ppt_h"/>
                                          </p:val>
                                        </p:tav>
                                      </p:tavLst>
                                    </p:anim>
                                  </p:childTnLst>
                                </p:cTn>
                              </p:par>
                            </p:childTnLst>
                          </p:cTn>
                        </p:par>
                        <p:par>
                          <p:cTn id="21" fill="hold">
                            <p:stCondLst>
                              <p:cond delay="300"/>
                            </p:stCondLst>
                            <p:childTnLst>
                              <p:par>
                                <p:cTn id="16" presetID="53" presetClass="entr" presetSubtype="16" fill="hold" grpId="0"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350"/>
                                        <p:tgtEl>
                                          <p:spTgt spid="4"/>
                                        </p:tgtEl>
                                      </p:cBhvr>
                                    </p:animEffect>
                                    <p:anim calcmode="lin" valueType="num">
                                      <p:cBhvr>
                                        <p:cTn id="19" dur="350" fill="hold"/>
                                        <p:tgtEl>
                                          <p:spTgt spid="4"/>
                                        </p:tgtEl>
                                        <p:attrNameLst>
                                          <p:attrName>ppt_w</p:attrName>
                                        </p:attrNameLst>
                                      </p:cBhvr>
                                      <p:tavLst>
                                        <p:tav tm="0">
                                          <p:val>
                                            <p:strVal val="#ppt_w*0.3"/>
                                          </p:val>
                                        </p:tav>
                                        <p:tav tm="100000">
                                          <p:val>
                                            <p:strVal val="#ppt_w"/>
                                          </p:val>
                                        </p:tav>
                                      </p:tavLst>
                                    </p:anim>
                                    <p:anim calcmode="lin" valueType="num">
                                      <p:cBhvr>
                                        <p:cTn id="20" dur="350" fill="hold"/>
                                        <p:tgtEl>
                                          <p:spTgt spid="4"/>
                                        </p:tgtEl>
                                        <p:attrNameLst>
                                          <p:attrName>ppt_h</p:attrName>
                                        </p:attrNameLst>
                                      </p:cBhvr>
                                      <p:tavLst>
                                        <p:tav tm="0">
                                          <p:val>
                                            <p:strVal val="#ppt_h*0.3"/>
                                          </p:val>
                                        </p:tav>
                                        <p:tav tm="100000">
                                          <p:val>
                                            <p:strVal val="#ppt_h"/>
                                          </p:val>
                                        </p:tav>
                                      </p:tavLst>
                                    </p:anim>
                                  </p:childTnLst>
                                </p:cTn>
                              </p:par>
                            </p:childTnLst>
                          </p:cTn>
                        </p:par>
                        <p:par>
                          <p:cTn id="27" fill="hold">
                            <p:stCondLst>
                              <p:cond delay="450"/>
                            </p:stCondLst>
                            <p:childTnLst>
                              <p:par>
                                <p:cTn id="22" presetID="53" presetClass="entr" presetSubtype="16"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p:cTn id="25" dur="350" fill="hold"/>
                                        <p:tgtEl>
                                          <p:spTgt spid="5"/>
                                        </p:tgtEl>
                                        <p:attrNameLst>
                                          <p:attrName>ppt_w</p:attrName>
                                        </p:attrNameLst>
                                      </p:cBhvr>
                                      <p:tavLst>
                                        <p:tav tm="0">
                                          <p:val>
                                            <p:strVal val="#ppt_w*0.3"/>
                                          </p:val>
                                        </p:tav>
                                        <p:tav tm="100000">
                                          <p:val>
                                            <p:strVal val="#ppt_w"/>
                                          </p:val>
                                        </p:tav>
                                      </p:tavLst>
                                    </p:anim>
                                    <p:anim calcmode="lin" valueType="num">
                                      <p:cBhvr>
                                        <p:cTn id="26" dur="350" fill="hold"/>
                                        <p:tgtEl>
                                          <p:spTgt spid="5"/>
                                        </p:tgtEl>
                                        <p:attrNameLst>
                                          <p:attrName>ppt_h</p:attrName>
                                        </p:attrNameLst>
                                      </p:cBhvr>
                                      <p:tavLst>
                                        <p:tav tm="0">
                                          <p:val>
                                            <p:strVal val="#ppt_h*0.3"/>
                                          </p:val>
                                        </p:tav>
                                        <p:tav tm="100000">
                                          <p:val>
                                            <p:strVal val="#ppt_h"/>
                                          </p:val>
                                        </p:tav>
                                      </p:tavLst>
                                    </p:anim>
                                  </p:childTnLst>
                                </p:cTn>
                              </p:par>
                            </p:childTnLst>
                          </p:cTn>
                        </p:par>
                        <p:par>
                          <p:cTn id="33" fill="hold">
                            <p:stCondLst>
                              <p:cond delay="600"/>
                            </p:stCondLst>
                            <p:childTnLst>
                              <p:par>
                                <p:cTn id="28" presetID="53" presetClass="entr" presetSubtype="16" fill="hold" grpId="0"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350"/>
                                        <p:tgtEl>
                                          <p:spTgt spid="6"/>
                                        </p:tgtEl>
                                      </p:cBhvr>
                                    </p:animEffect>
                                    <p:anim calcmode="lin" valueType="num">
                                      <p:cBhvr>
                                        <p:cTn id="31" dur="350" fill="hold"/>
                                        <p:tgtEl>
                                          <p:spTgt spid="6"/>
                                        </p:tgtEl>
                                        <p:attrNameLst>
                                          <p:attrName>ppt_w</p:attrName>
                                        </p:attrNameLst>
                                      </p:cBhvr>
                                      <p:tavLst>
                                        <p:tav tm="0">
                                          <p:val>
                                            <p:strVal val="#ppt_w*0.3"/>
                                          </p:val>
                                        </p:tav>
                                        <p:tav tm="100000">
                                          <p:val>
                                            <p:strVal val="#ppt_w"/>
                                          </p:val>
                                        </p:tav>
                                      </p:tavLst>
                                    </p:anim>
                                    <p:anim calcmode="lin" valueType="num">
                                      <p:cBhvr>
                                        <p:cTn id="32" dur="350" fill="hold"/>
                                        <p:tgtEl>
                                          <p:spTgt spid="6"/>
                                        </p:tgtEl>
                                        <p:attrNameLst>
                                          <p:attrName>ppt_h</p:attrName>
                                        </p:attrNameLst>
                                      </p:cBhvr>
                                      <p:tavLst>
                                        <p:tav tm="0">
                                          <p:val>
                                            <p:strVal val="#ppt_h*0.3"/>
                                          </p:val>
                                        </p:tav>
                                        <p:tav tm="100000">
                                          <p:val>
                                            <p:strVal val="#ppt_h"/>
                                          </p:val>
                                        </p:tav>
                                      </p:tavLst>
                                    </p:anim>
                                  </p:childTnLst>
                                </p:cTn>
                              </p:par>
                            </p:childTnLst>
                          </p:cTn>
                        </p:par>
                        <p:par>
                          <p:cTn id="39" fill="hold">
                            <p:stCondLst>
                              <p:cond delay="750"/>
                            </p:stCondLst>
                            <p:childTnLst>
                              <p:par>
                                <p:cTn id="34" presetID="53" presetClass="entr" presetSubtype="16" fill="hold" grpId="0" nodeType="after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350"/>
                                        <p:tgtEl>
                                          <p:spTgt spid="7"/>
                                        </p:tgtEl>
                                      </p:cBhvr>
                                    </p:animEffect>
                                    <p:anim calcmode="lin" valueType="num">
                                      <p:cBhvr>
                                        <p:cTn id="37" dur="350" fill="hold"/>
                                        <p:tgtEl>
                                          <p:spTgt spid="7"/>
                                        </p:tgtEl>
                                        <p:attrNameLst>
                                          <p:attrName>ppt_w</p:attrName>
                                        </p:attrNameLst>
                                      </p:cBhvr>
                                      <p:tavLst>
                                        <p:tav tm="0">
                                          <p:val>
                                            <p:strVal val="#ppt_w*0.3"/>
                                          </p:val>
                                        </p:tav>
                                        <p:tav tm="100000">
                                          <p:val>
                                            <p:strVal val="#ppt_w"/>
                                          </p:val>
                                        </p:tav>
                                      </p:tavLst>
                                    </p:anim>
                                    <p:anim calcmode="lin" valueType="num">
                                      <p:cBhvr>
                                        <p:cTn id="38" dur="350" fill="hold"/>
                                        <p:tgtEl>
                                          <p:spTgt spid="7"/>
                                        </p:tgtEl>
                                        <p:attrNameLst>
                                          <p:attrName>ppt_h</p:attrName>
                                        </p:attrNameLst>
                                      </p:cBhvr>
                                      <p:tavLst>
                                        <p:tav tm="0">
                                          <p:val>
                                            <p:strVal val="#ppt_h*0.3"/>
                                          </p:val>
                                        </p:tav>
                                        <p:tav tm="100000">
                                          <p:val>
                                            <p:strVal val="#ppt_h"/>
                                          </p:val>
                                        </p:tav>
                                      </p:tavLst>
                                    </p:anim>
                                  </p:childTnLst>
                                </p:cTn>
                              </p:par>
                            </p:childTnLst>
                          </p:cTn>
                        </p:par>
                        <p:par>
                          <p:cTn id="45" fill="hold">
                            <p:stCondLst>
                              <p:cond delay="900"/>
                            </p:stCondLst>
                            <p:childTnLst>
                              <p:par>
                                <p:cTn id="40" presetID="53" presetClass="entr" presetSubtype="16" fill="hold" grpId="0" nodeType="after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350"/>
                                        <p:tgtEl>
                                          <p:spTgt spid="8"/>
                                        </p:tgtEl>
                                      </p:cBhvr>
                                    </p:animEffect>
                                    <p:anim calcmode="lin" valueType="num">
                                      <p:cBhvr>
                                        <p:cTn id="43" dur="350" fill="hold"/>
                                        <p:tgtEl>
                                          <p:spTgt spid="8"/>
                                        </p:tgtEl>
                                        <p:attrNameLst>
                                          <p:attrName>ppt_w</p:attrName>
                                        </p:attrNameLst>
                                      </p:cBhvr>
                                      <p:tavLst>
                                        <p:tav tm="0">
                                          <p:val>
                                            <p:strVal val="#ppt_w*0.3"/>
                                          </p:val>
                                        </p:tav>
                                        <p:tav tm="100000">
                                          <p:val>
                                            <p:strVal val="#ppt_w"/>
                                          </p:val>
                                        </p:tav>
                                      </p:tavLst>
                                    </p:anim>
                                    <p:anim calcmode="lin" valueType="num">
                                      <p:cBhvr>
                                        <p:cTn id="44" dur="350" fill="hold"/>
                                        <p:tgtEl>
                                          <p:spTgt spid="8"/>
                                        </p:tgtEl>
                                        <p:attrNameLst>
                                          <p:attrName>ppt_h</p:attrName>
                                        </p:attrNameLst>
                                      </p:cBhvr>
                                      <p:tavLst>
                                        <p:tav tm="0">
                                          <p:val>
                                            <p:strVal val="#ppt_h*0.3"/>
                                          </p:val>
                                        </p:tav>
                                        <p:tav tm="100000">
                                          <p:val>
                                            <p:strVal val="#ppt_h"/>
                                          </p:val>
                                        </p:tav>
                                      </p:tavLst>
                                    </p:anim>
                                  </p:childTnLst>
                                </p:cTn>
                              </p:par>
                            </p:childTnLst>
                          </p:cTn>
                        </p:par>
                        <p:par>
                          <p:cTn id="51" fill="hold">
                            <p:stCondLst>
                              <p:cond delay="1050"/>
                            </p:stCondLst>
                            <p:childTnLst>
                              <p:par>
                                <p:cTn id="46" presetID="42" presetClass="entr" presetSubtype="0" fill="hold" grpId="0" nodeType="after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600"/>
                                        <p:tgtEl>
                                          <p:spTgt spid="9"/>
                                        </p:tgtEl>
                                      </p:cBhvr>
                                    </p:animEffect>
                                    <p:anim calcmode="lin" valueType="num">
                                      <p:cBhvr>
                                        <p:cTn id="49" dur="600" fill="hold"/>
                                        <p:tgtEl>
                                          <p:spTgt spid="9"/>
                                        </p:tgtEl>
                                        <p:attrNameLst>
                                          <p:attrName>ppt_x</p:attrName>
                                        </p:attrNameLst>
                                      </p:cBhvr>
                                      <p:tavLst>
                                        <p:tav tm="0">
                                          <p:val>
                                            <p:strVal val="#ppt_x"/>
                                          </p:val>
                                        </p:tav>
                                        <p:tav tm="100000">
                                          <p:val>
                                            <p:strVal val="#ppt_x"/>
                                          </p:val>
                                        </p:tav>
                                      </p:tavLst>
                                    </p:anim>
                                    <p:anim calcmode="lin" valueType="num">
                                      <p:cBhvr>
                                        <p:cTn id="50" dur="600" fill="hold"/>
                                        <p:tgtEl>
                                          <p:spTgt spid="9"/>
                                        </p:tgtEl>
                                        <p:attrNameLst>
                                          <p:attrName>ppt_y</p:attrName>
                                        </p:attrNameLst>
                                      </p:cBhvr>
                                      <p:tavLst>
                                        <p:tav tm="0">
                                          <p:val>
                                            <p:strVal val="#ppt_y+.08"/>
                                          </p:val>
                                        </p:tav>
                                        <p:tav tm="100000">
                                          <p:val>
                                            <p:strVal val="#ppt_y"/>
                                          </p:val>
                                        </p:tav>
                                      </p:tavLst>
                                    </p:anim>
                                  </p:childTnLst>
                                </p:cTn>
                              </p:par>
                            </p:childTnLst>
                          </p:cTn>
                        </p:par>
                        <p:par>
                          <p:cTn id="55" fill="hold">
                            <p:stCondLst>
                              <p:cond delay="1470"/>
                            </p:stCondLst>
                            <p:childTnLst>
                              <p:par>
                                <p:cTn id="52" presetID="10" presetClass="entr" presetSubtype="0" fill="hold" grpId="0" nodeType="afterEffect">
                                  <p:stCondLst>
                                    <p:cond delay="0"/>
                                  </p:stCondLst>
                                  <p:childTnLst>
                                    <p:set>
                                      <p:cBhvr>
                                        <p:cTn id="53" dur="1" fill="hold">
                                          <p:stCondLst>
                                            <p:cond delay="0"/>
                                          </p:stCondLst>
                                        </p:cTn>
                                        <p:tgtEl>
                                          <p:spTgt spid="10"/>
                                        </p:tgtEl>
                                        <p:attrNameLst>
                                          <p:attrName>style.visibility</p:attrName>
                                        </p:attrNameLst>
                                      </p:cBhvr>
                                      <p:to>
                                        <p:strVal val="visible"/>
                                      </p:to>
                                    </p:set>
                                    <p:animEffect transition="in" filter="fade">
                                      <p:cBhvr>
                                        <p:cTn id="54" dur="600"/>
                                        <p:tgtEl>
                                          <p:spTgt spid="10"/>
                                        </p:tgtEl>
                                      </p:cBhvr>
                                    </p:animEffect>
                                  </p:childTnLst>
                                </p:cTn>
                              </p:par>
                            </p:childTnLst>
                          </p:cTn>
                        </p:par>
                        <p:par>
                          <p:cTn id="59" fill="hold">
                            <p:stCondLst>
                              <p:cond delay="1890"/>
                            </p:stCondLst>
                            <p:childTnLst>
                              <p:par>
                                <p:cTn id="56" presetID="10" presetClass="entr" presetSubtype="0" fill="hold" grpId="0" nodeType="after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fade">
                                      <p:cBhvr>
                                        <p:cTn id="5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FF6FF"/>
        </a:solidFill>
        <a:effectLst/>
      </p:bgPr>
    </p:bg>
    <p:spTree>
      <p:nvGrpSpPr>
        <p:cNvPr id="1" name=""/>
        <p:cNvGrpSpPr/>
        <p:nvPr/>
      </p:nvGrpSpPr>
      <p:grpSpPr/>
      <p:sp>
        <p:nvSpPr>
          <p:cNvPr id="2" name="TextBox 1"/>
          <p:cNvSpPr txBox="1"/>
          <p:nvPr/>
        </p:nvSpPr>
        <p:spPr>
          <a:xfrm>
            <a:off x="812800" y="711200"/>
            <a:ext cx="10566400" cy="228600"/>
          </a:xfrm>
          <a:prstGeom prst="rect">
            <a:avLst/>
          </a:prstGeom>
          <a:noFill/>
        </p:spPr>
        <p:txBody>
          <a:bodyPr wrap="square" anchor="t" lIns="0" rIns="0" tIns="0" bIns="0">
            <a:noAutofit/>
          </a:bodyPr>
          <a:lstStyle/>
          <a:p>
            <a:pPr algn="l">
              <a:lnSpc>
                <a:spcPct val="125000"/>
              </a:lnSpc>
            </a:pPr>
            <a:r>
              <a:rPr sz="1200" b="1" i="0" cap="all" spc="300">
                <a:solidFill>
                  <a:srgbClr val="007AB1"/>
                </a:solidFill>
                <a:latin typeface="Nunito Sans"/>
              </a:rPr>
              <a:t>Bronnen</a:t>
            </a:r>
          </a:p>
        </p:txBody>
      </p:sp>
      <p:sp>
        <p:nvSpPr>
          <p:cNvPr id="3" name="TextBox 2"/>
          <p:cNvSpPr txBox="1"/>
          <p:nvPr/>
        </p:nvSpPr>
        <p:spPr>
          <a:xfrm>
            <a:off x="812800" y="990600"/>
            <a:ext cx="10566400" cy="508000"/>
          </a:xfrm>
          <a:prstGeom prst="rect">
            <a:avLst/>
          </a:prstGeom>
          <a:noFill/>
        </p:spPr>
        <p:txBody>
          <a:bodyPr wrap="square" anchor="t" lIns="0" rIns="0" tIns="0" bIns="0">
            <a:noAutofit/>
          </a:bodyPr>
          <a:lstStyle/>
          <a:p>
            <a:pPr algn="l">
              <a:lnSpc>
                <a:spcPct val="105000"/>
              </a:lnSpc>
            </a:pPr>
            <a:r>
              <a:rPr sz="3600" b="1" i="0">
                <a:solidFill>
                  <a:srgbClr val="0D2A50"/>
                </a:solidFill>
                <a:latin typeface="Nunito Sans"/>
              </a:rPr>
              <a:t>Waar de cijfers vandaan komen</a:t>
            </a:r>
          </a:p>
        </p:txBody>
      </p:sp>
      <p:sp>
        <p:nvSpPr>
          <p:cNvPr id="4" name="TextBox 3"/>
          <p:cNvSpPr txBox="1"/>
          <p:nvPr/>
        </p:nvSpPr>
        <p:spPr>
          <a:xfrm>
            <a:off x="812800" y="1727200"/>
            <a:ext cx="10566400" cy="4064000"/>
          </a:xfrm>
          <a:prstGeom prst="rect">
            <a:avLst/>
          </a:prstGeom>
          <a:noFill/>
        </p:spPr>
        <p:txBody>
          <a:bodyPr wrap="square" anchor="t" lIns="0" rIns="0" tIns="0" bIns="0">
            <a:noAutofit/>
          </a:bodyPr>
          <a:lstStyle/>
          <a:p>
            <a:pPr algn="l">
              <a:lnSpc>
                <a:spcPct val="125000"/>
              </a:lnSpc>
            </a:pPr>
            <a:r>
              <a:rPr sz="1300" b="0" i="0">
                <a:solidFill>
                  <a:srgbClr val="45658F"/>
                </a:solidFill>
                <a:latin typeface="Nunito Sans"/>
              </a:rPr>
              <a:t>•  KBC, persbericht “Kate: vijf jaar, vijf mijlpalen” (24/11/2025), kbc.com</a:t>
            </a:r>
          </a:p>
          <a:p>
            <a:pPr algn="l">
              <a:lnSpc>
                <a:spcPct val="125000"/>
              </a:lnSpc>
              <a:spcBef>
                <a:spcPts val="500"/>
              </a:spcBef>
            </a:pPr>
            <a:r>
              <a:rPr sz="1300" b="0" i="0">
                <a:solidFill>
                  <a:srgbClr val="45658F"/>
                </a:solidFill>
                <a:latin typeface="Nunito Sans"/>
              </a:rPr>
              <a:t>•  KBC Newsroom, Spaargids.be: beste digitale bank, zesde jaar op rij (07/12/2024)</a:t>
            </a:r>
          </a:p>
          <a:p>
            <a:pPr algn="l">
              <a:lnSpc>
                <a:spcPct val="125000"/>
              </a:lnSpc>
              <a:spcBef>
                <a:spcPts val="500"/>
              </a:spcBef>
            </a:pPr>
            <a:r>
              <a:rPr sz="1300" b="0" i="0">
                <a:solidFill>
                  <a:srgbClr val="45658F"/>
                </a:solidFill>
                <a:latin typeface="Nunito Sans"/>
              </a:rPr>
              <a:t>•  Test-Aankoop, Consumentenbarometer 2025</a:t>
            </a:r>
          </a:p>
          <a:p>
            <a:pPr algn="l">
              <a:lnSpc>
                <a:spcPct val="125000"/>
              </a:lnSpc>
              <a:spcBef>
                <a:spcPts val="500"/>
              </a:spcBef>
            </a:pPr>
            <a:r>
              <a:rPr sz="1300" b="0" i="0">
                <a:solidFill>
                  <a:srgbClr val="45658F"/>
                </a:solidFill>
                <a:latin typeface="Nunito Sans"/>
              </a:rPr>
              <a:t>•  Febelfin, “If it smells phishy, it probably is”: dossier phishing (2025)</a:t>
            </a:r>
          </a:p>
          <a:p>
            <a:pPr algn="l">
              <a:lnSpc>
                <a:spcPct val="125000"/>
              </a:lnSpc>
              <a:spcBef>
                <a:spcPts val="500"/>
              </a:spcBef>
            </a:pPr>
            <a:r>
              <a:rPr sz="1300" b="0" i="0">
                <a:solidFill>
                  <a:srgbClr val="45658F"/>
                </a:solidFill>
                <a:latin typeface="Nunito Sans"/>
              </a:rPr>
              <a:t>•  VRT NWS, phishing-meldingen stijgen (07/04/2026) · Brussels Times, phishing kost Belgen € 40 mln</a:t>
            </a:r>
          </a:p>
          <a:p>
            <a:pPr algn="l">
              <a:lnSpc>
                <a:spcPct val="125000"/>
              </a:lnSpc>
              <a:spcBef>
                <a:spcPts val="500"/>
              </a:spcBef>
            </a:pPr>
            <a:r>
              <a:rPr sz="1300" b="0" i="0">
                <a:solidFill>
                  <a:srgbClr val="45658F"/>
                </a:solidFill>
                <a:latin typeface="Nunito Sans"/>
              </a:rPr>
              <a:t>•  Student.be / CIB Vlaanderen, gemiddelde kotprijs Gent (2025)</a:t>
            </a:r>
          </a:p>
          <a:p>
            <a:pPr algn="l">
              <a:lnSpc>
                <a:spcPct val="125000"/>
              </a:lnSpc>
              <a:spcBef>
                <a:spcPts val="500"/>
              </a:spcBef>
            </a:pPr>
            <a:r>
              <a:rPr sz="1300" b="0" i="0">
                <a:solidFill>
                  <a:srgbClr val="45658F"/>
                </a:solidFill>
                <a:latin typeface="Nunito Sans"/>
              </a:rPr>
              <a:t>•  Computable.be, ING-rondvraag abonnementen bij ± 400 Belgen</a:t>
            </a:r>
          </a:p>
          <a:p>
            <a:pPr algn="l">
              <a:lnSpc>
                <a:spcPct val="125000"/>
              </a:lnSpc>
              <a:spcBef>
                <a:spcPts val="500"/>
              </a:spcBef>
            </a:pPr>
            <a:r>
              <a:rPr sz="1300" b="0" i="0">
                <a:solidFill>
                  <a:srgbClr val="45658F"/>
                </a:solidFill>
                <a:latin typeface="Nunito Sans"/>
              </a:rPr>
              <a:t>•  Herbert Smith Freehills Kramer, EU Financial Data Access Regulation (12/03/2026)</a:t>
            </a:r>
          </a:p>
          <a:p>
            <a:pPr algn="l">
              <a:lnSpc>
                <a:spcPct val="125000"/>
              </a:lnSpc>
              <a:spcBef>
                <a:spcPts val="500"/>
              </a:spcBef>
            </a:pPr>
            <a:r>
              <a:rPr sz="1300" b="0" i="0">
                <a:solidFill>
                  <a:srgbClr val="45658F"/>
                </a:solidFill>
                <a:latin typeface="Nunito Sans"/>
              </a:rPr>
              <a:t>•  KBC design tokens (kdl-design-tokens), kbc.be</a:t>
            </a:r>
          </a:p>
          <a:p>
            <a:pPr algn="l">
              <a:lnSpc>
                <a:spcPct val="125000"/>
              </a:lnSpc>
              <a:spcBef>
                <a:spcPts val="500"/>
              </a:spcBef>
            </a:pPr>
            <a:r>
              <a:rPr sz="1300" b="0" i="0">
                <a:solidFill>
                  <a:srgbClr val="45658F"/>
                </a:solidFill>
                <a:latin typeface="Nunito Sans"/>
              </a:rPr>
              <a:t>•  Conceptdocument “KBC Weerbericht: Jij kiest het weer” (@Quinten, 30/09/2026)</a:t>
            </a:r>
          </a:p>
        </p:txBody>
      </p:sp>
      <p:sp>
        <p:nvSpPr>
          <p:cNvPr id="5" name="TextBox 4"/>
          <p:cNvSpPr txBox="1"/>
          <p:nvPr/>
        </p:nvSpPr>
        <p:spPr>
          <a:xfrm>
            <a:off x="812800" y="6350000"/>
            <a:ext cx="8890000" cy="215900"/>
          </a:xfrm>
          <a:prstGeom prst="rect">
            <a:avLst/>
          </a:prstGeom>
          <a:noFill/>
        </p:spPr>
        <p:txBody>
          <a:bodyPr wrap="square" anchor="t" lIns="0" rIns="0" tIns="0" bIns="0">
            <a:noAutofit/>
          </a:bodyPr>
          <a:lstStyle/>
          <a:p>
            <a:pPr algn="l">
              <a:lnSpc>
                <a:spcPct val="125000"/>
              </a:lnSpc>
            </a:pPr>
            <a:r>
              <a:rPr sz="1100" b="0" i="0">
                <a:solidFill>
                  <a:srgbClr val="45658F"/>
                </a:solidFill>
                <a:latin typeface="Nunito Sans"/>
              </a:rPr>
              <a:t>KBC Weerbericht · Jij kiest het weer · Team Trojan Horse</a:t>
            </a:r>
          </a:p>
        </p:txBody>
      </p:sp>
      <p:sp>
        <p:nvSpPr>
          <p:cNvPr id="6" name="TextBox 5"/>
          <p:cNvSpPr txBox="1"/>
          <p:nvPr/>
        </p:nvSpPr>
        <p:spPr>
          <a:xfrm>
            <a:off x="10109200" y="6350000"/>
            <a:ext cx="1270000" cy="215900"/>
          </a:xfrm>
          <a:prstGeom prst="rect">
            <a:avLst/>
          </a:prstGeom>
          <a:noFill/>
        </p:spPr>
        <p:txBody>
          <a:bodyPr wrap="square" anchor="t" lIns="0" rIns="0" tIns="0" bIns="0">
            <a:noAutofit/>
          </a:bodyPr>
          <a:lstStyle/>
          <a:p>
            <a:pPr algn="r">
              <a:lnSpc>
                <a:spcPct val="125000"/>
              </a:lnSpc>
            </a:pPr>
            <a:r>
              <a:rPr sz="1100" b="0" i="0">
                <a:solidFill>
                  <a:srgbClr val="45658F"/>
                </a:solidFill>
                <a:latin typeface="Nunito Sans"/>
              </a:rPr>
              <a:t>23 / 23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4" fill="hold">
                            <p:stCondLst>
                              <p:cond delay="0"/>
                            </p:stCondLst>
                            <p:childTnLst>
                              <p:par>
                                <p:cTn id="4" presetID="42"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ppt_y+.08"/>
                                          </p:val>
                                        </p:tav>
                                        <p:tav tm="100000">
                                          <p:val>
                                            <p:strVal val="#ppt_y"/>
                                          </p:val>
                                        </p:tav>
                                      </p:tavLst>
                                    </p:anim>
                                  </p:childTnLst>
                                </p:cTn>
                              </p:par>
                              <p:par>
                                <p:cTn id="9" presetID="42"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anim calcmode="lin" valueType="num">
                                      <p:cBhvr>
                                        <p:cTn id="12" dur="500" fill="hold"/>
                                        <p:tgtEl>
                                          <p:spTgt spid="3"/>
                                        </p:tgtEl>
                                        <p:attrNameLst>
                                          <p:attrName>ppt_x</p:attrName>
                                        </p:attrNameLst>
                                      </p:cBhvr>
                                      <p:tavLst>
                                        <p:tav tm="0">
                                          <p:val>
                                            <p:strVal val="#ppt_x"/>
                                          </p:val>
                                        </p:tav>
                                        <p:tav tm="100000">
                                          <p:val>
                                            <p:strVal val="#ppt_x"/>
                                          </p:val>
                                        </p:tav>
                                      </p:tavLst>
                                    </p:anim>
                                    <p:anim calcmode="lin" valueType="num">
                                      <p:cBhvr>
                                        <p:cTn id="13" dur="500" fill="hold"/>
                                        <p:tgtEl>
                                          <p:spTgt spid="3"/>
                                        </p:tgtEl>
                                        <p:attrNameLst>
                                          <p:attrName>ppt_y</p:attrName>
                                        </p:attrNameLst>
                                      </p:cBhvr>
                                      <p:tavLst>
                                        <p:tav tm="0">
                                          <p:val>
                                            <p:strVal val="#ppt_y+.08"/>
                                          </p:val>
                                        </p:tav>
                                        <p:tav tm="100000">
                                          <p:val>
                                            <p:strVal val="#ppt_y"/>
                                          </p:val>
                                        </p:tav>
                                      </p:tavLst>
                                    </p:anim>
                                  </p:childTnLst>
                                </p:cTn>
                              </p:par>
                            </p:childTnLst>
                          </p:cTn>
                        </p:par>
                        <p:par>
                          <p:cTn id="18" fill="hold">
                            <p:stCondLst>
                              <p:cond delay="350"/>
                            </p:stCondLst>
                            <p:childTnLst>
                              <p:par>
                                <p:cTn id="15" presetID="10" presetClass="entr" presetSubtype="0"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